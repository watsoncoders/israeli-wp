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6" r:id="rId2"/>
  </p:sldMasterIdLst>
  <p:notesMasterIdLst>
    <p:notesMasterId r:id="rId33"/>
  </p:notesMasterIdLst>
  <p:handoutMasterIdLst>
    <p:handoutMasterId r:id="rId34"/>
  </p:handoutMasterIdLst>
  <p:sldIdLst>
    <p:sldId id="257" r:id="rId3"/>
    <p:sldId id="262" r:id="rId4"/>
    <p:sldId id="263" r:id="rId5"/>
    <p:sldId id="264" r:id="rId6"/>
    <p:sldId id="265" r:id="rId7"/>
    <p:sldId id="266" r:id="rId8"/>
    <p:sldId id="267" r:id="rId9"/>
    <p:sldId id="268" r:id="rId10"/>
    <p:sldId id="269" r:id="rId11"/>
    <p:sldId id="270" r:id="rId12"/>
    <p:sldId id="281" r:id="rId13"/>
    <p:sldId id="271" r:id="rId14"/>
    <p:sldId id="272" r:id="rId15"/>
    <p:sldId id="273" r:id="rId16"/>
    <p:sldId id="274" r:id="rId17"/>
    <p:sldId id="275" r:id="rId18"/>
    <p:sldId id="276" r:id="rId19"/>
    <p:sldId id="277" r:id="rId20"/>
    <p:sldId id="278" r:id="rId21"/>
    <p:sldId id="280" r:id="rId22"/>
    <p:sldId id="279" r:id="rId23"/>
    <p:sldId id="282" r:id="rId24"/>
    <p:sldId id="283" r:id="rId25"/>
    <p:sldId id="284" r:id="rId26"/>
    <p:sldId id="285" r:id="rId27"/>
    <p:sldId id="286" r:id="rId28"/>
    <p:sldId id="287" r:id="rId29"/>
    <p:sldId id="288" r:id="rId30"/>
    <p:sldId id="289" r:id="rId31"/>
    <p:sldId id="29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7" autoAdjust="0"/>
    <p:restoredTop sz="94660"/>
  </p:normalViewPr>
  <p:slideViewPr>
    <p:cSldViewPr snapToGrid="0">
      <p:cViewPr varScale="1">
        <p:scale>
          <a:sx n="114" d="100"/>
          <a:sy n="114" d="100"/>
        </p:scale>
        <p:origin x="186" y="108"/>
      </p:cViewPr>
      <p:guideLst/>
    </p:cSldViewPr>
  </p:slideViewPr>
  <p:notesTextViewPr>
    <p:cViewPr>
      <p:scale>
        <a:sx n="1" d="1"/>
        <a:sy n="1" d="1"/>
      </p:scale>
      <p:origin x="0" y="0"/>
    </p:cViewPr>
  </p:notesTextViewPr>
  <p:notesViewPr>
    <p:cSldViewPr snapToGrid="0" showGuides="1">
      <p:cViewPr varScale="1">
        <p:scale>
          <a:sx n="76" d="100"/>
          <a:sy n="76" d="100"/>
        </p:scale>
        <p:origin x="177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8C66D5-35F2-4B2B-B66A-28018F619124}" type="datetimeFigureOut">
              <a:rPr lang="en-US" smtClean="0"/>
              <a:t>2/22/2018</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6073D5-63C2-4933-B970-D96552757D44}" type="slidenum">
              <a:rPr lang="en-US" smtClean="0"/>
              <a:t>‹#›</a:t>
            </a:fld>
            <a:endParaRPr lang="en-US"/>
          </a:p>
        </p:txBody>
      </p:sp>
    </p:spTree>
    <p:extLst>
      <p:ext uri="{BB962C8B-B14F-4D97-AF65-F5344CB8AC3E}">
        <p14:creationId xmlns:p14="http://schemas.microsoft.com/office/powerpoint/2010/main" val="1000481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4B7E8A-1102-47A1-B1C3-36AE88809383}" type="datetimeFigureOut">
              <a:rPr lang="en-US" smtClean="0"/>
              <a:t>2/22/2018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A11EAB-687D-4AE4-B775-678A923E9436}" type="slidenum">
              <a:rPr lang="en-US" smtClean="0"/>
              <a:t>‹#›</a:t>
            </a:fld>
            <a:endParaRPr lang="en-US"/>
          </a:p>
        </p:txBody>
      </p:sp>
    </p:spTree>
    <p:extLst>
      <p:ext uri="{BB962C8B-B14F-4D97-AF65-F5344CB8AC3E}">
        <p14:creationId xmlns:p14="http://schemas.microsoft.com/office/powerpoint/2010/main" val="430103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A11EAB-687D-4AE4-B775-678A923E9436}" type="slidenum">
              <a:rPr lang="en-US" smtClean="0"/>
              <a:t>1</a:t>
            </a:fld>
            <a:endParaRPr lang="en-US"/>
          </a:p>
        </p:txBody>
      </p:sp>
    </p:spTree>
    <p:extLst>
      <p:ext uri="{BB962C8B-B14F-4D97-AF65-F5344CB8AC3E}">
        <p14:creationId xmlns:p14="http://schemas.microsoft.com/office/powerpoint/2010/main" val="79833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p:nvGrpSpPr>
        <p:grpSpPr>
          <a:xfrm>
            <a:off x="3048" y="0"/>
            <a:ext cx="12188952" cy="6858000"/>
            <a:chOff x="3048" y="0"/>
            <a:chExt cx="12188952" cy="6858000"/>
          </a:xfrm>
        </p:grpSpPr>
        <p:sp>
          <p:nvSpPr>
            <p:cNvPr id="4" name="Rectangle 3"/>
            <p:cNvSpPr/>
            <p:nvPr/>
          </p:nvSpPr>
          <p:spPr>
            <a:xfrm>
              <a:off x="3048" y="0"/>
              <a:ext cx="12188952" cy="6858000"/>
            </a:xfrm>
            <a:prstGeom prst="rect">
              <a:avLst/>
            </a:prstGeom>
            <a:solidFill>
              <a:schemeClr val="bg1"/>
            </a:solidFill>
            <a:ln>
              <a:noFill/>
            </a:ln>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grpSp>
          <p:nvGrpSpPr>
            <p:cNvPr id="18" name="Group 17"/>
            <p:cNvGrpSpPr/>
            <p:nvPr/>
          </p:nvGrpSpPr>
          <p:grpSpPr>
            <a:xfrm>
              <a:off x="1574798" y="3537161"/>
              <a:ext cx="9144001" cy="196717"/>
              <a:chOff x="1523999" y="4379129"/>
              <a:chExt cx="9144001" cy="196717"/>
            </a:xfrm>
          </p:grpSpPr>
          <p:sp>
            <p:nvSpPr>
              <p:cNvPr id="19" name="Rectangle 18" descr="Gold bar"/>
              <p:cNvSpPr>
                <a:spLocks noChangeArrowheads="1"/>
              </p:cNvSpPr>
              <p:nvPr/>
            </p:nvSpPr>
            <p:spPr bwMode="auto">
              <a:xfrm rot="16200000" flipH="1">
                <a:off x="2949872" y="2953256"/>
                <a:ext cx="196717" cy="3048463"/>
              </a:xfrm>
              <a:prstGeom prst="rect">
                <a:avLst/>
              </a:prstGeom>
              <a:solidFill>
                <a:schemeClr val="accent1"/>
              </a:solidFill>
              <a:ln w="9525">
                <a:noFill/>
                <a:miter lim="800000"/>
                <a:headEnd/>
                <a:tailEnd/>
              </a:ln>
              <a:effectLst>
                <a:reflection blurRad="6350" stA="50000" endA="300" endPos="38500" dist="50800" dir="5400000" sy="-100000" algn="bl" rotWithShape="0"/>
              </a:effectLst>
              <a:extLst/>
            </p:spPr>
            <p:txBody>
              <a:bodyPr wrap="none" anchor="ctr"/>
              <a:lstStyle/>
              <a:p>
                <a:pPr algn="ctr" eaLnBrk="1" hangingPunct="1"/>
                <a:endParaRPr lang="en-US" sz="2400">
                  <a:latin typeface="Times New Roman" panose="02020603050405020304" pitchFamily="18" charset="0"/>
                </a:endParaRPr>
              </a:p>
            </p:txBody>
          </p:sp>
          <p:sp>
            <p:nvSpPr>
              <p:cNvPr id="20" name="Rectangle 19" descr="Orange bar"/>
              <p:cNvSpPr>
                <a:spLocks noChangeArrowheads="1"/>
              </p:cNvSpPr>
              <p:nvPr/>
            </p:nvSpPr>
            <p:spPr bwMode="auto">
              <a:xfrm rot="16200000" flipH="1">
                <a:off x="5998335" y="2953256"/>
                <a:ext cx="196717" cy="3048463"/>
              </a:xfrm>
              <a:prstGeom prst="rect">
                <a:avLst/>
              </a:prstGeom>
              <a:solidFill>
                <a:schemeClr val="accent4"/>
              </a:solidFill>
              <a:ln w="9525">
                <a:noFill/>
                <a:miter lim="800000"/>
                <a:headEnd/>
                <a:tailEnd/>
              </a:ln>
              <a:effectLst>
                <a:reflection blurRad="6350" stA="50000" endA="300" endPos="38500" dist="50800" dir="5400000" sy="-100000" algn="bl" rotWithShape="0"/>
              </a:effectLst>
              <a:extLst/>
            </p:spPr>
            <p:txBody>
              <a:bodyPr wrap="none" anchor="ctr"/>
              <a:lstStyle/>
              <a:p>
                <a:pPr algn="ctr" eaLnBrk="1" hangingPunct="1"/>
                <a:endParaRPr lang="en-US" sz="2400">
                  <a:latin typeface="Times New Roman" panose="02020603050405020304" pitchFamily="18" charset="0"/>
                </a:endParaRPr>
              </a:p>
            </p:txBody>
          </p:sp>
          <p:sp>
            <p:nvSpPr>
              <p:cNvPr id="21" name="Rectangle 20" descr="Slate bar"/>
              <p:cNvSpPr>
                <a:spLocks noChangeArrowheads="1"/>
              </p:cNvSpPr>
              <p:nvPr/>
            </p:nvSpPr>
            <p:spPr bwMode="auto">
              <a:xfrm rot="16200000" flipH="1">
                <a:off x="9045410" y="2953256"/>
                <a:ext cx="196717" cy="3048463"/>
              </a:xfrm>
              <a:prstGeom prst="rect">
                <a:avLst/>
              </a:prstGeom>
              <a:solidFill>
                <a:schemeClr val="accent6"/>
              </a:solidFill>
              <a:ln w="9525">
                <a:noFill/>
                <a:miter lim="800000"/>
                <a:headEnd/>
                <a:tailEnd/>
              </a:ln>
              <a:effectLst>
                <a:reflection blurRad="6350" stA="50000" endA="300" endPos="38500" dist="50800" dir="5400000" sy="-100000" algn="bl" rotWithShape="0"/>
              </a:effectLst>
              <a:extLst/>
            </p:spPr>
            <p:txBody>
              <a:bodyPr wrap="none" anchor="ctr"/>
              <a:lstStyle/>
              <a:p>
                <a:pPr algn="ctr" eaLnBrk="1" hangingPunct="1"/>
                <a:endParaRPr lang="en-US" sz="2400">
                  <a:latin typeface="Times New Roman" panose="02020603050405020304" pitchFamily="18" charset="0"/>
                </a:endParaRPr>
              </a:p>
            </p:txBody>
          </p:sp>
        </p:grpSp>
      </p:grpSp>
      <p:sp>
        <p:nvSpPr>
          <p:cNvPr id="3" name="Subtitle 2"/>
          <p:cNvSpPr>
            <a:spLocks noGrp="1"/>
          </p:cNvSpPr>
          <p:nvPr>
            <p:ph type="subTitle" idx="1"/>
          </p:nvPr>
        </p:nvSpPr>
        <p:spPr>
          <a:xfrm>
            <a:off x="1524000" y="4056115"/>
            <a:ext cx="9144000" cy="1655762"/>
          </a:xfrm>
          <a:prstGeom prst="rect">
            <a:avLst/>
          </a:prstGeo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p:cNvSpPr>
            <a:spLocks noGrp="1"/>
          </p:cNvSpPr>
          <p:nvPr>
            <p:ph type="ctrTitle"/>
          </p:nvPr>
        </p:nvSpPr>
        <p:spPr>
          <a:xfrm>
            <a:off x="1524000" y="912610"/>
            <a:ext cx="9144000" cy="2387600"/>
          </a:xfrm>
          <a:prstGeom prst="rect">
            <a:avLst/>
          </a:prstGeom>
        </p:spPr>
        <p:txBody>
          <a:bodyPr anchor="b"/>
          <a:lstStyle>
            <a:lvl1pPr algn="ctr">
              <a:defRPr sz="6000">
                <a:solidFill>
                  <a:schemeClr val="tx2"/>
                </a:solidFill>
              </a:defRPr>
            </a:lvl1pPr>
          </a:lstStyle>
          <a:p>
            <a:r>
              <a:rPr lang="en-US"/>
              <a:t>Click to edit Master title style</a:t>
            </a:r>
          </a:p>
        </p:txBody>
      </p:sp>
      <p:sp>
        <p:nvSpPr>
          <p:cNvPr id="11"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5DE3B5DE-687E-4601-9C25-48F7ABE0D7C5}" type="datetime1">
              <a:rPr lang="en-US" smtClean="0"/>
              <a:t>2/22/2018</a:t>
            </a:fld>
            <a:endParaRPr lang="en-US"/>
          </a:p>
        </p:txBody>
      </p:sp>
      <p:sp>
        <p:nvSpPr>
          <p:cNvPr id="12"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3"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2810808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7"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96AC42F1-294F-4AFB-8F78-2EF579F09459}" type="datetime1">
              <a:rPr lang="en-US" smtClean="0"/>
              <a:t>2/22/2018</a:t>
            </a:fld>
            <a:endParaRPr lang="en-US"/>
          </a:p>
        </p:txBody>
      </p:sp>
      <p:sp>
        <p:nvSpPr>
          <p:cNvPr id="8"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9"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1818076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2" name="Title 1"/>
          <p:cNvSpPr>
            <a:spLocks noGrp="1"/>
          </p:cNvSpPr>
          <p:nvPr>
            <p:ph type="title"/>
          </p:nvPr>
        </p:nvSpPr>
        <p:spPr>
          <a:xfrm>
            <a:off x="831850" y="1709738"/>
            <a:ext cx="10515600" cy="2862262"/>
          </a:xfrm>
          <a:prstGeom prst="rect">
            <a:avLst/>
          </a:prstGeom>
        </p:spPr>
        <p:txBody>
          <a:bodyPr anchor="b"/>
          <a:lstStyle>
            <a:lvl1pPr>
              <a:defRPr sz="6000"/>
            </a:lvl1pPr>
          </a:lstStyle>
          <a:p>
            <a:r>
              <a:rPr lang="en-US"/>
              <a:t>Click to edit Master title style</a:t>
            </a:r>
          </a:p>
        </p:txBody>
      </p:sp>
      <p:sp>
        <p:nvSpPr>
          <p:cNvPr id="7"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1580A6EB-69F5-4723-B5E3-A6D9E36A957A}" type="datetime1">
              <a:rPr lang="en-US" smtClean="0"/>
              <a:t>2/22/2018</a:t>
            </a:fld>
            <a:endParaRPr lang="en-US"/>
          </a:p>
        </p:txBody>
      </p:sp>
      <p:sp>
        <p:nvSpPr>
          <p:cNvPr id="8"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9"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3294145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72200" y="1825625"/>
            <a:ext cx="5181600" cy="43513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half" idx="1"/>
          </p:nvPr>
        </p:nvSpPr>
        <p:spPr>
          <a:xfrm>
            <a:off x="838200" y="1825625"/>
            <a:ext cx="5181600" cy="43513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8" name="Date Placeholder 3"/>
          <p:cNvSpPr>
            <a:spLocks noGrp="1"/>
          </p:cNvSpPr>
          <p:nvPr>
            <p:ph type="dt" sz="half" idx="10"/>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0FB02ED0-9CAE-481B-8D1D-B242F0282967}" type="datetime1">
              <a:rPr lang="en-US" smtClean="0"/>
              <a:t>2/22/2018</a:t>
            </a:fld>
            <a:endParaRPr lang="en-US"/>
          </a:p>
        </p:txBody>
      </p:sp>
      <p:sp>
        <p:nvSpPr>
          <p:cNvPr id="9"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0"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1717809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6" name="Content Placeholder 5"/>
          <p:cNvSpPr>
            <a:spLocks noGrp="1"/>
          </p:cNvSpPr>
          <p:nvPr>
            <p:ph sz="quarter" idx="4"/>
          </p:nvPr>
        </p:nvSpPr>
        <p:spPr>
          <a:xfrm>
            <a:off x="6189663" y="2193925"/>
            <a:ext cx="5157787" cy="3978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9663" y="1489075"/>
            <a:ext cx="5157787" cy="6413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1850" y="2193925"/>
            <a:ext cx="5156200" cy="3978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p:nvPr>
        </p:nvSpPr>
        <p:spPr>
          <a:xfrm>
            <a:off x="831850" y="1489075"/>
            <a:ext cx="5156200" cy="6413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 name="Title 1"/>
          <p:cNvSpPr>
            <a:spLocks noGrp="1"/>
          </p:cNvSpPr>
          <p:nvPr>
            <p:ph type="title"/>
          </p:nvPr>
        </p:nvSpPr>
        <p:spPr>
          <a:xfrm>
            <a:off x="831850" y="274638"/>
            <a:ext cx="10515600" cy="1143000"/>
          </a:xfrm>
          <a:prstGeom prst="rect">
            <a:avLst/>
          </a:prstGeom>
        </p:spPr>
        <p:txBody>
          <a:bodyPr/>
          <a:lstStyle/>
          <a:p>
            <a:r>
              <a:rPr lang="en-US"/>
              <a:t>Click to edit Master title style</a:t>
            </a:r>
          </a:p>
        </p:txBody>
      </p:sp>
      <p:sp>
        <p:nvSpPr>
          <p:cNvPr id="10" name="Date Placeholder 3"/>
          <p:cNvSpPr>
            <a:spLocks noGrp="1"/>
          </p:cNvSpPr>
          <p:nvPr>
            <p:ph type="dt" sz="half" idx="10"/>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4696AB3F-7B84-45BD-A122-497866A73F4B}" type="datetime1">
              <a:rPr lang="en-US" smtClean="0"/>
              <a:t>2/22/2018</a:t>
            </a:fld>
            <a:endParaRPr lang="en-US"/>
          </a:p>
        </p:txBody>
      </p:sp>
      <p:sp>
        <p:nvSpPr>
          <p:cNvPr id="11" name="Footer Placeholder 4"/>
          <p:cNvSpPr>
            <a:spLocks noGrp="1"/>
          </p:cNvSpPr>
          <p:nvPr>
            <p:ph type="ftr" sz="quarter" idx="11"/>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2" name="Slide Number Placeholder 5"/>
          <p:cNvSpPr>
            <a:spLocks noGrp="1"/>
          </p:cNvSpPr>
          <p:nvPr>
            <p:ph type="sldNum" sz="quarter" idx="12"/>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2510624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6"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6395E536-1457-4CE4-8497-197239F05587}" type="datetime1">
              <a:rPr lang="en-US" smtClean="0"/>
              <a:t>2/22/2018</a:t>
            </a:fld>
            <a:endParaRPr lang="en-US"/>
          </a:p>
        </p:txBody>
      </p:sp>
      <p:sp>
        <p:nvSpPr>
          <p:cNvPr id="7"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8"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94028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A4AF2F65-2726-4707-A7A6-DE21D14E80C5}" type="datetime1">
              <a:rPr lang="en-US" smtClean="0"/>
              <a:t>2/22/2018</a:t>
            </a:fld>
            <a:endParaRPr lang="en-US"/>
          </a:p>
        </p:txBody>
      </p:sp>
      <p:sp>
        <p:nvSpPr>
          <p:cNvPr id="6"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7"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1552341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101850"/>
            <a:ext cx="3932237" cy="375920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8" name="Date Placeholder 3"/>
          <p:cNvSpPr>
            <a:spLocks noGrp="1"/>
          </p:cNvSpPr>
          <p:nvPr>
            <p:ph type="dt" sz="half" idx="10"/>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1FA85564-6B99-4FC4-9CE3-22E750398B2E}" type="datetime1">
              <a:rPr lang="en-US" smtClean="0"/>
              <a:t>2/22/2018</a:t>
            </a:fld>
            <a:endParaRPr lang="en-US"/>
          </a:p>
        </p:txBody>
      </p:sp>
      <p:sp>
        <p:nvSpPr>
          <p:cNvPr id="9"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0"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3014592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101850"/>
            <a:ext cx="3932237" cy="375920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8" name="Date Placeholder 3"/>
          <p:cNvSpPr>
            <a:spLocks noGrp="1"/>
          </p:cNvSpPr>
          <p:nvPr>
            <p:ph type="dt" sz="half" idx="10"/>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2BCD2BEA-7F40-407D-B082-13022E8B2C99}" type="datetime1">
              <a:rPr lang="en-US" smtClean="0"/>
              <a:t>2/22/2018</a:t>
            </a:fld>
            <a:endParaRPr lang="en-US"/>
          </a:p>
        </p:txBody>
      </p:sp>
      <p:sp>
        <p:nvSpPr>
          <p:cNvPr id="9"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0"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1595501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7"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BFD467DE-D084-42AA-B27F-22F6084CB8BB}" type="datetime1">
              <a:rPr lang="en-US" smtClean="0"/>
              <a:t>2/22/2018</a:t>
            </a:fld>
            <a:endParaRPr lang="en-US"/>
          </a:p>
        </p:txBody>
      </p:sp>
      <p:sp>
        <p:nvSpPr>
          <p:cNvPr id="8"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9"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2439293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7"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3782E027-C2A0-4932-A761-986BAD82B671}" type="datetime1">
              <a:rPr lang="en-US" smtClean="0"/>
              <a:t>2/22/2018</a:t>
            </a:fld>
            <a:endParaRPr lang="en-US"/>
          </a:p>
        </p:txBody>
      </p:sp>
      <p:sp>
        <p:nvSpPr>
          <p:cNvPr id="8"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9"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1297126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9" name="Group 8"/>
          <p:cNvGrpSpPr/>
          <p:nvPr/>
        </p:nvGrpSpPr>
        <p:grpSpPr>
          <a:xfrm>
            <a:off x="0" y="-6"/>
            <a:ext cx="12188952" cy="6858006"/>
            <a:chOff x="-2728" y="-5"/>
            <a:chExt cx="12188952" cy="6858006"/>
          </a:xfrm>
        </p:grpSpPr>
        <p:sp>
          <p:nvSpPr>
            <p:cNvPr id="26" name="Rectangle 25"/>
            <p:cNvSpPr/>
            <p:nvPr/>
          </p:nvSpPr>
          <p:spPr>
            <a:xfrm>
              <a:off x="-2728" y="1"/>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p:cNvGrpSpPr/>
            <p:nvPr/>
          </p:nvGrpSpPr>
          <p:grpSpPr>
            <a:xfrm>
              <a:off x="-2727" y="-5"/>
              <a:ext cx="716424" cy="6858000"/>
              <a:chOff x="-2727" y="-5"/>
              <a:chExt cx="716424" cy="6858000"/>
            </a:xfrm>
          </p:grpSpPr>
          <p:grpSp>
            <p:nvGrpSpPr>
              <p:cNvPr id="40" name="Group 39"/>
              <p:cNvGrpSpPr/>
              <p:nvPr/>
            </p:nvGrpSpPr>
            <p:grpSpPr>
              <a:xfrm>
                <a:off x="-2727" y="-5"/>
                <a:ext cx="571473" cy="6858000"/>
                <a:chOff x="6048440" y="-936481"/>
                <a:chExt cx="196717" cy="9144001"/>
              </a:xfrm>
            </p:grpSpPr>
            <p:sp>
              <p:nvSpPr>
                <p:cNvPr id="46" name="Rectangle 45" descr="Gold bar"/>
                <p:cNvSpPr>
                  <a:spLocks noChangeArrowheads="1"/>
                </p:cNvSpPr>
                <p:nvPr/>
              </p:nvSpPr>
              <p:spPr bwMode="auto">
                <a:xfrm rot="10800000" flipH="1">
                  <a:off x="6048440" y="5159057"/>
                  <a:ext cx="196717" cy="3048463"/>
                </a:xfrm>
                <a:prstGeom prst="rect">
                  <a:avLst/>
                </a:prstGeom>
                <a:solidFill>
                  <a:schemeClr val="accent6"/>
                </a:solidFill>
                <a:ln w="9525">
                  <a:noFill/>
                  <a:miter lim="800000"/>
                  <a:headEnd/>
                  <a:tailEnd/>
                </a:ln>
                <a:effectLst/>
                <a:extLst/>
              </p:spPr>
              <p:txBody>
                <a:bodyPr wrap="none" anchor="ctr"/>
                <a:lstStyle/>
                <a:p>
                  <a:pPr algn="ctr" eaLnBrk="1" hangingPunct="1"/>
                  <a:endParaRPr lang="en-US" sz="2400">
                    <a:latin typeface="Times New Roman" panose="02020603050405020304" pitchFamily="18" charset="0"/>
                  </a:endParaRPr>
                </a:p>
              </p:txBody>
            </p:sp>
            <p:sp>
              <p:nvSpPr>
                <p:cNvPr id="47" name="Rectangle 46" descr="Orange bar"/>
                <p:cNvSpPr>
                  <a:spLocks noChangeArrowheads="1"/>
                </p:cNvSpPr>
                <p:nvPr/>
              </p:nvSpPr>
              <p:spPr bwMode="auto">
                <a:xfrm rot="10800000" flipH="1">
                  <a:off x="6048440" y="2110594"/>
                  <a:ext cx="196717" cy="3048463"/>
                </a:xfrm>
                <a:prstGeom prst="rect">
                  <a:avLst/>
                </a:prstGeom>
                <a:solidFill>
                  <a:schemeClr val="accent4"/>
                </a:solidFill>
                <a:ln w="9525">
                  <a:noFill/>
                  <a:miter lim="800000"/>
                  <a:headEnd/>
                  <a:tailEnd/>
                </a:ln>
                <a:effectLst/>
                <a:extLst/>
              </p:spPr>
              <p:txBody>
                <a:bodyPr wrap="none" anchor="ctr"/>
                <a:lstStyle/>
                <a:p>
                  <a:pPr algn="ctr" eaLnBrk="1" hangingPunct="1"/>
                  <a:endParaRPr lang="en-US" sz="2400">
                    <a:latin typeface="Times New Roman" panose="02020603050405020304" pitchFamily="18" charset="0"/>
                  </a:endParaRPr>
                </a:p>
              </p:txBody>
            </p:sp>
            <p:sp>
              <p:nvSpPr>
                <p:cNvPr id="48" name="Rectangle 47" descr="Slate bar"/>
                <p:cNvSpPr>
                  <a:spLocks noChangeArrowheads="1"/>
                </p:cNvSpPr>
                <p:nvPr/>
              </p:nvSpPr>
              <p:spPr bwMode="auto">
                <a:xfrm rot="10800000" flipH="1">
                  <a:off x="6048440" y="-936481"/>
                  <a:ext cx="196717" cy="3048463"/>
                </a:xfrm>
                <a:prstGeom prst="rect">
                  <a:avLst/>
                </a:prstGeom>
                <a:solidFill>
                  <a:schemeClr val="accent1"/>
                </a:solidFill>
                <a:ln w="9525">
                  <a:noFill/>
                  <a:miter lim="800000"/>
                  <a:headEnd/>
                  <a:tailEnd/>
                </a:ln>
                <a:effectLst/>
                <a:extLst/>
              </p:spPr>
              <p:txBody>
                <a:bodyPr wrap="none" anchor="ctr"/>
                <a:lstStyle/>
                <a:p>
                  <a:pPr algn="ctr" eaLnBrk="1" hangingPunct="1"/>
                  <a:endParaRPr lang="en-US" sz="2400">
                    <a:latin typeface="Times New Roman" panose="02020603050405020304" pitchFamily="18" charset="0"/>
                  </a:endParaRPr>
                </a:p>
              </p:txBody>
            </p:sp>
          </p:grpSp>
          <p:grpSp>
            <p:nvGrpSpPr>
              <p:cNvPr id="41" name="Group 40"/>
              <p:cNvGrpSpPr/>
              <p:nvPr/>
            </p:nvGrpSpPr>
            <p:grpSpPr>
              <a:xfrm>
                <a:off x="566005" y="-5"/>
                <a:ext cx="147692" cy="6858000"/>
                <a:chOff x="6048440" y="-936481"/>
                <a:chExt cx="196717" cy="9144001"/>
              </a:xfrm>
            </p:grpSpPr>
            <p:sp>
              <p:nvSpPr>
                <p:cNvPr id="43" name="Rectangle 42" descr="Gold bar"/>
                <p:cNvSpPr>
                  <a:spLocks noChangeArrowheads="1"/>
                </p:cNvSpPr>
                <p:nvPr/>
              </p:nvSpPr>
              <p:spPr bwMode="auto">
                <a:xfrm rot="10800000" flipH="1">
                  <a:off x="6048440" y="5159057"/>
                  <a:ext cx="196717" cy="3048463"/>
                </a:xfrm>
                <a:prstGeom prst="rect">
                  <a:avLst/>
                </a:prstGeom>
                <a:gradFill flip="none" rotWithShape="1">
                  <a:gsLst>
                    <a:gs pos="0">
                      <a:schemeClr val="accent6">
                        <a:lumMod val="40000"/>
                        <a:lumOff val="60000"/>
                      </a:schemeClr>
                    </a:gs>
                    <a:gs pos="100000">
                      <a:prstClr val="white"/>
                    </a:gs>
                  </a:gsLst>
                  <a:lin ang="0" scaled="1"/>
                  <a:tileRect/>
                </a:gradFill>
                <a:ln w="9525">
                  <a:noFill/>
                  <a:miter lim="800000"/>
                  <a:headEnd/>
                  <a:tailEnd/>
                </a:ln>
                <a:effectLst/>
                <a:extLst/>
              </p:spPr>
              <p:txBody>
                <a:bodyPr wrap="none" anchor="ctr"/>
                <a:lstStyle/>
                <a:p>
                  <a:pPr lvl="0" algn="ctr"/>
                  <a:endParaRPr lang="en-US" sz="2400">
                    <a:latin typeface="Times New Roman" panose="02020603050405020304" pitchFamily="18" charset="0"/>
                  </a:endParaRPr>
                </a:p>
              </p:txBody>
            </p:sp>
            <p:sp>
              <p:nvSpPr>
                <p:cNvPr id="44" name="Rectangle 43" descr="Orange bar"/>
                <p:cNvSpPr>
                  <a:spLocks noChangeArrowheads="1"/>
                </p:cNvSpPr>
                <p:nvPr/>
              </p:nvSpPr>
              <p:spPr bwMode="auto">
                <a:xfrm rot="10800000" flipH="1">
                  <a:off x="6048440" y="2110594"/>
                  <a:ext cx="196717" cy="3048463"/>
                </a:xfrm>
                <a:prstGeom prst="rect">
                  <a:avLst/>
                </a:prstGeom>
                <a:gradFill flip="none" rotWithShape="1">
                  <a:gsLst>
                    <a:gs pos="0">
                      <a:schemeClr val="accent4">
                        <a:lumMod val="40000"/>
                        <a:lumOff val="60000"/>
                      </a:schemeClr>
                    </a:gs>
                    <a:gs pos="100000">
                      <a:prstClr val="white"/>
                    </a:gs>
                  </a:gsLst>
                  <a:lin ang="0" scaled="1"/>
                  <a:tileRect/>
                </a:gradFill>
                <a:ln w="9525">
                  <a:noFill/>
                  <a:miter lim="800000"/>
                  <a:headEnd/>
                  <a:tailEnd/>
                </a:ln>
                <a:effectLst/>
                <a:extLst/>
              </p:spPr>
              <p:txBody>
                <a:bodyPr wrap="none" anchor="ctr"/>
                <a:lstStyle/>
                <a:p>
                  <a:pPr algn="ctr" eaLnBrk="1" hangingPunct="1"/>
                  <a:endParaRPr lang="en-US" sz="2400">
                    <a:latin typeface="Times New Roman" panose="02020603050405020304" pitchFamily="18" charset="0"/>
                  </a:endParaRPr>
                </a:p>
              </p:txBody>
            </p:sp>
            <p:sp>
              <p:nvSpPr>
                <p:cNvPr id="45" name="Rectangle 44" descr="Slate bar"/>
                <p:cNvSpPr>
                  <a:spLocks noChangeArrowheads="1"/>
                </p:cNvSpPr>
                <p:nvPr/>
              </p:nvSpPr>
              <p:spPr bwMode="auto">
                <a:xfrm rot="10800000" flipH="1">
                  <a:off x="6048440" y="-936481"/>
                  <a:ext cx="196717" cy="3048463"/>
                </a:xfrm>
                <a:prstGeom prst="rect">
                  <a:avLst/>
                </a:prstGeom>
                <a:gradFill flip="none" rotWithShape="1">
                  <a:gsLst>
                    <a:gs pos="0">
                      <a:schemeClr val="accent1">
                        <a:lumMod val="60000"/>
                        <a:lumOff val="40000"/>
                      </a:schemeClr>
                    </a:gs>
                    <a:gs pos="100000">
                      <a:schemeClr val="bg1"/>
                    </a:gs>
                  </a:gsLst>
                  <a:lin ang="0" scaled="1"/>
                  <a:tileRect/>
                </a:gradFill>
                <a:ln w="9525">
                  <a:noFill/>
                  <a:miter lim="800000"/>
                  <a:headEnd/>
                  <a:tailEnd/>
                </a:ln>
                <a:effectLst/>
                <a:extLst/>
              </p:spPr>
              <p:txBody>
                <a:bodyPr wrap="none" anchor="ctr"/>
                <a:lstStyle/>
                <a:p>
                  <a:pPr algn="ctr" eaLnBrk="1" hangingPunct="1"/>
                  <a:endParaRPr lang="en-US" sz="2400">
                    <a:latin typeface="Times New Roman" panose="02020603050405020304" pitchFamily="18" charset="0"/>
                  </a:endParaRPr>
                </a:p>
              </p:txBody>
            </p:sp>
          </p:grpSp>
          <p:sp>
            <p:nvSpPr>
              <p:cNvPr id="42" name="Rectangle 41"/>
              <p:cNvSpPr/>
              <p:nvPr/>
            </p:nvSpPr>
            <p:spPr>
              <a:xfrm>
                <a:off x="646782" y="-5"/>
                <a:ext cx="45719" cy="6858000"/>
              </a:xfrm>
              <a:prstGeom prst="rect">
                <a:avLst/>
              </a:prstGeom>
              <a:solidFill>
                <a:schemeClr val="bg1"/>
              </a:solidFill>
              <a:ln>
                <a:noFill/>
              </a:ln>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grpSp>
      </p:grpSp>
      <p:sp>
        <p:nvSpPr>
          <p:cNvPr id="34"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fld id="{CA734DBA-6852-4C6A-AB8B-E28C0C52CB53}" type="datetime1">
              <a:rPr lang="en-US" smtClean="0"/>
              <a:t>2/22/2018</a:t>
            </a:fld>
            <a:endParaRPr lang="en-US"/>
          </a:p>
        </p:txBody>
      </p:sp>
      <p:sp>
        <p:nvSpPr>
          <p:cNvPr id="35"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36"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
        <p:nvSpPr>
          <p:cNvPr id="3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17190883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ct val="30000"/>
        </a:spcBef>
        <a:buClr>
          <a:schemeClr val="accent2"/>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2"/>
        </a:buClr>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2"/>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www.discern.org.uk/discern_instrument.php"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4.png"/></Relationships>
</file>

<file path=ppt/slides/_rels/slide2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he-IL" dirty="0"/>
              <a:t>יהודית בר אילן</a:t>
            </a:r>
          </a:p>
          <a:p>
            <a:r>
              <a:rPr lang="he-IL" dirty="0"/>
              <a:t>המחלקה למדע המידע</a:t>
            </a:r>
          </a:p>
          <a:p>
            <a:r>
              <a:rPr lang="he-IL" dirty="0"/>
              <a:t>אוניברסיטת בר-אילן</a:t>
            </a:r>
            <a:endParaRPr lang="en-US" dirty="0"/>
          </a:p>
        </p:txBody>
      </p:sp>
      <p:sp>
        <p:nvSpPr>
          <p:cNvPr id="2" name="Title 1"/>
          <p:cNvSpPr>
            <a:spLocks noGrp="1"/>
          </p:cNvSpPr>
          <p:nvPr>
            <p:ph type="ctrTitle"/>
          </p:nvPr>
        </p:nvSpPr>
        <p:spPr/>
        <p:txBody>
          <a:bodyPr/>
          <a:lstStyle/>
          <a:p>
            <a:r>
              <a:rPr lang="he-IL" dirty="0"/>
              <a:t>מידע ואינטרנט</a:t>
            </a:r>
            <a:endParaRPr lang="en-US" dirty="0"/>
          </a:p>
        </p:txBody>
      </p:sp>
    </p:spTree>
    <p:extLst>
      <p:ext uri="{BB962C8B-B14F-4D97-AF65-F5344CB8AC3E}">
        <p14:creationId xmlns:p14="http://schemas.microsoft.com/office/powerpoint/2010/main" val="821985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0CD1F2-88B8-42FD-B3A0-B37F0E4E88B9}"/>
              </a:ext>
            </a:extLst>
          </p:cNvPr>
          <p:cNvSpPr>
            <a:spLocks noGrp="1"/>
          </p:cNvSpPr>
          <p:nvPr>
            <p:ph idx="1"/>
          </p:nvPr>
        </p:nvSpPr>
        <p:spPr/>
        <p:txBody>
          <a:bodyPr/>
          <a:lstStyle/>
          <a:p>
            <a:pPr algn="r" rtl="1"/>
            <a:r>
              <a:rPr lang="he-IL" dirty="0"/>
              <a:t>איתור מידע</a:t>
            </a:r>
          </a:p>
          <a:p>
            <a:pPr algn="r" rtl="1"/>
            <a:r>
              <a:rPr lang="he-IL" dirty="0"/>
              <a:t>חיפוש ברשת האינטרנט</a:t>
            </a:r>
          </a:p>
          <a:p>
            <a:pPr algn="r" rtl="1"/>
            <a:r>
              <a:rPr lang="he-IL" dirty="0"/>
              <a:t>הערכת מידע באינטרנט</a:t>
            </a:r>
          </a:p>
          <a:p>
            <a:pPr algn="r" rtl="1"/>
            <a:r>
              <a:rPr lang="he-IL" dirty="0"/>
              <a:t>מאגרי מידע</a:t>
            </a:r>
            <a:endParaRPr lang="en-US" dirty="0"/>
          </a:p>
        </p:txBody>
      </p:sp>
      <p:sp>
        <p:nvSpPr>
          <p:cNvPr id="3" name="Title 2">
            <a:extLst>
              <a:ext uri="{FF2B5EF4-FFF2-40B4-BE49-F238E27FC236}">
                <a16:creationId xmlns:a16="http://schemas.microsoft.com/office/drawing/2014/main" id="{CD3A6B73-38F6-4B88-98BB-FBD38343E01A}"/>
              </a:ext>
            </a:extLst>
          </p:cNvPr>
          <p:cNvSpPr>
            <a:spLocks noGrp="1"/>
          </p:cNvSpPr>
          <p:nvPr>
            <p:ph type="title"/>
          </p:nvPr>
        </p:nvSpPr>
        <p:spPr/>
        <p:txBody>
          <a:bodyPr/>
          <a:lstStyle/>
          <a:p>
            <a:pPr algn="r" rtl="1"/>
            <a:r>
              <a:rPr lang="he-IL" dirty="0"/>
              <a:t>נושאי ההרצאה</a:t>
            </a:r>
            <a:endParaRPr lang="en-US" dirty="0"/>
          </a:p>
        </p:txBody>
      </p:sp>
    </p:spTree>
    <p:extLst>
      <p:ext uri="{BB962C8B-B14F-4D97-AF65-F5344CB8AC3E}">
        <p14:creationId xmlns:p14="http://schemas.microsoft.com/office/powerpoint/2010/main" val="2985290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B59CE9-C6C2-4D9F-A35B-27A5546ED9BA}"/>
              </a:ext>
            </a:extLst>
          </p:cNvPr>
          <p:cNvSpPr>
            <a:spLocks noGrp="1"/>
          </p:cNvSpPr>
          <p:nvPr>
            <p:ph idx="1"/>
          </p:nvPr>
        </p:nvSpPr>
        <p:spPr>
          <a:xfrm>
            <a:off x="905312" y="1757978"/>
            <a:ext cx="10515600" cy="4611932"/>
          </a:xfrm>
        </p:spPr>
        <p:txBody>
          <a:bodyPr>
            <a:normAutofit/>
          </a:bodyPr>
          <a:lstStyle/>
          <a:p>
            <a:pPr algn="r" rtl="1"/>
            <a:r>
              <a:rPr lang="he-IL" dirty="0"/>
              <a:t>העדפה לגורמים אנושיים </a:t>
            </a:r>
          </a:p>
          <a:p>
            <a:pPr lvl="1" algn="r" rtl="1"/>
            <a:r>
              <a:rPr lang="he-IL" dirty="0"/>
              <a:t>משפחה, חברים</a:t>
            </a:r>
          </a:p>
          <a:p>
            <a:pPr lvl="1" algn="r" rtl="1"/>
            <a:r>
              <a:rPr lang="he-IL" dirty="0"/>
              <a:t>מומחים</a:t>
            </a:r>
          </a:p>
          <a:p>
            <a:pPr lvl="1" algn="r" rtl="1"/>
            <a:r>
              <a:rPr lang="he-IL" dirty="0"/>
              <a:t>קבוצות דיון, רשתות חברתיות</a:t>
            </a:r>
          </a:p>
          <a:p>
            <a:pPr algn="r" rtl="1"/>
            <a:r>
              <a:rPr lang="he-IL" dirty="0"/>
              <a:t>מידע מודפס</a:t>
            </a:r>
          </a:p>
          <a:p>
            <a:pPr lvl="1" algn="r" rtl="1"/>
            <a:r>
              <a:rPr lang="he-IL" dirty="0"/>
              <a:t>ספרים, מאמרים, כתבות, אנציקלופדיות, מילונים</a:t>
            </a:r>
          </a:p>
          <a:p>
            <a:pPr lvl="1" algn="r" rtl="1"/>
            <a:r>
              <a:rPr lang="he-IL" dirty="0"/>
              <a:t>ספריה</a:t>
            </a:r>
          </a:p>
          <a:p>
            <a:pPr lvl="1" algn="r" rtl="1"/>
            <a:r>
              <a:rPr lang="he-IL" dirty="0"/>
              <a:t>עדיין יש העדפה להדפיס מסמכים ארוכים אלקטרוניים</a:t>
            </a:r>
          </a:p>
        </p:txBody>
      </p:sp>
      <p:sp>
        <p:nvSpPr>
          <p:cNvPr id="3" name="Title 2">
            <a:extLst>
              <a:ext uri="{FF2B5EF4-FFF2-40B4-BE49-F238E27FC236}">
                <a16:creationId xmlns:a16="http://schemas.microsoft.com/office/drawing/2014/main" id="{E2F404BD-2B73-4EFD-AAFB-925456173AE4}"/>
              </a:ext>
            </a:extLst>
          </p:cNvPr>
          <p:cNvSpPr>
            <a:spLocks noGrp="1"/>
          </p:cNvSpPr>
          <p:nvPr>
            <p:ph type="title"/>
          </p:nvPr>
        </p:nvSpPr>
        <p:spPr/>
        <p:txBody>
          <a:bodyPr/>
          <a:lstStyle/>
          <a:p>
            <a:pPr algn="r" rtl="1"/>
            <a:r>
              <a:rPr lang="he-IL" dirty="0"/>
              <a:t>איתור מידע</a:t>
            </a:r>
            <a:endParaRPr lang="en-US" dirty="0"/>
          </a:p>
        </p:txBody>
      </p:sp>
    </p:spTree>
    <p:extLst>
      <p:ext uri="{BB962C8B-B14F-4D97-AF65-F5344CB8AC3E}">
        <p14:creationId xmlns:p14="http://schemas.microsoft.com/office/powerpoint/2010/main" val="388463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3A87DA-34D5-43DF-B639-69C266B398AD}"/>
              </a:ext>
            </a:extLst>
          </p:cNvPr>
          <p:cNvSpPr>
            <a:spLocks noGrp="1"/>
          </p:cNvSpPr>
          <p:nvPr>
            <p:ph idx="1"/>
          </p:nvPr>
        </p:nvSpPr>
        <p:spPr>
          <a:xfrm>
            <a:off x="838200" y="1477108"/>
            <a:ext cx="10515600" cy="4699855"/>
          </a:xfrm>
        </p:spPr>
        <p:txBody>
          <a:bodyPr/>
          <a:lstStyle/>
          <a:p>
            <a:pPr marL="0" indent="0" algn="r" rtl="1">
              <a:buNone/>
            </a:pPr>
            <a:r>
              <a:rPr lang="he-IL" dirty="0"/>
              <a:t>מידע דיגיטלי</a:t>
            </a:r>
          </a:p>
          <a:p>
            <a:pPr algn="r" rtl="1"/>
            <a:r>
              <a:rPr lang="he-IL" dirty="0"/>
              <a:t>האינטרנט, בעיקר ה </a:t>
            </a:r>
            <a:r>
              <a:rPr lang="en-US" dirty="0"/>
              <a:t>Web</a:t>
            </a:r>
            <a:r>
              <a:rPr lang="he-IL" dirty="0"/>
              <a:t> (נקרא מרשתת בעברית)</a:t>
            </a:r>
          </a:p>
          <a:p>
            <a:pPr lvl="1" algn="r" rtl="1"/>
            <a:r>
              <a:rPr lang="he-IL" dirty="0"/>
              <a:t>מגוון דרכי גישה (מחשב אישי, נחשב נייד, </a:t>
            </a:r>
            <a:r>
              <a:rPr lang="he-IL" dirty="0" err="1"/>
              <a:t>טבלט</a:t>
            </a:r>
            <a:r>
              <a:rPr lang="he-IL" dirty="0"/>
              <a:t>, טלפון חכם)</a:t>
            </a:r>
          </a:p>
          <a:p>
            <a:pPr algn="r" rtl="1"/>
            <a:r>
              <a:rPr lang="he-IL" dirty="0"/>
              <a:t>רשתות חברתיות</a:t>
            </a:r>
          </a:p>
          <a:p>
            <a:pPr lvl="1" algn="r" rtl="1"/>
            <a:r>
              <a:rPr lang="en-US" dirty="0"/>
              <a:t>Facebook, Twitter, Linked-in</a:t>
            </a:r>
          </a:p>
          <a:p>
            <a:pPr algn="r" rtl="1"/>
            <a:r>
              <a:rPr lang="he-IL" dirty="0"/>
              <a:t>אפליקציות</a:t>
            </a:r>
          </a:p>
          <a:p>
            <a:pPr algn="r" rtl="1"/>
            <a:r>
              <a:rPr lang="he-IL" dirty="0"/>
              <a:t>מאגרי מידע</a:t>
            </a:r>
          </a:p>
          <a:p>
            <a:pPr lvl="1" algn="r" rtl="1"/>
            <a:r>
              <a:rPr lang="he-IL" dirty="0"/>
              <a:t>חופשיים</a:t>
            </a:r>
          </a:p>
          <a:p>
            <a:pPr lvl="1" algn="r" rtl="1"/>
            <a:r>
              <a:rPr lang="he-IL" dirty="0"/>
              <a:t>בתשלום/מנוי</a:t>
            </a:r>
          </a:p>
          <a:p>
            <a:pPr marL="0" indent="0" algn="r" rtl="1">
              <a:buNone/>
            </a:pPr>
            <a:endParaRPr lang="en-US" dirty="0"/>
          </a:p>
          <a:p>
            <a:endParaRPr lang="en-US" dirty="0"/>
          </a:p>
        </p:txBody>
      </p:sp>
      <p:sp>
        <p:nvSpPr>
          <p:cNvPr id="3" name="Title 2">
            <a:extLst>
              <a:ext uri="{FF2B5EF4-FFF2-40B4-BE49-F238E27FC236}">
                <a16:creationId xmlns:a16="http://schemas.microsoft.com/office/drawing/2014/main" id="{7D9764CA-E2E6-4EF4-B2E1-2CA0FA490D80}"/>
              </a:ext>
            </a:extLst>
          </p:cNvPr>
          <p:cNvSpPr>
            <a:spLocks noGrp="1"/>
          </p:cNvSpPr>
          <p:nvPr>
            <p:ph type="title"/>
          </p:nvPr>
        </p:nvSpPr>
        <p:spPr/>
        <p:txBody>
          <a:bodyPr/>
          <a:lstStyle/>
          <a:p>
            <a:pPr algn="r" rtl="1"/>
            <a:r>
              <a:rPr lang="he-IL" dirty="0"/>
              <a:t>איתור מידע</a:t>
            </a:r>
            <a:endParaRPr lang="en-US" dirty="0"/>
          </a:p>
        </p:txBody>
      </p:sp>
      <p:pic>
        <p:nvPicPr>
          <p:cNvPr id="4" name="Picture 3">
            <a:extLst>
              <a:ext uri="{FF2B5EF4-FFF2-40B4-BE49-F238E27FC236}">
                <a16:creationId xmlns:a16="http://schemas.microsoft.com/office/drawing/2014/main" id="{7E6A0F4A-C578-48A1-B95D-F565D6DC8537}"/>
              </a:ext>
            </a:extLst>
          </p:cNvPr>
          <p:cNvPicPr>
            <a:picLocks noChangeAspect="1"/>
          </p:cNvPicPr>
          <p:nvPr/>
        </p:nvPicPr>
        <p:blipFill>
          <a:blip r:embed="rId2"/>
          <a:stretch>
            <a:fillRect/>
          </a:stretch>
        </p:blipFill>
        <p:spPr>
          <a:xfrm>
            <a:off x="1832830" y="3133725"/>
            <a:ext cx="2007824" cy="734890"/>
          </a:xfrm>
          <a:prstGeom prst="rect">
            <a:avLst/>
          </a:prstGeom>
        </p:spPr>
      </p:pic>
      <p:pic>
        <p:nvPicPr>
          <p:cNvPr id="5" name="Picture 4">
            <a:extLst>
              <a:ext uri="{FF2B5EF4-FFF2-40B4-BE49-F238E27FC236}">
                <a16:creationId xmlns:a16="http://schemas.microsoft.com/office/drawing/2014/main" id="{87243E39-C744-4C49-B74F-05119A1A6121}"/>
              </a:ext>
            </a:extLst>
          </p:cNvPr>
          <p:cNvPicPr>
            <a:picLocks noChangeAspect="1"/>
          </p:cNvPicPr>
          <p:nvPr/>
        </p:nvPicPr>
        <p:blipFill>
          <a:blip r:embed="rId3"/>
          <a:stretch>
            <a:fillRect/>
          </a:stretch>
        </p:blipFill>
        <p:spPr>
          <a:xfrm>
            <a:off x="1832830" y="5311652"/>
            <a:ext cx="496398" cy="469566"/>
          </a:xfrm>
          <a:prstGeom prst="rect">
            <a:avLst/>
          </a:prstGeom>
        </p:spPr>
      </p:pic>
      <p:pic>
        <p:nvPicPr>
          <p:cNvPr id="6" name="Picture 5">
            <a:extLst>
              <a:ext uri="{FF2B5EF4-FFF2-40B4-BE49-F238E27FC236}">
                <a16:creationId xmlns:a16="http://schemas.microsoft.com/office/drawing/2014/main" id="{BA7CEA56-37B1-47E5-8D62-1A39CFBE85F8}"/>
              </a:ext>
            </a:extLst>
          </p:cNvPr>
          <p:cNvPicPr>
            <a:picLocks noChangeAspect="1"/>
          </p:cNvPicPr>
          <p:nvPr/>
        </p:nvPicPr>
        <p:blipFill>
          <a:blip r:embed="rId4"/>
          <a:stretch>
            <a:fillRect/>
          </a:stretch>
        </p:blipFill>
        <p:spPr>
          <a:xfrm>
            <a:off x="4155831" y="4016252"/>
            <a:ext cx="1524000" cy="1295400"/>
          </a:xfrm>
          <a:prstGeom prst="rect">
            <a:avLst/>
          </a:prstGeom>
        </p:spPr>
      </p:pic>
    </p:spTree>
    <p:extLst>
      <p:ext uri="{BB962C8B-B14F-4D97-AF65-F5344CB8AC3E}">
        <p14:creationId xmlns:p14="http://schemas.microsoft.com/office/powerpoint/2010/main" val="222585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74E2A2-E0B9-4F85-A976-FEE04E9C57E5}"/>
              </a:ext>
            </a:extLst>
          </p:cNvPr>
          <p:cNvSpPr>
            <a:spLocks noGrp="1"/>
          </p:cNvSpPr>
          <p:nvPr>
            <p:ph idx="1"/>
          </p:nvPr>
        </p:nvSpPr>
        <p:spPr>
          <a:xfrm>
            <a:off x="3655644" y="1825625"/>
            <a:ext cx="7698155" cy="4351338"/>
          </a:xfrm>
        </p:spPr>
        <p:txBody>
          <a:bodyPr/>
          <a:lstStyle/>
          <a:p>
            <a:pPr marL="0" indent="0" algn="r" rtl="1">
              <a:buNone/>
            </a:pPr>
            <a:r>
              <a:rPr lang="en-US" dirty="0"/>
              <a:t>Google</a:t>
            </a:r>
          </a:p>
          <a:p>
            <a:pPr algn="r" rtl="1"/>
            <a:endParaRPr lang="he-IL" dirty="0"/>
          </a:p>
          <a:p>
            <a:pPr algn="r" rtl="1"/>
            <a:r>
              <a:rPr lang="he-IL" dirty="0"/>
              <a:t>מנוע חיפוש פופולרי ביותר בארץ ובעולם</a:t>
            </a:r>
          </a:p>
          <a:p>
            <a:pPr algn="r" rtl="1"/>
            <a:r>
              <a:rPr lang="he-IL" dirty="0"/>
              <a:t>מכסה לפחות </a:t>
            </a:r>
            <a:r>
              <a:rPr lang="en-US" dirty="0"/>
              <a:t>25,270,000,000 </a:t>
            </a:r>
            <a:r>
              <a:rPr lang="he-IL" dirty="0"/>
              <a:t> דפי אינטרנט</a:t>
            </a:r>
          </a:p>
          <a:p>
            <a:pPr algn="r" rtl="1"/>
            <a:r>
              <a:rPr lang="he-IL" dirty="0"/>
              <a:t>ולפחות </a:t>
            </a:r>
            <a:r>
              <a:rPr lang="en-US" dirty="0"/>
              <a:t>237,000,000</a:t>
            </a:r>
            <a:r>
              <a:rPr lang="he-IL" dirty="0"/>
              <a:t> דפי רשת בעברית</a:t>
            </a:r>
          </a:p>
          <a:p>
            <a:pPr algn="r" rtl="1"/>
            <a:endParaRPr lang="en-US" dirty="0"/>
          </a:p>
          <a:p>
            <a:pPr marL="0" indent="0" algn="r" rtl="1">
              <a:buNone/>
            </a:pPr>
            <a:endParaRPr lang="en-US" dirty="0"/>
          </a:p>
        </p:txBody>
      </p:sp>
      <p:sp>
        <p:nvSpPr>
          <p:cNvPr id="3" name="Title 2">
            <a:extLst>
              <a:ext uri="{FF2B5EF4-FFF2-40B4-BE49-F238E27FC236}">
                <a16:creationId xmlns:a16="http://schemas.microsoft.com/office/drawing/2014/main" id="{554FE76F-9510-468A-A121-FEAD7FF433D7}"/>
              </a:ext>
            </a:extLst>
          </p:cNvPr>
          <p:cNvSpPr>
            <a:spLocks noGrp="1"/>
          </p:cNvSpPr>
          <p:nvPr>
            <p:ph type="title"/>
          </p:nvPr>
        </p:nvSpPr>
        <p:spPr/>
        <p:txBody>
          <a:bodyPr/>
          <a:lstStyle/>
          <a:p>
            <a:pPr algn="r" rtl="1"/>
            <a:r>
              <a:rPr lang="he-IL" dirty="0"/>
              <a:t>חיפושי מידע ברשת האינטרנט </a:t>
            </a:r>
            <a:endParaRPr lang="en-US" dirty="0"/>
          </a:p>
        </p:txBody>
      </p:sp>
      <p:pic>
        <p:nvPicPr>
          <p:cNvPr id="4" name="Picture 3">
            <a:extLst>
              <a:ext uri="{FF2B5EF4-FFF2-40B4-BE49-F238E27FC236}">
                <a16:creationId xmlns:a16="http://schemas.microsoft.com/office/drawing/2014/main" id="{C26FDBA1-79A8-4375-9C35-B2C0EEFFFD32}"/>
              </a:ext>
            </a:extLst>
          </p:cNvPr>
          <p:cNvPicPr>
            <a:picLocks noChangeAspect="1"/>
          </p:cNvPicPr>
          <p:nvPr/>
        </p:nvPicPr>
        <p:blipFill>
          <a:blip r:embed="rId2"/>
          <a:stretch>
            <a:fillRect/>
          </a:stretch>
        </p:blipFill>
        <p:spPr>
          <a:xfrm>
            <a:off x="838200" y="671868"/>
            <a:ext cx="1762125" cy="742950"/>
          </a:xfrm>
          <a:prstGeom prst="rect">
            <a:avLst/>
          </a:prstGeom>
        </p:spPr>
      </p:pic>
      <p:sp>
        <p:nvSpPr>
          <p:cNvPr id="6" name="TextBox 5">
            <a:extLst>
              <a:ext uri="{FF2B5EF4-FFF2-40B4-BE49-F238E27FC236}">
                <a16:creationId xmlns:a16="http://schemas.microsoft.com/office/drawing/2014/main" id="{2079AC77-795C-49C1-B87D-CBFD949D8CC9}"/>
              </a:ext>
            </a:extLst>
          </p:cNvPr>
          <p:cNvSpPr txBox="1"/>
          <p:nvPr/>
        </p:nvSpPr>
        <p:spPr>
          <a:xfrm>
            <a:off x="855662" y="1721561"/>
            <a:ext cx="2799983" cy="4413516"/>
          </a:xfrm>
          <a:prstGeom prst="rect">
            <a:avLst/>
          </a:prstGeom>
          <a:noFill/>
          <a:ln>
            <a:noFill/>
          </a:ln>
        </p:spPr>
        <p:txBody>
          <a:bodyPr wrap="square" rtlCol="0">
            <a:spAutoFit/>
          </a:bodyPr>
          <a:lstStyle/>
          <a:p>
            <a:pPr rtl="1">
              <a:lnSpc>
                <a:spcPct val="90000"/>
              </a:lnSpc>
              <a:spcBef>
                <a:spcPct val="30000"/>
              </a:spcBef>
              <a:buClr>
                <a:schemeClr val="accent2"/>
              </a:buClr>
            </a:pPr>
            <a:r>
              <a:rPr lang="en-US" sz="2400" b="1" dirty="0"/>
              <a:t>Global</a:t>
            </a:r>
          </a:p>
          <a:p>
            <a:pPr rtl="1">
              <a:lnSpc>
                <a:spcPct val="90000"/>
              </a:lnSpc>
              <a:spcBef>
                <a:spcPct val="30000"/>
              </a:spcBef>
              <a:buClr>
                <a:schemeClr val="accent2"/>
              </a:buClr>
            </a:pPr>
            <a:r>
              <a:rPr lang="en-US" sz="2400" dirty="0"/>
              <a:t>1. Google.com</a:t>
            </a:r>
          </a:p>
          <a:p>
            <a:pPr rtl="1">
              <a:lnSpc>
                <a:spcPct val="90000"/>
              </a:lnSpc>
              <a:spcBef>
                <a:spcPct val="30000"/>
              </a:spcBef>
              <a:buClr>
                <a:schemeClr val="accent2"/>
              </a:buClr>
            </a:pPr>
            <a:r>
              <a:rPr lang="en-US" sz="2400" dirty="0"/>
              <a:t>2. Youtube.com</a:t>
            </a:r>
          </a:p>
          <a:p>
            <a:pPr rtl="1">
              <a:lnSpc>
                <a:spcPct val="90000"/>
              </a:lnSpc>
              <a:spcBef>
                <a:spcPct val="30000"/>
              </a:spcBef>
              <a:buClr>
                <a:schemeClr val="accent2"/>
              </a:buClr>
            </a:pPr>
            <a:r>
              <a:rPr lang="en-US" sz="2400" dirty="0"/>
              <a:t>3. Facebook.com</a:t>
            </a:r>
          </a:p>
          <a:p>
            <a:pPr rtl="1">
              <a:lnSpc>
                <a:spcPct val="90000"/>
              </a:lnSpc>
              <a:spcBef>
                <a:spcPct val="30000"/>
              </a:spcBef>
              <a:buClr>
                <a:schemeClr val="accent2"/>
              </a:buClr>
            </a:pPr>
            <a:r>
              <a:rPr lang="en-US" sz="2400" dirty="0"/>
              <a:t>4. Baidu.com</a:t>
            </a:r>
          </a:p>
          <a:p>
            <a:pPr rtl="1">
              <a:lnSpc>
                <a:spcPct val="90000"/>
              </a:lnSpc>
              <a:spcBef>
                <a:spcPct val="30000"/>
              </a:spcBef>
              <a:buClr>
                <a:schemeClr val="accent2"/>
              </a:buClr>
            </a:pPr>
            <a:r>
              <a:rPr lang="en-US" sz="2400" dirty="0"/>
              <a:t>5. Wikipedia.org</a:t>
            </a:r>
          </a:p>
          <a:p>
            <a:pPr rtl="1">
              <a:lnSpc>
                <a:spcPct val="90000"/>
              </a:lnSpc>
              <a:spcBef>
                <a:spcPct val="30000"/>
              </a:spcBef>
              <a:buClr>
                <a:schemeClr val="accent2"/>
              </a:buClr>
            </a:pPr>
            <a:endParaRPr lang="en-US" sz="2400" dirty="0"/>
          </a:p>
          <a:p>
            <a:pPr rtl="1">
              <a:lnSpc>
                <a:spcPct val="90000"/>
              </a:lnSpc>
              <a:spcBef>
                <a:spcPct val="30000"/>
              </a:spcBef>
              <a:buClr>
                <a:schemeClr val="accent2"/>
              </a:buClr>
            </a:pPr>
            <a:r>
              <a:rPr lang="en-US" sz="2400" b="1" dirty="0"/>
              <a:t>Israel</a:t>
            </a:r>
          </a:p>
          <a:p>
            <a:pPr rtl="1">
              <a:lnSpc>
                <a:spcPct val="90000"/>
              </a:lnSpc>
              <a:spcBef>
                <a:spcPct val="30000"/>
              </a:spcBef>
              <a:buClr>
                <a:schemeClr val="accent2"/>
              </a:buClr>
            </a:pPr>
            <a:r>
              <a:rPr lang="en-US" sz="2400" dirty="0"/>
              <a:t>4. Wikipedia.org</a:t>
            </a:r>
          </a:p>
          <a:p>
            <a:pPr rtl="1">
              <a:lnSpc>
                <a:spcPct val="90000"/>
              </a:lnSpc>
              <a:spcBef>
                <a:spcPct val="30000"/>
              </a:spcBef>
              <a:buClr>
                <a:schemeClr val="accent2"/>
              </a:buClr>
            </a:pPr>
            <a:r>
              <a:rPr lang="en-US" sz="2400" dirty="0"/>
              <a:t>5. Ynet.co.il</a:t>
            </a:r>
          </a:p>
        </p:txBody>
      </p:sp>
    </p:spTree>
    <p:extLst>
      <p:ext uri="{BB962C8B-B14F-4D97-AF65-F5344CB8AC3E}">
        <p14:creationId xmlns:p14="http://schemas.microsoft.com/office/powerpoint/2010/main" val="3682203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026E76-2912-42BA-B55E-65C35F1FC1D5}"/>
              </a:ext>
            </a:extLst>
          </p:cNvPr>
          <p:cNvSpPr>
            <a:spLocks noGrp="1"/>
          </p:cNvSpPr>
          <p:nvPr>
            <p:ph idx="1"/>
          </p:nvPr>
        </p:nvSpPr>
        <p:spPr/>
        <p:txBody>
          <a:bodyPr/>
          <a:lstStyle/>
          <a:p>
            <a:pPr algn="r" rtl="1"/>
            <a:r>
              <a:rPr lang="he-IL" dirty="0"/>
              <a:t>חיפוש  ביטוי</a:t>
            </a:r>
          </a:p>
          <a:p>
            <a:pPr lvl="1" algn="r" rtl="1"/>
            <a:r>
              <a:rPr lang="he-IL" dirty="0"/>
              <a:t>באמצעות גרשיים</a:t>
            </a:r>
          </a:p>
        </p:txBody>
      </p:sp>
      <p:sp>
        <p:nvSpPr>
          <p:cNvPr id="3" name="Title 2">
            <a:extLst>
              <a:ext uri="{FF2B5EF4-FFF2-40B4-BE49-F238E27FC236}">
                <a16:creationId xmlns:a16="http://schemas.microsoft.com/office/drawing/2014/main" id="{6BBE1B16-3E49-4E6D-9605-213127FF540D}"/>
              </a:ext>
            </a:extLst>
          </p:cNvPr>
          <p:cNvSpPr>
            <a:spLocks noGrp="1"/>
          </p:cNvSpPr>
          <p:nvPr>
            <p:ph type="title"/>
          </p:nvPr>
        </p:nvSpPr>
        <p:spPr/>
        <p:txBody>
          <a:bodyPr/>
          <a:lstStyle/>
          <a:p>
            <a:pPr algn="r" rtl="1"/>
            <a:r>
              <a:rPr lang="he-IL" dirty="0"/>
              <a:t>חיפוש מידע טקסטואלי באמצעות </a:t>
            </a:r>
            <a:r>
              <a:rPr lang="en-US" dirty="0"/>
              <a:t>Google</a:t>
            </a:r>
          </a:p>
        </p:txBody>
      </p:sp>
      <p:pic>
        <p:nvPicPr>
          <p:cNvPr id="4" name="Picture 3">
            <a:extLst>
              <a:ext uri="{FF2B5EF4-FFF2-40B4-BE49-F238E27FC236}">
                <a16:creationId xmlns:a16="http://schemas.microsoft.com/office/drawing/2014/main" id="{D5FDD6C7-158A-47DE-8CEA-7D90FF9C1AFC}"/>
              </a:ext>
            </a:extLst>
          </p:cNvPr>
          <p:cNvPicPr>
            <a:picLocks noChangeAspect="1"/>
          </p:cNvPicPr>
          <p:nvPr/>
        </p:nvPicPr>
        <p:blipFill>
          <a:blip r:embed="rId2"/>
          <a:stretch>
            <a:fillRect/>
          </a:stretch>
        </p:blipFill>
        <p:spPr>
          <a:xfrm>
            <a:off x="4530759" y="2826594"/>
            <a:ext cx="6029325" cy="1438275"/>
          </a:xfrm>
          <a:prstGeom prst="rect">
            <a:avLst/>
          </a:prstGeom>
        </p:spPr>
      </p:pic>
      <p:pic>
        <p:nvPicPr>
          <p:cNvPr id="5" name="Picture 4">
            <a:extLst>
              <a:ext uri="{FF2B5EF4-FFF2-40B4-BE49-F238E27FC236}">
                <a16:creationId xmlns:a16="http://schemas.microsoft.com/office/drawing/2014/main" id="{F4809E54-3FB5-433F-8214-7812EB134B81}"/>
              </a:ext>
            </a:extLst>
          </p:cNvPr>
          <p:cNvPicPr>
            <a:picLocks noChangeAspect="1"/>
          </p:cNvPicPr>
          <p:nvPr/>
        </p:nvPicPr>
        <p:blipFill>
          <a:blip r:embed="rId3"/>
          <a:stretch>
            <a:fillRect/>
          </a:stretch>
        </p:blipFill>
        <p:spPr>
          <a:xfrm>
            <a:off x="4530759" y="4399806"/>
            <a:ext cx="6124575" cy="1381125"/>
          </a:xfrm>
          <a:prstGeom prst="rect">
            <a:avLst/>
          </a:prstGeom>
        </p:spPr>
      </p:pic>
    </p:spTree>
    <p:extLst>
      <p:ext uri="{BB962C8B-B14F-4D97-AF65-F5344CB8AC3E}">
        <p14:creationId xmlns:p14="http://schemas.microsoft.com/office/powerpoint/2010/main" val="412128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6EE802-6F65-44EE-9091-C3D2D650FE79}"/>
              </a:ext>
            </a:extLst>
          </p:cNvPr>
          <p:cNvSpPr>
            <a:spLocks noGrp="1"/>
          </p:cNvSpPr>
          <p:nvPr>
            <p:ph idx="1"/>
          </p:nvPr>
        </p:nvSpPr>
        <p:spPr>
          <a:xfrm>
            <a:off x="1031147" y="980362"/>
            <a:ext cx="10515600" cy="5747609"/>
          </a:xfrm>
        </p:spPr>
        <p:txBody>
          <a:bodyPr/>
          <a:lstStyle/>
          <a:p>
            <a:pPr algn="r" rtl="1"/>
            <a:endParaRPr lang="he-IL" dirty="0"/>
          </a:p>
          <a:p>
            <a:pPr algn="r" rtl="1"/>
            <a:endParaRPr lang="he-IL" dirty="0"/>
          </a:p>
          <a:p>
            <a:pPr algn="r" rtl="1"/>
            <a:endParaRPr lang="he-IL" dirty="0"/>
          </a:p>
          <a:p>
            <a:pPr algn="r" rtl="1"/>
            <a:endParaRPr lang="he-IL" dirty="0"/>
          </a:p>
          <a:p>
            <a:pPr algn="r" rtl="1"/>
            <a:endParaRPr lang="he-IL" dirty="0"/>
          </a:p>
          <a:p>
            <a:pPr algn="r" rtl="1"/>
            <a:endParaRPr lang="he-IL" dirty="0"/>
          </a:p>
          <a:p>
            <a:pPr algn="r" rtl="1"/>
            <a:r>
              <a:rPr lang="he-IL" dirty="0"/>
              <a:t>שימוש ב </a:t>
            </a:r>
            <a:r>
              <a:rPr lang="en-US" dirty="0"/>
              <a:t>OR</a:t>
            </a:r>
            <a:endParaRPr lang="he-IL" dirty="0"/>
          </a:p>
          <a:p>
            <a:pPr algn="r" rtl="1"/>
            <a:endParaRPr lang="he-IL" dirty="0"/>
          </a:p>
          <a:p>
            <a:pPr algn="r" rtl="1"/>
            <a:endParaRPr lang="he-IL" dirty="0"/>
          </a:p>
          <a:p>
            <a:pPr algn="r" rtl="1"/>
            <a:r>
              <a:rPr lang="he-IL" dirty="0"/>
              <a:t>שימוש ב </a:t>
            </a:r>
            <a:r>
              <a:rPr lang="en-US" dirty="0"/>
              <a:t>NOT</a:t>
            </a:r>
          </a:p>
        </p:txBody>
      </p:sp>
      <p:sp>
        <p:nvSpPr>
          <p:cNvPr id="3" name="Title 2">
            <a:extLst>
              <a:ext uri="{FF2B5EF4-FFF2-40B4-BE49-F238E27FC236}">
                <a16:creationId xmlns:a16="http://schemas.microsoft.com/office/drawing/2014/main" id="{D8C61B51-3FB1-4C4E-BAA3-79678E7EA4CB}"/>
              </a:ext>
            </a:extLst>
          </p:cNvPr>
          <p:cNvSpPr>
            <a:spLocks noGrp="1"/>
          </p:cNvSpPr>
          <p:nvPr>
            <p:ph type="title"/>
          </p:nvPr>
        </p:nvSpPr>
        <p:spPr>
          <a:xfrm>
            <a:off x="896923" y="0"/>
            <a:ext cx="10515600" cy="906011"/>
          </a:xfrm>
        </p:spPr>
        <p:txBody>
          <a:bodyPr/>
          <a:lstStyle/>
          <a:p>
            <a:pPr algn="r" rtl="1"/>
            <a:r>
              <a:rPr lang="he-IL" dirty="0"/>
              <a:t>המשך </a:t>
            </a:r>
            <a:r>
              <a:rPr lang="en-US" dirty="0"/>
              <a:t>Google</a:t>
            </a:r>
          </a:p>
        </p:txBody>
      </p:sp>
      <p:pic>
        <p:nvPicPr>
          <p:cNvPr id="6" name="Picture 5">
            <a:extLst>
              <a:ext uri="{FF2B5EF4-FFF2-40B4-BE49-F238E27FC236}">
                <a16:creationId xmlns:a16="http://schemas.microsoft.com/office/drawing/2014/main" id="{2D5EAE64-E8BC-4177-9F13-932D2FBD50BB}"/>
              </a:ext>
            </a:extLst>
          </p:cNvPr>
          <p:cNvPicPr>
            <a:picLocks noChangeAspect="1"/>
          </p:cNvPicPr>
          <p:nvPr/>
        </p:nvPicPr>
        <p:blipFill>
          <a:blip r:embed="rId2"/>
          <a:stretch>
            <a:fillRect/>
          </a:stretch>
        </p:blipFill>
        <p:spPr>
          <a:xfrm>
            <a:off x="1217190" y="3673399"/>
            <a:ext cx="5934075" cy="1447800"/>
          </a:xfrm>
          <a:prstGeom prst="rect">
            <a:avLst/>
          </a:prstGeom>
        </p:spPr>
      </p:pic>
      <p:pic>
        <p:nvPicPr>
          <p:cNvPr id="7" name="Picture 6">
            <a:extLst>
              <a:ext uri="{FF2B5EF4-FFF2-40B4-BE49-F238E27FC236}">
                <a16:creationId xmlns:a16="http://schemas.microsoft.com/office/drawing/2014/main" id="{C78595F7-44A6-42EC-8B59-9053D5D46789}"/>
              </a:ext>
            </a:extLst>
          </p:cNvPr>
          <p:cNvPicPr>
            <a:picLocks noChangeAspect="1"/>
          </p:cNvPicPr>
          <p:nvPr/>
        </p:nvPicPr>
        <p:blipFill>
          <a:blip r:embed="rId3"/>
          <a:stretch>
            <a:fillRect/>
          </a:stretch>
        </p:blipFill>
        <p:spPr>
          <a:xfrm>
            <a:off x="1169565" y="850643"/>
            <a:ext cx="6048375" cy="1390650"/>
          </a:xfrm>
          <a:prstGeom prst="rect">
            <a:avLst/>
          </a:prstGeom>
        </p:spPr>
      </p:pic>
      <p:pic>
        <p:nvPicPr>
          <p:cNvPr id="8" name="Picture 7">
            <a:extLst>
              <a:ext uri="{FF2B5EF4-FFF2-40B4-BE49-F238E27FC236}">
                <a16:creationId xmlns:a16="http://schemas.microsoft.com/office/drawing/2014/main" id="{A346510D-5CEF-4762-8341-78DF14FF96D0}"/>
              </a:ext>
            </a:extLst>
          </p:cNvPr>
          <p:cNvPicPr>
            <a:picLocks noChangeAspect="1"/>
          </p:cNvPicPr>
          <p:nvPr/>
        </p:nvPicPr>
        <p:blipFill>
          <a:blip r:embed="rId4"/>
          <a:stretch>
            <a:fillRect/>
          </a:stretch>
        </p:blipFill>
        <p:spPr>
          <a:xfrm>
            <a:off x="1155277" y="2238078"/>
            <a:ext cx="6076950" cy="1276350"/>
          </a:xfrm>
          <a:prstGeom prst="rect">
            <a:avLst/>
          </a:prstGeom>
        </p:spPr>
      </p:pic>
      <p:pic>
        <p:nvPicPr>
          <p:cNvPr id="9" name="Picture 8">
            <a:extLst>
              <a:ext uri="{FF2B5EF4-FFF2-40B4-BE49-F238E27FC236}">
                <a16:creationId xmlns:a16="http://schemas.microsoft.com/office/drawing/2014/main" id="{6DF61AB4-56AF-45A9-83BB-F0E46A36F667}"/>
              </a:ext>
            </a:extLst>
          </p:cNvPr>
          <p:cNvPicPr>
            <a:picLocks noChangeAspect="1"/>
          </p:cNvPicPr>
          <p:nvPr/>
        </p:nvPicPr>
        <p:blipFill>
          <a:blip r:embed="rId5"/>
          <a:stretch>
            <a:fillRect/>
          </a:stretch>
        </p:blipFill>
        <p:spPr>
          <a:xfrm>
            <a:off x="1169565" y="5435786"/>
            <a:ext cx="5981700" cy="1314450"/>
          </a:xfrm>
          <a:prstGeom prst="rect">
            <a:avLst/>
          </a:prstGeom>
        </p:spPr>
      </p:pic>
    </p:spTree>
    <p:extLst>
      <p:ext uri="{BB962C8B-B14F-4D97-AF65-F5344CB8AC3E}">
        <p14:creationId xmlns:p14="http://schemas.microsoft.com/office/powerpoint/2010/main" val="3973104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F71B04-02E3-4D9B-A963-21FA9892F3EC}"/>
              </a:ext>
            </a:extLst>
          </p:cNvPr>
          <p:cNvSpPr>
            <a:spLocks noGrp="1"/>
          </p:cNvSpPr>
          <p:nvPr>
            <p:ph idx="1"/>
          </p:nvPr>
        </p:nvSpPr>
        <p:spPr>
          <a:xfrm>
            <a:off x="838200" y="176169"/>
            <a:ext cx="10515600" cy="6637660"/>
          </a:xfrm>
        </p:spPr>
        <p:txBody>
          <a:bodyPr/>
          <a:lstStyle/>
          <a:p>
            <a:pPr algn="r" rtl="1"/>
            <a:r>
              <a:rPr lang="he-IL" dirty="0"/>
              <a:t>טווחי מספרים</a:t>
            </a:r>
          </a:p>
          <a:p>
            <a:pPr algn="r" rtl="1"/>
            <a:endParaRPr lang="he-IL" dirty="0"/>
          </a:p>
          <a:p>
            <a:pPr algn="r" rtl="1"/>
            <a:endParaRPr lang="he-IL" dirty="0"/>
          </a:p>
          <a:p>
            <a:pPr algn="r" rtl="1"/>
            <a:endParaRPr lang="he-IL" dirty="0"/>
          </a:p>
          <a:p>
            <a:pPr algn="r" rtl="1"/>
            <a:r>
              <a:rPr lang="he-IL" dirty="0"/>
              <a:t>חיפוש בתוך אתר</a:t>
            </a:r>
          </a:p>
          <a:p>
            <a:pPr algn="r" rtl="1"/>
            <a:endParaRPr lang="he-IL" dirty="0"/>
          </a:p>
          <a:p>
            <a:pPr algn="r" rtl="1"/>
            <a:endParaRPr lang="he-IL" dirty="0"/>
          </a:p>
          <a:p>
            <a:pPr algn="r" rtl="1"/>
            <a:endParaRPr lang="he-IL" dirty="0"/>
          </a:p>
          <a:p>
            <a:pPr algn="r" rtl="1"/>
            <a:endParaRPr lang="he-IL" dirty="0"/>
          </a:p>
          <a:p>
            <a:pPr algn="r" rtl="1"/>
            <a:r>
              <a:rPr lang="he-IL" dirty="0"/>
              <a:t>חיפוש לפי סוג קובץ</a:t>
            </a:r>
            <a:endParaRPr lang="en-US" dirty="0"/>
          </a:p>
        </p:txBody>
      </p:sp>
      <p:pic>
        <p:nvPicPr>
          <p:cNvPr id="5" name="Picture 4">
            <a:extLst>
              <a:ext uri="{FF2B5EF4-FFF2-40B4-BE49-F238E27FC236}">
                <a16:creationId xmlns:a16="http://schemas.microsoft.com/office/drawing/2014/main" id="{38831FBD-1C3A-4CDB-896E-F84EA12596A2}"/>
              </a:ext>
            </a:extLst>
          </p:cNvPr>
          <p:cNvPicPr>
            <a:picLocks noChangeAspect="1"/>
          </p:cNvPicPr>
          <p:nvPr/>
        </p:nvPicPr>
        <p:blipFill>
          <a:blip r:embed="rId2"/>
          <a:stretch>
            <a:fillRect/>
          </a:stretch>
        </p:blipFill>
        <p:spPr>
          <a:xfrm>
            <a:off x="1090569" y="41620"/>
            <a:ext cx="1219200" cy="447675"/>
          </a:xfrm>
          <a:prstGeom prst="rect">
            <a:avLst/>
          </a:prstGeom>
        </p:spPr>
      </p:pic>
      <p:pic>
        <p:nvPicPr>
          <p:cNvPr id="6" name="Picture 5">
            <a:extLst>
              <a:ext uri="{FF2B5EF4-FFF2-40B4-BE49-F238E27FC236}">
                <a16:creationId xmlns:a16="http://schemas.microsoft.com/office/drawing/2014/main" id="{6BD91F69-1BFC-4007-A4AA-30CD6156CA73}"/>
              </a:ext>
            </a:extLst>
          </p:cNvPr>
          <p:cNvPicPr>
            <a:picLocks noChangeAspect="1"/>
          </p:cNvPicPr>
          <p:nvPr/>
        </p:nvPicPr>
        <p:blipFill>
          <a:blip r:embed="rId3"/>
          <a:stretch>
            <a:fillRect/>
          </a:stretch>
        </p:blipFill>
        <p:spPr>
          <a:xfrm>
            <a:off x="1090569" y="404117"/>
            <a:ext cx="4471332" cy="1845312"/>
          </a:xfrm>
          <a:prstGeom prst="rect">
            <a:avLst/>
          </a:prstGeom>
        </p:spPr>
      </p:pic>
      <p:pic>
        <p:nvPicPr>
          <p:cNvPr id="7" name="Picture 6">
            <a:extLst>
              <a:ext uri="{FF2B5EF4-FFF2-40B4-BE49-F238E27FC236}">
                <a16:creationId xmlns:a16="http://schemas.microsoft.com/office/drawing/2014/main" id="{D055A996-29A0-4E92-A428-75793C0020DB}"/>
              </a:ext>
            </a:extLst>
          </p:cNvPr>
          <p:cNvPicPr>
            <a:picLocks noChangeAspect="1"/>
          </p:cNvPicPr>
          <p:nvPr/>
        </p:nvPicPr>
        <p:blipFill>
          <a:blip r:embed="rId4"/>
          <a:stretch>
            <a:fillRect/>
          </a:stretch>
        </p:blipFill>
        <p:spPr>
          <a:xfrm>
            <a:off x="948044" y="2298162"/>
            <a:ext cx="1276350" cy="371475"/>
          </a:xfrm>
          <a:prstGeom prst="rect">
            <a:avLst/>
          </a:prstGeom>
        </p:spPr>
      </p:pic>
      <p:pic>
        <p:nvPicPr>
          <p:cNvPr id="8" name="Picture 7">
            <a:extLst>
              <a:ext uri="{FF2B5EF4-FFF2-40B4-BE49-F238E27FC236}">
                <a16:creationId xmlns:a16="http://schemas.microsoft.com/office/drawing/2014/main" id="{40962916-D18F-4550-B08B-7AF6C039B778}"/>
              </a:ext>
            </a:extLst>
          </p:cNvPr>
          <p:cNvPicPr>
            <a:picLocks noChangeAspect="1"/>
          </p:cNvPicPr>
          <p:nvPr/>
        </p:nvPicPr>
        <p:blipFill>
          <a:blip r:embed="rId5"/>
          <a:stretch>
            <a:fillRect/>
          </a:stretch>
        </p:blipFill>
        <p:spPr>
          <a:xfrm>
            <a:off x="1090569" y="2585548"/>
            <a:ext cx="4634382" cy="1914850"/>
          </a:xfrm>
          <a:prstGeom prst="rect">
            <a:avLst/>
          </a:prstGeom>
        </p:spPr>
      </p:pic>
      <p:pic>
        <p:nvPicPr>
          <p:cNvPr id="9" name="Picture 8">
            <a:extLst>
              <a:ext uri="{FF2B5EF4-FFF2-40B4-BE49-F238E27FC236}">
                <a16:creationId xmlns:a16="http://schemas.microsoft.com/office/drawing/2014/main" id="{18BE2594-6015-498E-8743-209E815F6A12}"/>
              </a:ext>
            </a:extLst>
          </p:cNvPr>
          <p:cNvPicPr>
            <a:picLocks noChangeAspect="1"/>
          </p:cNvPicPr>
          <p:nvPr/>
        </p:nvPicPr>
        <p:blipFill>
          <a:blip r:embed="rId6"/>
          <a:stretch>
            <a:fillRect/>
          </a:stretch>
        </p:blipFill>
        <p:spPr>
          <a:xfrm>
            <a:off x="1090569" y="4613913"/>
            <a:ext cx="1924050" cy="314325"/>
          </a:xfrm>
          <a:prstGeom prst="rect">
            <a:avLst/>
          </a:prstGeom>
        </p:spPr>
      </p:pic>
      <p:pic>
        <p:nvPicPr>
          <p:cNvPr id="10" name="Picture 9">
            <a:extLst>
              <a:ext uri="{FF2B5EF4-FFF2-40B4-BE49-F238E27FC236}">
                <a16:creationId xmlns:a16="http://schemas.microsoft.com/office/drawing/2014/main" id="{61238FAE-1AF9-4C27-BF7C-BCE724FF31B0}"/>
              </a:ext>
            </a:extLst>
          </p:cNvPr>
          <p:cNvPicPr>
            <a:picLocks noChangeAspect="1"/>
          </p:cNvPicPr>
          <p:nvPr/>
        </p:nvPicPr>
        <p:blipFill>
          <a:blip r:embed="rId7"/>
          <a:stretch>
            <a:fillRect/>
          </a:stretch>
        </p:blipFill>
        <p:spPr>
          <a:xfrm>
            <a:off x="1043463" y="4928238"/>
            <a:ext cx="4728594" cy="1885591"/>
          </a:xfrm>
          <a:prstGeom prst="rect">
            <a:avLst/>
          </a:prstGeom>
        </p:spPr>
      </p:pic>
    </p:spTree>
    <p:extLst>
      <p:ext uri="{BB962C8B-B14F-4D97-AF65-F5344CB8AC3E}">
        <p14:creationId xmlns:p14="http://schemas.microsoft.com/office/powerpoint/2010/main" val="2645945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9C5747-3104-4E3F-89E4-C92E640000B4}"/>
              </a:ext>
            </a:extLst>
          </p:cNvPr>
          <p:cNvSpPr>
            <a:spLocks noGrp="1"/>
          </p:cNvSpPr>
          <p:nvPr>
            <p:ph idx="1"/>
          </p:nvPr>
        </p:nvSpPr>
        <p:spPr>
          <a:xfrm>
            <a:off x="838200" y="268448"/>
            <a:ext cx="10515600" cy="5908515"/>
          </a:xfrm>
        </p:spPr>
        <p:txBody>
          <a:bodyPr/>
          <a:lstStyle/>
          <a:p>
            <a:pPr algn="r" rtl="1"/>
            <a:r>
              <a:rPr lang="he-IL" dirty="0"/>
              <a:t>לפי זמן</a:t>
            </a:r>
          </a:p>
          <a:p>
            <a:pPr algn="r" rtl="1"/>
            <a:endParaRPr lang="he-IL" dirty="0"/>
          </a:p>
          <a:p>
            <a:pPr algn="r" rtl="1"/>
            <a:endParaRPr lang="he-IL" dirty="0"/>
          </a:p>
          <a:p>
            <a:pPr algn="r" rtl="1"/>
            <a:endParaRPr lang="he-IL" dirty="0"/>
          </a:p>
          <a:p>
            <a:pPr algn="r" rtl="1"/>
            <a:endParaRPr lang="he-IL" dirty="0"/>
          </a:p>
          <a:p>
            <a:pPr algn="r" rtl="1"/>
            <a:endParaRPr lang="he-IL" dirty="0"/>
          </a:p>
          <a:p>
            <a:pPr algn="r" rtl="1"/>
            <a:endParaRPr lang="he-IL" dirty="0"/>
          </a:p>
          <a:p>
            <a:pPr algn="r" rtl="1"/>
            <a:endParaRPr lang="he-IL" dirty="0"/>
          </a:p>
          <a:p>
            <a:pPr algn="r" rtl="1"/>
            <a:r>
              <a:rPr lang="he-IL" dirty="0"/>
              <a:t>ללא מגבלת זמן</a:t>
            </a:r>
            <a:endParaRPr lang="en-US" dirty="0"/>
          </a:p>
        </p:txBody>
      </p:sp>
      <p:pic>
        <p:nvPicPr>
          <p:cNvPr id="4" name="Picture 3">
            <a:extLst>
              <a:ext uri="{FF2B5EF4-FFF2-40B4-BE49-F238E27FC236}">
                <a16:creationId xmlns:a16="http://schemas.microsoft.com/office/drawing/2014/main" id="{7D086406-4725-4518-B32D-250DDB5B3E8F}"/>
              </a:ext>
            </a:extLst>
          </p:cNvPr>
          <p:cNvPicPr>
            <a:picLocks noChangeAspect="1"/>
          </p:cNvPicPr>
          <p:nvPr/>
        </p:nvPicPr>
        <p:blipFill>
          <a:blip r:embed="rId2"/>
          <a:stretch>
            <a:fillRect/>
          </a:stretch>
        </p:blipFill>
        <p:spPr>
          <a:xfrm>
            <a:off x="964734" y="231341"/>
            <a:ext cx="4988260" cy="2991364"/>
          </a:xfrm>
          <a:prstGeom prst="rect">
            <a:avLst/>
          </a:prstGeom>
        </p:spPr>
      </p:pic>
      <p:pic>
        <p:nvPicPr>
          <p:cNvPr id="7" name="Picture 6">
            <a:extLst>
              <a:ext uri="{FF2B5EF4-FFF2-40B4-BE49-F238E27FC236}">
                <a16:creationId xmlns:a16="http://schemas.microsoft.com/office/drawing/2014/main" id="{CBE552A4-F1D0-4482-B312-B7590A17D1D7}"/>
              </a:ext>
            </a:extLst>
          </p:cNvPr>
          <p:cNvPicPr>
            <a:picLocks noChangeAspect="1"/>
          </p:cNvPicPr>
          <p:nvPr/>
        </p:nvPicPr>
        <p:blipFill>
          <a:blip r:embed="rId3"/>
          <a:stretch>
            <a:fillRect/>
          </a:stretch>
        </p:blipFill>
        <p:spPr>
          <a:xfrm>
            <a:off x="964734" y="3444381"/>
            <a:ext cx="5003027" cy="3194888"/>
          </a:xfrm>
          <a:prstGeom prst="rect">
            <a:avLst/>
          </a:prstGeom>
        </p:spPr>
      </p:pic>
      <p:pic>
        <p:nvPicPr>
          <p:cNvPr id="8" name="Picture 7">
            <a:extLst>
              <a:ext uri="{FF2B5EF4-FFF2-40B4-BE49-F238E27FC236}">
                <a16:creationId xmlns:a16="http://schemas.microsoft.com/office/drawing/2014/main" id="{33D07008-57E1-4DD2-BD10-29E798B755B0}"/>
              </a:ext>
            </a:extLst>
          </p:cNvPr>
          <p:cNvPicPr>
            <a:picLocks noChangeAspect="1"/>
          </p:cNvPicPr>
          <p:nvPr/>
        </p:nvPicPr>
        <p:blipFill>
          <a:blip r:embed="rId4"/>
          <a:stretch>
            <a:fillRect/>
          </a:stretch>
        </p:blipFill>
        <p:spPr>
          <a:xfrm>
            <a:off x="6889435" y="708977"/>
            <a:ext cx="5112391" cy="662717"/>
          </a:xfrm>
          <a:prstGeom prst="rect">
            <a:avLst/>
          </a:prstGeom>
        </p:spPr>
      </p:pic>
      <p:pic>
        <p:nvPicPr>
          <p:cNvPr id="9" name="Picture 8">
            <a:extLst>
              <a:ext uri="{FF2B5EF4-FFF2-40B4-BE49-F238E27FC236}">
                <a16:creationId xmlns:a16="http://schemas.microsoft.com/office/drawing/2014/main" id="{02BC398D-9408-417A-ADD3-7A5E5834D148}"/>
              </a:ext>
            </a:extLst>
          </p:cNvPr>
          <p:cNvPicPr>
            <a:picLocks noChangeAspect="1"/>
          </p:cNvPicPr>
          <p:nvPr/>
        </p:nvPicPr>
        <p:blipFill>
          <a:blip r:embed="rId5"/>
          <a:stretch>
            <a:fillRect/>
          </a:stretch>
        </p:blipFill>
        <p:spPr>
          <a:xfrm>
            <a:off x="7954904" y="1812222"/>
            <a:ext cx="2475655" cy="2235799"/>
          </a:xfrm>
          <a:prstGeom prst="rect">
            <a:avLst/>
          </a:prstGeom>
        </p:spPr>
      </p:pic>
    </p:spTree>
    <p:extLst>
      <p:ext uri="{BB962C8B-B14F-4D97-AF65-F5344CB8AC3E}">
        <p14:creationId xmlns:p14="http://schemas.microsoft.com/office/powerpoint/2010/main" val="1476090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3CF3AC-7C85-4556-B0E6-383E19A29755}"/>
              </a:ext>
            </a:extLst>
          </p:cNvPr>
          <p:cNvPicPr>
            <a:picLocks noGrp="1" noChangeAspect="1"/>
          </p:cNvPicPr>
          <p:nvPr>
            <p:ph idx="1"/>
          </p:nvPr>
        </p:nvPicPr>
        <p:blipFill>
          <a:blip r:embed="rId2"/>
          <a:stretch>
            <a:fillRect/>
          </a:stretch>
        </p:blipFill>
        <p:spPr>
          <a:xfrm>
            <a:off x="1510018" y="1502426"/>
            <a:ext cx="6828639" cy="5248783"/>
          </a:xfrm>
          <a:prstGeom prst="rect">
            <a:avLst/>
          </a:prstGeom>
        </p:spPr>
      </p:pic>
      <p:sp>
        <p:nvSpPr>
          <p:cNvPr id="3" name="Title 2">
            <a:extLst>
              <a:ext uri="{FF2B5EF4-FFF2-40B4-BE49-F238E27FC236}">
                <a16:creationId xmlns:a16="http://schemas.microsoft.com/office/drawing/2014/main" id="{D01C2257-83CA-4726-89BD-64B909C3265E}"/>
              </a:ext>
            </a:extLst>
          </p:cNvPr>
          <p:cNvSpPr>
            <a:spLocks noGrp="1"/>
          </p:cNvSpPr>
          <p:nvPr>
            <p:ph type="title"/>
          </p:nvPr>
        </p:nvSpPr>
        <p:spPr>
          <a:xfrm>
            <a:off x="866163" y="205735"/>
            <a:ext cx="10515600" cy="990282"/>
          </a:xfrm>
        </p:spPr>
        <p:txBody>
          <a:bodyPr>
            <a:normAutofit/>
          </a:bodyPr>
          <a:lstStyle/>
          <a:p>
            <a:pPr algn="r" rtl="1"/>
            <a:r>
              <a:rPr lang="he-IL" dirty="0"/>
              <a:t>חיפוש מתקדם</a:t>
            </a:r>
            <a:endParaRPr lang="en-US" dirty="0"/>
          </a:p>
        </p:txBody>
      </p:sp>
      <p:pic>
        <p:nvPicPr>
          <p:cNvPr id="7" name="Picture 6">
            <a:extLst>
              <a:ext uri="{FF2B5EF4-FFF2-40B4-BE49-F238E27FC236}">
                <a16:creationId xmlns:a16="http://schemas.microsoft.com/office/drawing/2014/main" id="{986203EC-4EB9-4456-952E-392B850EC33B}"/>
              </a:ext>
            </a:extLst>
          </p:cNvPr>
          <p:cNvPicPr>
            <a:picLocks noChangeAspect="1"/>
          </p:cNvPicPr>
          <p:nvPr/>
        </p:nvPicPr>
        <p:blipFill>
          <a:blip r:embed="rId3"/>
          <a:stretch>
            <a:fillRect/>
          </a:stretch>
        </p:blipFill>
        <p:spPr>
          <a:xfrm>
            <a:off x="1043250" y="50669"/>
            <a:ext cx="6162675" cy="1114425"/>
          </a:xfrm>
          <a:prstGeom prst="rect">
            <a:avLst/>
          </a:prstGeom>
        </p:spPr>
      </p:pic>
      <p:sp>
        <p:nvSpPr>
          <p:cNvPr id="8" name="Oval 7">
            <a:extLst>
              <a:ext uri="{FF2B5EF4-FFF2-40B4-BE49-F238E27FC236}">
                <a16:creationId xmlns:a16="http://schemas.microsoft.com/office/drawing/2014/main" id="{366747B5-9AE8-4EC6-BBF2-29EB8DACB785}"/>
              </a:ext>
            </a:extLst>
          </p:cNvPr>
          <p:cNvSpPr/>
          <p:nvPr/>
        </p:nvSpPr>
        <p:spPr>
          <a:xfrm>
            <a:off x="5771626" y="700876"/>
            <a:ext cx="813732" cy="381304"/>
          </a:xfrm>
          <a:prstGeom prst="ellipse">
            <a:avLst/>
          </a:prstGeom>
          <a:solidFill>
            <a:srgbClr val="FF0000">
              <a:alpha val="16000"/>
            </a:srgbClr>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03642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A7FEDBB-6BFB-4BE4-8C75-948B5118E74F}"/>
              </a:ext>
            </a:extLst>
          </p:cNvPr>
          <p:cNvPicPr>
            <a:picLocks noGrp="1" noChangeAspect="1"/>
          </p:cNvPicPr>
          <p:nvPr>
            <p:ph idx="1"/>
          </p:nvPr>
        </p:nvPicPr>
        <p:blipFill>
          <a:blip r:embed="rId2"/>
          <a:stretch>
            <a:fillRect/>
          </a:stretch>
        </p:blipFill>
        <p:spPr>
          <a:xfrm>
            <a:off x="2473162" y="1077377"/>
            <a:ext cx="7098854" cy="5780623"/>
          </a:xfrm>
          <a:prstGeom prst="rect">
            <a:avLst/>
          </a:prstGeom>
        </p:spPr>
      </p:pic>
      <p:sp>
        <p:nvSpPr>
          <p:cNvPr id="3" name="Title 2">
            <a:extLst>
              <a:ext uri="{FF2B5EF4-FFF2-40B4-BE49-F238E27FC236}">
                <a16:creationId xmlns:a16="http://schemas.microsoft.com/office/drawing/2014/main" id="{8E59BC24-09F5-4329-864B-0CBA2EB395D7}"/>
              </a:ext>
            </a:extLst>
          </p:cNvPr>
          <p:cNvSpPr>
            <a:spLocks noGrp="1"/>
          </p:cNvSpPr>
          <p:nvPr>
            <p:ph type="title"/>
          </p:nvPr>
        </p:nvSpPr>
        <p:spPr>
          <a:xfrm>
            <a:off x="838200" y="102479"/>
            <a:ext cx="10515600" cy="714645"/>
          </a:xfrm>
        </p:spPr>
        <p:txBody>
          <a:bodyPr>
            <a:normAutofit fontScale="90000"/>
          </a:bodyPr>
          <a:lstStyle/>
          <a:p>
            <a:pPr algn="r" rtl="1"/>
            <a:r>
              <a:rPr lang="he-IL" dirty="0"/>
              <a:t>תוצאות ממומנות לעומת תוצאות אורגניות</a:t>
            </a:r>
            <a:endParaRPr lang="en-US" dirty="0"/>
          </a:p>
        </p:txBody>
      </p:sp>
    </p:spTree>
    <p:extLst>
      <p:ext uri="{BB962C8B-B14F-4D97-AF65-F5344CB8AC3E}">
        <p14:creationId xmlns:p14="http://schemas.microsoft.com/office/powerpoint/2010/main" val="2275221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0ED4F9-A324-4C77-ACAC-2FDBFA2DF8F1}"/>
              </a:ext>
            </a:extLst>
          </p:cNvPr>
          <p:cNvSpPr>
            <a:spLocks noGrp="1"/>
          </p:cNvSpPr>
          <p:nvPr>
            <p:ph idx="1"/>
          </p:nvPr>
        </p:nvSpPr>
        <p:spPr>
          <a:xfrm>
            <a:off x="7256834" y="1624179"/>
            <a:ext cx="4096966" cy="3346315"/>
          </a:xfrm>
        </p:spPr>
        <p:txBody>
          <a:bodyPr/>
          <a:lstStyle/>
          <a:p>
            <a:pPr algn="r" rtl="1"/>
            <a:r>
              <a:rPr lang="he-IL" dirty="0"/>
              <a:t>עברית "קשה שפה", בוודאי ביחס לאנגלית</a:t>
            </a:r>
          </a:p>
          <a:p>
            <a:pPr lvl="1" algn="r" rtl="1"/>
            <a:r>
              <a:rPr lang="he-IL" dirty="0"/>
              <a:t>כיווניות</a:t>
            </a:r>
          </a:p>
          <a:p>
            <a:pPr lvl="1" algn="r" rtl="1"/>
            <a:r>
              <a:rPr lang="he-IL" dirty="0"/>
              <a:t>חסר ניקוד</a:t>
            </a:r>
          </a:p>
          <a:p>
            <a:pPr lvl="1" algn="r" rtl="1"/>
            <a:r>
              <a:rPr lang="he-IL" dirty="0"/>
              <a:t>אותיות תחיליות</a:t>
            </a:r>
          </a:p>
          <a:p>
            <a:pPr lvl="2" algn="r" rtl="1"/>
            <a:r>
              <a:rPr lang="he-IL" dirty="0"/>
              <a:t>אותיות </a:t>
            </a:r>
            <a:r>
              <a:rPr lang="he-IL" dirty="0" err="1"/>
              <a:t>בכל"מ</a:t>
            </a:r>
            <a:r>
              <a:rPr lang="he-IL" dirty="0"/>
              <a:t>, ה"א הידיעה, ו' החיבור</a:t>
            </a:r>
          </a:p>
          <a:p>
            <a:pPr lvl="2" algn="r" rtl="1"/>
            <a:endParaRPr lang="en-US" dirty="0"/>
          </a:p>
        </p:txBody>
      </p:sp>
      <p:sp>
        <p:nvSpPr>
          <p:cNvPr id="3" name="Title 2">
            <a:extLst>
              <a:ext uri="{FF2B5EF4-FFF2-40B4-BE49-F238E27FC236}">
                <a16:creationId xmlns:a16="http://schemas.microsoft.com/office/drawing/2014/main" id="{42D7E12D-667B-474C-9AA1-53067E54A8E7}"/>
              </a:ext>
            </a:extLst>
          </p:cNvPr>
          <p:cNvSpPr>
            <a:spLocks noGrp="1"/>
          </p:cNvSpPr>
          <p:nvPr>
            <p:ph type="title"/>
          </p:nvPr>
        </p:nvSpPr>
        <p:spPr>
          <a:xfrm>
            <a:off x="838200" y="365126"/>
            <a:ext cx="10515600" cy="928654"/>
          </a:xfrm>
        </p:spPr>
        <p:txBody>
          <a:bodyPr/>
          <a:lstStyle/>
          <a:p>
            <a:pPr algn="r" rtl="1"/>
            <a:r>
              <a:rPr lang="he-IL" dirty="0"/>
              <a:t>חיפוש בעברית</a:t>
            </a:r>
            <a:endParaRPr lang="en-US" dirty="0"/>
          </a:p>
        </p:txBody>
      </p:sp>
      <p:pic>
        <p:nvPicPr>
          <p:cNvPr id="5" name="Picture 4">
            <a:extLst>
              <a:ext uri="{FF2B5EF4-FFF2-40B4-BE49-F238E27FC236}">
                <a16:creationId xmlns:a16="http://schemas.microsoft.com/office/drawing/2014/main" id="{E912464D-48C9-4A81-A531-01FB013BECFD}"/>
              </a:ext>
            </a:extLst>
          </p:cNvPr>
          <p:cNvPicPr>
            <a:picLocks noChangeAspect="1"/>
          </p:cNvPicPr>
          <p:nvPr/>
        </p:nvPicPr>
        <p:blipFill>
          <a:blip r:embed="rId2"/>
          <a:stretch>
            <a:fillRect/>
          </a:stretch>
        </p:blipFill>
        <p:spPr>
          <a:xfrm>
            <a:off x="755818" y="258456"/>
            <a:ext cx="5440701" cy="1229100"/>
          </a:xfrm>
          <a:prstGeom prst="rect">
            <a:avLst/>
          </a:prstGeom>
        </p:spPr>
      </p:pic>
      <p:pic>
        <p:nvPicPr>
          <p:cNvPr id="6" name="Picture 5">
            <a:extLst>
              <a:ext uri="{FF2B5EF4-FFF2-40B4-BE49-F238E27FC236}">
                <a16:creationId xmlns:a16="http://schemas.microsoft.com/office/drawing/2014/main" id="{29D459D0-245C-4E29-82DC-F77BE07B2C40}"/>
              </a:ext>
            </a:extLst>
          </p:cNvPr>
          <p:cNvPicPr>
            <a:picLocks noChangeAspect="1"/>
          </p:cNvPicPr>
          <p:nvPr/>
        </p:nvPicPr>
        <p:blipFill>
          <a:blip r:embed="rId3"/>
          <a:stretch>
            <a:fillRect/>
          </a:stretch>
        </p:blipFill>
        <p:spPr>
          <a:xfrm>
            <a:off x="750651" y="1504409"/>
            <a:ext cx="5445868" cy="1183511"/>
          </a:xfrm>
          <a:prstGeom prst="rect">
            <a:avLst/>
          </a:prstGeom>
        </p:spPr>
      </p:pic>
      <p:pic>
        <p:nvPicPr>
          <p:cNvPr id="7" name="Picture 6">
            <a:extLst>
              <a:ext uri="{FF2B5EF4-FFF2-40B4-BE49-F238E27FC236}">
                <a16:creationId xmlns:a16="http://schemas.microsoft.com/office/drawing/2014/main" id="{CE81FBAA-7279-4BA6-B1F1-F5ABE2E5C9BA}"/>
              </a:ext>
            </a:extLst>
          </p:cNvPr>
          <p:cNvPicPr>
            <a:picLocks noChangeAspect="1"/>
          </p:cNvPicPr>
          <p:nvPr/>
        </p:nvPicPr>
        <p:blipFill>
          <a:blip r:embed="rId4"/>
          <a:stretch>
            <a:fillRect/>
          </a:stretch>
        </p:blipFill>
        <p:spPr>
          <a:xfrm>
            <a:off x="789561" y="2847646"/>
            <a:ext cx="5455596" cy="1234415"/>
          </a:xfrm>
          <a:prstGeom prst="rect">
            <a:avLst/>
          </a:prstGeom>
        </p:spPr>
      </p:pic>
      <p:pic>
        <p:nvPicPr>
          <p:cNvPr id="9" name="Picture 8">
            <a:extLst>
              <a:ext uri="{FF2B5EF4-FFF2-40B4-BE49-F238E27FC236}">
                <a16:creationId xmlns:a16="http://schemas.microsoft.com/office/drawing/2014/main" id="{03FAD9B4-D312-4586-990F-A6DC84D2648C}"/>
              </a:ext>
            </a:extLst>
          </p:cNvPr>
          <p:cNvPicPr>
            <a:picLocks noChangeAspect="1"/>
          </p:cNvPicPr>
          <p:nvPr/>
        </p:nvPicPr>
        <p:blipFill>
          <a:blip r:embed="rId5"/>
          <a:stretch>
            <a:fillRect/>
          </a:stretch>
        </p:blipFill>
        <p:spPr>
          <a:xfrm>
            <a:off x="886838" y="4082061"/>
            <a:ext cx="5358319" cy="1257741"/>
          </a:xfrm>
          <a:prstGeom prst="rect">
            <a:avLst/>
          </a:prstGeom>
        </p:spPr>
      </p:pic>
      <p:pic>
        <p:nvPicPr>
          <p:cNvPr id="10" name="Picture 9">
            <a:extLst>
              <a:ext uri="{FF2B5EF4-FFF2-40B4-BE49-F238E27FC236}">
                <a16:creationId xmlns:a16="http://schemas.microsoft.com/office/drawing/2014/main" id="{2BA48610-E3A4-47C2-9503-E2986C5D8C90}"/>
              </a:ext>
            </a:extLst>
          </p:cNvPr>
          <p:cNvPicPr>
            <a:picLocks noChangeAspect="1"/>
          </p:cNvPicPr>
          <p:nvPr/>
        </p:nvPicPr>
        <p:blipFill>
          <a:blip r:embed="rId6"/>
          <a:stretch>
            <a:fillRect/>
          </a:stretch>
        </p:blipFill>
        <p:spPr>
          <a:xfrm>
            <a:off x="6274340" y="5339802"/>
            <a:ext cx="5445867" cy="1199492"/>
          </a:xfrm>
          <a:prstGeom prst="rect">
            <a:avLst/>
          </a:prstGeom>
        </p:spPr>
      </p:pic>
      <p:pic>
        <p:nvPicPr>
          <p:cNvPr id="11" name="Picture 10">
            <a:extLst>
              <a:ext uri="{FF2B5EF4-FFF2-40B4-BE49-F238E27FC236}">
                <a16:creationId xmlns:a16="http://schemas.microsoft.com/office/drawing/2014/main" id="{542B233E-59B0-4B59-844C-BAA1B1DF45B3}"/>
              </a:ext>
            </a:extLst>
          </p:cNvPr>
          <p:cNvPicPr>
            <a:picLocks noChangeAspect="1"/>
          </p:cNvPicPr>
          <p:nvPr/>
        </p:nvPicPr>
        <p:blipFill>
          <a:blip r:embed="rId7"/>
          <a:stretch>
            <a:fillRect/>
          </a:stretch>
        </p:blipFill>
        <p:spPr>
          <a:xfrm>
            <a:off x="886838" y="5359776"/>
            <a:ext cx="5309681" cy="1197609"/>
          </a:xfrm>
          <a:prstGeom prst="rect">
            <a:avLst/>
          </a:prstGeom>
        </p:spPr>
      </p:pic>
    </p:spTree>
    <p:extLst>
      <p:ext uri="{BB962C8B-B14F-4D97-AF65-F5344CB8AC3E}">
        <p14:creationId xmlns:p14="http://schemas.microsoft.com/office/powerpoint/2010/main" val="1263201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A10BC9-2390-4135-894F-A82E58FE8C02}"/>
              </a:ext>
            </a:extLst>
          </p:cNvPr>
          <p:cNvSpPr>
            <a:spLocks noGrp="1"/>
          </p:cNvSpPr>
          <p:nvPr>
            <p:ph idx="1"/>
          </p:nvPr>
        </p:nvSpPr>
        <p:spPr/>
        <p:txBody>
          <a:bodyPr/>
          <a:lstStyle/>
          <a:p>
            <a:pPr algn="r" rtl="1"/>
            <a:r>
              <a:rPr lang="he-IL" dirty="0"/>
              <a:t>תמונות</a:t>
            </a:r>
          </a:p>
          <a:p>
            <a:pPr lvl="1" algn="r" rtl="1"/>
            <a:r>
              <a:rPr lang="he-IL" dirty="0"/>
              <a:t>זכויות יוצרים</a:t>
            </a:r>
          </a:p>
          <a:p>
            <a:pPr algn="r" rtl="1"/>
            <a:r>
              <a:rPr lang="he-IL" dirty="0"/>
              <a:t>וידאו</a:t>
            </a:r>
          </a:p>
          <a:p>
            <a:pPr lvl="1" algn="r" rtl="1"/>
            <a:r>
              <a:rPr lang="he-IL" dirty="0"/>
              <a:t>בעיקר </a:t>
            </a:r>
            <a:r>
              <a:rPr lang="en-US" dirty="0" err="1"/>
              <a:t>youtube</a:t>
            </a:r>
            <a:endParaRPr lang="en-US" dirty="0"/>
          </a:p>
          <a:p>
            <a:pPr lvl="1" algn="r" rtl="1"/>
            <a:r>
              <a:rPr lang="he-IL" dirty="0"/>
              <a:t>הדרכות</a:t>
            </a:r>
            <a:endParaRPr lang="en-US" dirty="0"/>
          </a:p>
        </p:txBody>
      </p:sp>
      <p:sp>
        <p:nvSpPr>
          <p:cNvPr id="3" name="Title 2">
            <a:extLst>
              <a:ext uri="{FF2B5EF4-FFF2-40B4-BE49-F238E27FC236}">
                <a16:creationId xmlns:a16="http://schemas.microsoft.com/office/drawing/2014/main" id="{E18FB6B9-540B-4120-B0A8-CB9D2E1DF9C7}"/>
              </a:ext>
            </a:extLst>
          </p:cNvPr>
          <p:cNvSpPr>
            <a:spLocks noGrp="1"/>
          </p:cNvSpPr>
          <p:nvPr>
            <p:ph type="title"/>
          </p:nvPr>
        </p:nvSpPr>
        <p:spPr>
          <a:xfrm>
            <a:off x="7305472" y="365125"/>
            <a:ext cx="4048328" cy="1325563"/>
          </a:xfrm>
        </p:spPr>
        <p:txBody>
          <a:bodyPr>
            <a:normAutofit fontScale="90000"/>
          </a:bodyPr>
          <a:lstStyle/>
          <a:p>
            <a:pPr algn="r" rtl="1"/>
            <a:r>
              <a:rPr lang="he-IL" dirty="0"/>
              <a:t>סוגי חיפוש נוספים ב </a:t>
            </a:r>
            <a:r>
              <a:rPr lang="en-US" dirty="0"/>
              <a:t>Google</a:t>
            </a:r>
          </a:p>
        </p:txBody>
      </p:sp>
      <p:pic>
        <p:nvPicPr>
          <p:cNvPr id="4" name="Picture 3">
            <a:extLst>
              <a:ext uri="{FF2B5EF4-FFF2-40B4-BE49-F238E27FC236}">
                <a16:creationId xmlns:a16="http://schemas.microsoft.com/office/drawing/2014/main" id="{FE474671-C625-4C15-A3A5-AFADF1C8F57D}"/>
              </a:ext>
            </a:extLst>
          </p:cNvPr>
          <p:cNvPicPr>
            <a:picLocks noChangeAspect="1"/>
          </p:cNvPicPr>
          <p:nvPr/>
        </p:nvPicPr>
        <p:blipFill>
          <a:blip r:embed="rId2"/>
          <a:stretch>
            <a:fillRect/>
          </a:stretch>
        </p:blipFill>
        <p:spPr>
          <a:xfrm>
            <a:off x="727142" y="592982"/>
            <a:ext cx="6477000" cy="5905500"/>
          </a:xfrm>
          <a:prstGeom prst="rect">
            <a:avLst/>
          </a:prstGeom>
        </p:spPr>
      </p:pic>
    </p:spTree>
    <p:extLst>
      <p:ext uri="{BB962C8B-B14F-4D97-AF65-F5344CB8AC3E}">
        <p14:creationId xmlns:p14="http://schemas.microsoft.com/office/powerpoint/2010/main" val="3305259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FDAB21-AFA5-49C3-83E9-E610F39261F3}"/>
              </a:ext>
            </a:extLst>
          </p:cNvPr>
          <p:cNvSpPr>
            <a:spLocks noGrp="1"/>
          </p:cNvSpPr>
          <p:nvPr>
            <p:ph type="title"/>
          </p:nvPr>
        </p:nvSpPr>
        <p:spPr>
          <a:xfrm>
            <a:off x="838200" y="83023"/>
            <a:ext cx="10515600" cy="1064841"/>
          </a:xfrm>
        </p:spPr>
        <p:txBody>
          <a:bodyPr/>
          <a:lstStyle/>
          <a:p>
            <a:pPr algn="r"/>
            <a:r>
              <a:rPr lang="en-US" dirty="0"/>
              <a:t>news.google.co.il</a:t>
            </a:r>
            <a:r>
              <a:rPr lang="he-IL" dirty="0"/>
              <a:t>חיפוש חדשות </a:t>
            </a:r>
            <a:endParaRPr lang="en-US" dirty="0"/>
          </a:p>
        </p:txBody>
      </p:sp>
      <p:pic>
        <p:nvPicPr>
          <p:cNvPr id="4" name="Picture 3">
            <a:extLst>
              <a:ext uri="{FF2B5EF4-FFF2-40B4-BE49-F238E27FC236}">
                <a16:creationId xmlns:a16="http://schemas.microsoft.com/office/drawing/2014/main" id="{C59983FC-9D9E-4C44-B5F2-00E5A11053A0}"/>
              </a:ext>
            </a:extLst>
          </p:cNvPr>
          <p:cNvPicPr>
            <a:picLocks noChangeAspect="1"/>
          </p:cNvPicPr>
          <p:nvPr/>
        </p:nvPicPr>
        <p:blipFill>
          <a:blip r:embed="rId2"/>
          <a:stretch>
            <a:fillRect/>
          </a:stretch>
        </p:blipFill>
        <p:spPr>
          <a:xfrm>
            <a:off x="3075156" y="1147864"/>
            <a:ext cx="5905500" cy="5286375"/>
          </a:xfrm>
          <a:prstGeom prst="rect">
            <a:avLst/>
          </a:prstGeom>
        </p:spPr>
      </p:pic>
    </p:spTree>
    <p:extLst>
      <p:ext uri="{BB962C8B-B14F-4D97-AF65-F5344CB8AC3E}">
        <p14:creationId xmlns:p14="http://schemas.microsoft.com/office/powerpoint/2010/main" val="958642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5B91B8-282B-4F7C-9097-F3B59278E1FD}"/>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F2E9845C-8E14-4BC2-83BD-51CBCAA82F62}"/>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D49E886D-99EE-4072-A292-34E711FBD63C}"/>
              </a:ext>
            </a:extLst>
          </p:cNvPr>
          <p:cNvPicPr>
            <a:picLocks noChangeAspect="1"/>
          </p:cNvPicPr>
          <p:nvPr/>
        </p:nvPicPr>
        <p:blipFill>
          <a:blip r:embed="rId2"/>
          <a:stretch>
            <a:fillRect/>
          </a:stretch>
        </p:blipFill>
        <p:spPr>
          <a:xfrm>
            <a:off x="0" y="127000"/>
            <a:ext cx="12192000" cy="6604000"/>
          </a:xfrm>
          <a:prstGeom prst="rect">
            <a:avLst/>
          </a:prstGeom>
        </p:spPr>
      </p:pic>
    </p:spTree>
    <p:extLst>
      <p:ext uri="{BB962C8B-B14F-4D97-AF65-F5344CB8AC3E}">
        <p14:creationId xmlns:p14="http://schemas.microsoft.com/office/powerpoint/2010/main" val="131473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9407F7-6123-4062-8DE8-C895D79FFA31}"/>
              </a:ext>
            </a:extLst>
          </p:cNvPr>
          <p:cNvSpPr>
            <a:spLocks noGrp="1"/>
          </p:cNvSpPr>
          <p:nvPr>
            <p:ph idx="1"/>
          </p:nvPr>
        </p:nvSpPr>
        <p:spPr>
          <a:xfrm>
            <a:off x="935477" y="1371600"/>
            <a:ext cx="10515600" cy="4351338"/>
          </a:xfrm>
        </p:spPr>
        <p:txBody>
          <a:bodyPr/>
          <a:lstStyle/>
          <a:p>
            <a:pPr algn="r" rtl="1"/>
            <a:r>
              <a:rPr lang="he-IL" dirty="0"/>
              <a:t>מנוע חיפוש מבית </a:t>
            </a:r>
            <a:r>
              <a:rPr lang="en-US" dirty="0"/>
              <a:t>Microsoft</a:t>
            </a:r>
          </a:p>
          <a:p>
            <a:pPr algn="r" rtl="1"/>
            <a:r>
              <a:rPr lang="he-IL" dirty="0"/>
              <a:t>מציע פחות או יותר את אותם השירותים כמו </a:t>
            </a:r>
            <a:r>
              <a:rPr lang="en-US" dirty="0"/>
              <a:t>Google</a:t>
            </a:r>
          </a:p>
          <a:p>
            <a:pPr algn="r" rtl="1"/>
            <a:r>
              <a:rPr lang="he-IL" dirty="0"/>
              <a:t>כיסוי פחות טוב</a:t>
            </a:r>
          </a:p>
          <a:p>
            <a:pPr algn="r" rtl="1"/>
            <a:endParaRPr lang="en-US" dirty="0"/>
          </a:p>
        </p:txBody>
      </p:sp>
      <p:sp>
        <p:nvSpPr>
          <p:cNvPr id="3" name="Title 2">
            <a:extLst>
              <a:ext uri="{FF2B5EF4-FFF2-40B4-BE49-F238E27FC236}">
                <a16:creationId xmlns:a16="http://schemas.microsoft.com/office/drawing/2014/main" id="{1001D98C-8AA2-43E2-83E2-DD2CAEB30FA8}"/>
              </a:ext>
            </a:extLst>
          </p:cNvPr>
          <p:cNvSpPr>
            <a:spLocks noGrp="1"/>
          </p:cNvSpPr>
          <p:nvPr>
            <p:ph type="title"/>
          </p:nvPr>
        </p:nvSpPr>
        <p:spPr>
          <a:xfrm>
            <a:off x="838200" y="365125"/>
            <a:ext cx="10515600" cy="1006475"/>
          </a:xfrm>
        </p:spPr>
        <p:txBody>
          <a:bodyPr/>
          <a:lstStyle/>
          <a:p>
            <a:pPr algn="r"/>
            <a:r>
              <a:rPr lang="en-US" dirty="0"/>
              <a:t>Bing</a:t>
            </a:r>
          </a:p>
        </p:txBody>
      </p:sp>
      <p:pic>
        <p:nvPicPr>
          <p:cNvPr id="4" name="Picture 3">
            <a:extLst>
              <a:ext uri="{FF2B5EF4-FFF2-40B4-BE49-F238E27FC236}">
                <a16:creationId xmlns:a16="http://schemas.microsoft.com/office/drawing/2014/main" id="{A07F7A21-C1F3-4B6B-BC8C-58225B186C63}"/>
              </a:ext>
            </a:extLst>
          </p:cNvPr>
          <p:cNvPicPr>
            <a:picLocks noChangeAspect="1"/>
          </p:cNvPicPr>
          <p:nvPr/>
        </p:nvPicPr>
        <p:blipFill>
          <a:blip r:embed="rId2"/>
          <a:stretch>
            <a:fillRect/>
          </a:stretch>
        </p:blipFill>
        <p:spPr>
          <a:xfrm>
            <a:off x="2236147" y="2960045"/>
            <a:ext cx="7505700" cy="1638300"/>
          </a:xfrm>
          <a:prstGeom prst="rect">
            <a:avLst/>
          </a:prstGeom>
        </p:spPr>
      </p:pic>
      <p:pic>
        <p:nvPicPr>
          <p:cNvPr id="5" name="Picture 4">
            <a:extLst>
              <a:ext uri="{FF2B5EF4-FFF2-40B4-BE49-F238E27FC236}">
                <a16:creationId xmlns:a16="http://schemas.microsoft.com/office/drawing/2014/main" id="{6832FE11-97EA-4389-A76E-C39E5715A2DB}"/>
              </a:ext>
            </a:extLst>
          </p:cNvPr>
          <p:cNvPicPr>
            <a:picLocks noChangeAspect="1"/>
          </p:cNvPicPr>
          <p:nvPr/>
        </p:nvPicPr>
        <p:blipFill>
          <a:blip r:embed="rId3"/>
          <a:stretch>
            <a:fillRect/>
          </a:stretch>
        </p:blipFill>
        <p:spPr>
          <a:xfrm>
            <a:off x="2350447" y="4670087"/>
            <a:ext cx="7391400" cy="1447800"/>
          </a:xfrm>
          <a:prstGeom prst="rect">
            <a:avLst/>
          </a:prstGeom>
        </p:spPr>
      </p:pic>
    </p:spTree>
    <p:extLst>
      <p:ext uri="{BB962C8B-B14F-4D97-AF65-F5344CB8AC3E}">
        <p14:creationId xmlns:p14="http://schemas.microsoft.com/office/powerpoint/2010/main" val="3995966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B78A156-4844-4CBB-82D6-351538461171}"/>
              </a:ext>
            </a:extLst>
          </p:cNvPr>
          <p:cNvPicPr>
            <a:picLocks noGrp="1" noChangeAspect="1"/>
          </p:cNvPicPr>
          <p:nvPr>
            <p:ph idx="1"/>
          </p:nvPr>
        </p:nvPicPr>
        <p:blipFill>
          <a:blip r:embed="rId2"/>
          <a:stretch>
            <a:fillRect/>
          </a:stretch>
        </p:blipFill>
        <p:spPr>
          <a:xfrm>
            <a:off x="1391013" y="1245140"/>
            <a:ext cx="9877176" cy="5486399"/>
          </a:xfrm>
          <a:prstGeom prst="rect">
            <a:avLst/>
          </a:prstGeom>
        </p:spPr>
      </p:pic>
      <p:sp>
        <p:nvSpPr>
          <p:cNvPr id="3" name="Title 2">
            <a:extLst>
              <a:ext uri="{FF2B5EF4-FFF2-40B4-BE49-F238E27FC236}">
                <a16:creationId xmlns:a16="http://schemas.microsoft.com/office/drawing/2014/main" id="{027329C3-42E9-4E2E-BB75-1AF520665912}"/>
              </a:ext>
            </a:extLst>
          </p:cNvPr>
          <p:cNvSpPr>
            <a:spLocks noGrp="1"/>
          </p:cNvSpPr>
          <p:nvPr>
            <p:ph type="title"/>
          </p:nvPr>
        </p:nvSpPr>
        <p:spPr>
          <a:xfrm>
            <a:off x="838200" y="365125"/>
            <a:ext cx="10515600" cy="948109"/>
          </a:xfrm>
        </p:spPr>
        <p:txBody>
          <a:bodyPr>
            <a:normAutofit/>
          </a:bodyPr>
          <a:lstStyle/>
          <a:p>
            <a:pPr algn="r" rtl="1"/>
            <a:r>
              <a:rPr lang="he-IL" sz="3800" dirty="0"/>
              <a:t>מנוע חיפוש לפרסומים מדעיים – </a:t>
            </a:r>
            <a:r>
              <a:rPr lang="en-US" sz="3800" dirty="0"/>
              <a:t>Google Scholar</a:t>
            </a:r>
          </a:p>
        </p:txBody>
      </p:sp>
    </p:spTree>
    <p:extLst>
      <p:ext uri="{BB962C8B-B14F-4D97-AF65-F5344CB8AC3E}">
        <p14:creationId xmlns:p14="http://schemas.microsoft.com/office/powerpoint/2010/main" val="4272070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41E3C9-B6F6-461B-9875-7DCDC5086CFF}"/>
              </a:ext>
            </a:extLst>
          </p:cNvPr>
          <p:cNvSpPr>
            <a:spLocks noGrp="1"/>
          </p:cNvSpPr>
          <p:nvPr>
            <p:ph idx="1"/>
          </p:nvPr>
        </p:nvSpPr>
        <p:spPr>
          <a:xfrm>
            <a:off x="768486" y="859075"/>
            <a:ext cx="10682591" cy="2937752"/>
          </a:xfrm>
        </p:spPr>
        <p:txBody>
          <a:bodyPr/>
          <a:lstStyle/>
          <a:p>
            <a:pPr algn="r" rtl="1"/>
            <a:r>
              <a:rPr lang="he-IL" sz="2400" dirty="0"/>
              <a:t>"ויקיפדיה העברית היא הגרסה העברית של אנציקלופדיית האינטרנט החופשית "ויקיפדיה", המנוהלת ומתופעלת בידי קרן </a:t>
            </a:r>
            <a:r>
              <a:rPr lang="he-IL" sz="2400" dirty="0" err="1"/>
              <a:t>ויקימדיה</a:t>
            </a:r>
            <a:r>
              <a:rPr lang="he-IL" sz="2400" dirty="0"/>
              <a:t>. ... בדומה לוויקיפדיה בשפות אחרות, גם בוויקיפדיה העברית הגולשים יכולים להשתתף בכתיבה ובעריכה."</a:t>
            </a:r>
          </a:p>
          <a:p>
            <a:pPr algn="r" rtl="1"/>
            <a:r>
              <a:rPr lang="he-IL" sz="2400" dirty="0"/>
              <a:t>"ויקיפדיה העברית היא אנציקלופדיה כללית, העוסקת בכל תחומי הדעת האפשריים ולא מגבילה את עצמה לתחום ספציפי. ... הגדרת נושא כאנציקלופדי מתירנית יותר בוויקיפדיה העברית יחסית לאנציקלופדיות אחרות בעברית, דוגמת האנציקלופדיה העברית." (מתוך הערך "ויקיפדיה העברית", ויקיפדיה)</a:t>
            </a:r>
            <a:endParaRPr lang="en-US" sz="2400" dirty="0"/>
          </a:p>
        </p:txBody>
      </p:sp>
      <p:sp>
        <p:nvSpPr>
          <p:cNvPr id="3" name="Title 2">
            <a:extLst>
              <a:ext uri="{FF2B5EF4-FFF2-40B4-BE49-F238E27FC236}">
                <a16:creationId xmlns:a16="http://schemas.microsoft.com/office/drawing/2014/main" id="{6EDF668A-3CF1-4211-9024-E8F2955AE8B3}"/>
              </a:ext>
            </a:extLst>
          </p:cNvPr>
          <p:cNvSpPr>
            <a:spLocks noGrp="1"/>
          </p:cNvSpPr>
          <p:nvPr>
            <p:ph type="title"/>
          </p:nvPr>
        </p:nvSpPr>
        <p:spPr>
          <a:xfrm>
            <a:off x="935477" y="131661"/>
            <a:ext cx="10515600" cy="714645"/>
          </a:xfrm>
        </p:spPr>
        <p:txBody>
          <a:bodyPr>
            <a:normAutofit fontScale="90000"/>
          </a:bodyPr>
          <a:lstStyle/>
          <a:p>
            <a:pPr algn="r" rtl="1"/>
            <a:r>
              <a:rPr lang="he-IL" dirty="0"/>
              <a:t>ויקיפדיה</a:t>
            </a:r>
            <a:endParaRPr lang="en-US" dirty="0"/>
          </a:p>
        </p:txBody>
      </p:sp>
      <p:pic>
        <p:nvPicPr>
          <p:cNvPr id="4" name="Picture 3">
            <a:extLst>
              <a:ext uri="{FF2B5EF4-FFF2-40B4-BE49-F238E27FC236}">
                <a16:creationId xmlns:a16="http://schemas.microsoft.com/office/drawing/2014/main" id="{935D118A-45B9-4FA6-B19A-985F937874D6}"/>
              </a:ext>
            </a:extLst>
          </p:cNvPr>
          <p:cNvPicPr>
            <a:picLocks noChangeAspect="1"/>
          </p:cNvPicPr>
          <p:nvPr/>
        </p:nvPicPr>
        <p:blipFill>
          <a:blip r:embed="rId2"/>
          <a:stretch>
            <a:fillRect/>
          </a:stretch>
        </p:blipFill>
        <p:spPr>
          <a:xfrm>
            <a:off x="10553800" y="3638144"/>
            <a:ext cx="1590675" cy="1476375"/>
          </a:xfrm>
          <a:prstGeom prst="rect">
            <a:avLst/>
          </a:prstGeom>
        </p:spPr>
      </p:pic>
      <p:pic>
        <p:nvPicPr>
          <p:cNvPr id="5" name="Picture 4">
            <a:extLst>
              <a:ext uri="{FF2B5EF4-FFF2-40B4-BE49-F238E27FC236}">
                <a16:creationId xmlns:a16="http://schemas.microsoft.com/office/drawing/2014/main" id="{2A76A283-5483-420E-AEB8-4FA69AB6CE8B}"/>
              </a:ext>
            </a:extLst>
          </p:cNvPr>
          <p:cNvPicPr>
            <a:picLocks noChangeAspect="1"/>
          </p:cNvPicPr>
          <p:nvPr/>
        </p:nvPicPr>
        <p:blipFill>
          <a:blip r:embed="rId3"/>
          <a:stretch>
            <a:fillRect/>
          </a:stretch>
        </p:blipFill>
        <p:spPr>
          <a:xfrm>
            <a:off x="5924650" y="3391913"/>
            <a:ext cx="4629150" cy="1990725"/>
          </a:xfrm>
          <a:prstGeom prst="rect">
            <a:avLst/>
          </a:prstGeom>
        </p:spPr>
      </p:pic>
      <p:pic>
        <p:nvPicPr>
          <p:cNvPr id="6" name="Picture 5">
            <a:extLst>
              <a:ext uri="{FF2B5EF4-FFF2-40B4-BE49-F238E27FC236}">
                <a16:creationId xmlns:a16="http://schemas.microsoft.com/office/drawing/2014/main" id="{8B147A8D-4594-4463-AEBD-4552B437006B}"/>
              </a:ext>
            </a:extLst>
          </p:cNvPr>
          <p:cNvPicPr>
            <a:picLocks noChangeAspect="1"/>
          </p:cNvPicPr>
          <p:nvPr/>
        </p:nvPicPr>
        <p:blipFill>
          <a:blip r:embed="rId4"/>
          <a:stretch>
            <a:fillRect/>
          </a:stretch>
        </p:blipFill>
        <p:spPr>
          <a:xfrm>
            <a:off x="1208205" y="3570051"/>
            <a:ext cx="4276725" cy="1352550"/>
          </a:xfrm>
          <a:prstGeom prst="rect">
            <a:avLst/>
          </a:prstGeom>
        </p:spPr>
      </p:pic>
      <p:pic>
        <p:nvPicPr>
          <p:cNvPr id="7" name="Picture 6">
            <a:extLst>
              <a:ext uri="{FF2B5EF4-FFF2-40B4-BE49-F238E27FC236}">
                <a16:creationId xmlns:a16="http://schemas.microsoft.com/office/drawing/2014/main" id="{28D41A91-06C5-454B-9C72-FDC1C195B7AD}"/>
              </a:ext>
            </a:extLst>
          </p:cNvPr>
          <p:cNvPicPr>
            <a:picLocks noChangeAspect="1"/>
          </p:cNvPicPr>
          <p:nvPr/>
        </p:nvPicPr>
        <p:blipFill>
          <a:blip r:embed="rId5"/>
          <a:stretch>
            <a:fillRect/>
          </a:stretch>
        </p:blipFill>
        <p:spPr>
          <a:xfrm>
            <a:off x="1936867" y="5289313"/>
            <a:ext cx="7096125" cy="676275"/>
          </a:xfrm>
          <a:prstGeom prst="rect">
            <a:avLst/>
          </a:prstGeom>
        </p:spPr>
      </p:pic>
      <p:pic>
        <p:nvPicPr>
          <p:cNvPr id="8" name="Picture 7">
            <a:extLst>
              <a:ext uri="{FF2B5EF4-FFF2-40B4-BE49-F238E27FC236}">
                <a16:creationId xmlns:a16="http://schemas.microsoft.com/office/drawing/2014/main" id="{F17FBF88-15C7-481B-8851-DC91DC92121B}"/>
              </a:ext>
            </a:extLst>
          </p:cNvPr>
          <p:cNvPicPr>
            <a:picLocks noChangeAspect="1"/>
          </p:cNvPicPr>
          <p:nvPr/>
        </p:nvPicPr>
        <p:blipFill>
          <a:blip r:embed="rId6"/>
          <a:stretch>
            <a:fillRect/>
          </a:stretch>
        </p:blipFill>
        <p:spPr>
          <a:xfrm>
            <a:off x="2127367" y="6067424"/>
            <a:ext cx="6905625" cy="695325"/>
          </a:xfrm>
          <a:prstGeom prst="rect">
            <a:avLst/>
          </a:prstGeom>
        </p:spPr>
      </p:pic>
    </p:spTree>
    <p:extLst>
      <p:ext uri="{BB962C8B-B14F-4D97-AF65-F5344CB8AC3E}">
        <p14:creationId xmlns:p14="http://schemas.microsoft.com/office/powerpoint/2010/main" val="3933627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3C994C-A631-4C6D-9912-0BF77C8CE9FA}"/>
              </a:ext>
            </a:extLst>
          </p:cNvPr>
          <p:cNvSpPr>
            <a:spLocks noGrp="1"/>
          </p:cNvSpPr>
          <p:nvPr>
            <p:ph type="title"/>
          </p:nvPr>
        </p:nvSpPr>
        <p:spPr>
          <a:xfrm>
            <a:off x="2296538" y="3107"/>
            <a:ext cx="7754566" cy="1325563"/>
          </a:xfrm>
        </p:spPr>
        <p:txBody>
          <a:bodyPr>
            <a:normAutofit/>
          </a:bodyPr>
          <a:lstStyle/>
          <a:p>
            <a:pPr algn="ctr"/>
            <a:r>
              <a:rPr lang="en-US" sz="3600" dirty="0"/>
              <a:t>The Internet Archive – archive.org</a:t>
            </a:r>
            <a:br>
              <a:rPr lang="en-US" sz="3600" dirty="0"/>
            </a:br>
            <a:r>
              <a:rPr lang="en-US" sz="3600" dirty="0" err="1"/>
              <a:t>Wayback</a:t>
            </a:r>
            <a:r>
              <a:rPr lang="en-US" sz="3600" dirty="0"/>
              <a:t> Machine</a:t>
            </a:r>
          </a:p>
        </p:txBody>
      </p:sp>
      <p:pic>
        <p:nvPicPr>
          <p:cNvPr id="11" name="Picture 10">
            <a:extLst>
              <a:ext uri="{FF2B5EF4-FFF2-40B4-BE49-F238E27FC236}">
                <a16:creationId xmlns:a16="http://schemas.microsoft.com/office/drawing/2014/main" id="{CE962176-D0FB-44C4-A9E1-764732DE4A1A}"/>
              </a:ext>
            </a:extLst>
          </p:cNvPr>
          <p:cNvPicPr>
            <a:picLocks noChangeAspect="1"/>
          </p:cNvPicPr>
          <p:nvPr/>
        </p:nvPicPr>
        <p:blipFill>
          <a:blip r:embed="rId2"/>
          <a:stretch>
            <a:fillRect/>
          </a:stretch>
        </p:blipFill>
        <p:spPr>
          <a:xfrm>
            <a:off x="821080" y="36154"/>
            <a:ext cx="1256681" cy="1358900"/>
          </a:xfrm>
          <a:prstGeom prst="rect">
            <a:avLst/>
          </a:prstGeom>
        </p:spPr>
      </p:pic>
      <p:pic>
        <p:nvPicPr>
          <p:cNvPr id="15" name="Picture 14">
            <a:extLst>
              <a:ext uri="{FF2B5EF4-FFF2-40B4-BE49-F238E27FC236}">
                <a16:creationId xmlns:a16="http://schemas.microsoft.com/office/drawing/2014/main" id="{1DBD970F-488B-447A-AD59-C6D98DD4C1F6}"/>
              </a:ext>
            </a:extLst>
          </p:cNvPr>
          <p:cNvPicPr>
            <a:picLocks noChangeAspect="1"/>
          </p:cNvPicPr>
          <p:nvPr/>
        </p:nvPicPr>
        <p:blipFill>
          <a:blip r:embed="rId3"/>
          <a:stretch>
            <a:fillRect/>
          </a:stretch>
        </p:blipFill>
        <p:spPr>
          <a:xfrm>
            <a:off x="1196502" y="1395054"/>
            <a:ext cx="10385999" cy="5396562"/>
          </a:xfrm>
          <a:prstGeom prst="rect">
            <a:avLst/>
          </a:prstGeom>
        </p:spPr>
      </p:pic>
    </p:spTree>
    <p:extLst>
      <p:ext uri="{BB962C8B-B14F-4D97-AF65-F5344CB8AC3E}">
        <p14:creationId xmlns:p14="http://schemas.microsoft.com/office/powerpoint/2010/main" val="443037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EC9DF2-82DE-47BB-858F-5D26B01015F8}"/>
              </a:ext>
            </a:extLst>
          </p:cNvPr>
          <p:cNvPicPr>
            <a:picLocks noChangeAspect="1"/>
          </p:cNvPicPr>
          <p:nvPr/>
        </p:nvPicPr>
        <p:blipFill>
          <a:blip r:embed="rId2"/>
          <a:stretch>
            <a:fillRect/>
          </a:stretch>
        </p:blipFill>
        <p:spPr>
          <a:xfrm>
            <a:off x="0" y="0"/>
            <a:ext cx="8624381" cy="3570604"/>
          </a:xfrm>
          <a:prstGeom prst="rect">
            <a:avLst/>
          </a:prstGeom>
        </p:spPr>
      </p:pic>
      <p:pic>
        <p:nvPicPr>
          <p:cNvPr id="6" name="Picture 5">
            <a:extLst>
              <a:ext uri="{FF2B5EF4-FFF2-40B4-BE49-F238E27FC236}">
                <a16:creationId xmlns:a16="http://schemas.microsoft.com/office/drawing/2014/main" id="{0918483F-A527-4ED9-BD5E-E0A24DBAD762}"/>
              </a:ext>
            </a:extLst>
          </p:cNvPr>
          <p:cNvPicPr>
            <a:picLocks noChangeAspect="1"/>
          </p:cNvPicPr>
          <p:nvPr/>
        </p:nvPicPr>
        <p:blipFill>
          <a:blip r:embed="rId3"/>
          <a:stretch>
            <a:fillRect/>
          </a:stretch>
        </p:blipFill>
        <p:spPr>
          <a:xfrm>
            <a:off x="4236295" y="3570604"/>
            <a:ext cx="7955705" cy="3278074"/>
          </a:xfrm>
          <a:prstGeom prst="rect">
            <a:avLst/>
          </a:prstGeom>
        </p:spPr>
      </p:pic>
    </p:spTree>
    <p:extLst>
      <p:ext uri="{BB962C8B-B14F-4D97-AF65-F5344CB8AC3E}">
        <p14:creationId xmlns:p14="http://schemas.microsoft.com/office/powerpoint/2010/main" val="140262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59DA9A-1440-4C67-9210-2BA4BC3FE963}"/>
              </a:ext>
            </a:extLst>
          </p:cNvPr>
          <p:cNvSpPr>
            <a:spLocks noGrp="1"/>
          </p:cNvSpPr>
          <p:nvPr>
            <p:ph idx="1"/>
          </p:nvPr>
        </p:nvSpPr>
        <p:spPr>
          <a:xfrm>
            <a:off x="838200" y="1293778"/>
            <a:ext cx="10515600" cy="5019372"/>
          </a:xfrm>
        </p:spPr>
        <p:txBody>
          <a:bodyPr/>
          <a:lstStyle/>
          <a:p>
            <a:pPr algn="r" rtl="1"/>
            <a:r>
              <a:rPr lang="he-IL" dirty="0"/>
              <a:t>רלוונטיות התוצאות</a:t>
            </a:r>
          </a:p>
          <a:p>
            <a:pPr lvl="1" algn="r" rtl="1"/>
            <a:r>
              <a:rPr lang="he-IL" dirty="0"/>
              <a:t>רלוונטיות – מדד סובייקטיבי</a:t>
            </a:r>
          </a:p>
          <a:p>
            <a:pPr algn="r" rtl="1"/>
            <a:r>
              <a:rPr lang="he-IL" dirty="0"/>
              <a:t>דיוק (</a:t>
            </a:r>
            <a:r>
              <a:rPr lang="en-US" dirty="0"/>
              <a:t>precision</a:t>
            </a:r>
            <a:r>
              <a:rPr lang="he-IL" dirty="0"/>
              <a:t>) </a:t>
            </a:r>
          </a:p>
          <a:p>
            <a:pPr lvl="1" algn="r" rtl="1"/>
            <a:r>
              <a:rPr lang="he-IL" dirty="0"/>
              <a:t>איזה אחוז מהתוצאות שקיבלתי רלוונטיות עבורי</a:t>
            </a:r>
          </a:p>
          <a:p>
            <a:pPr algn="r" rtl="1"/>
            <a:r>
              <a:rPr lang="he-IL" dirty="0"/>
              <a:t>מיקום התוצאות הרלוונטיות</a:t>
            </a:r>
          </a:p>
          <a:p>
            <a:pPr lvl="1" algn="r" rtl="1"/>
            <a:r>
              <a:rPr lang="he-IL" dirty="0"/>
              <a:t>האם התוצאה הראשונה או התוצאה העשירית?</a:t>
            </a:r>
          </a:p>
          <a:p>
            <a:pPr algn="r" rtl="1"/>
            <a:r>
              <a:rPr lang="he-IL" dirty="0"/>
              <a:t>מהירות קבלת התוצאות</a:t>
            </a:r>
          </a:p>
        </p:txBody>
      </p:sp>
      <p:sp>
        <p:nvSpPr>
          <p:cNvPr id="3" name="Title 2">
            <a:extLst>
              <a:ext uri="{FF2B5EF4-FFF2-40B4-BE49-F238E27FC236}">
                <a16:creationId xmlns:a16="http://schemas.microsoft.com/office/drawing/2014/main" id="{B594A529-E0F8-4110-AD73-EEEECBC6607B}"/>
              </a:ext>
            </a:extLst>
          </p:cNvPr>
          <p:cNvSpPr>
            <a:spLocks noGrp="1"/>
          </p:cNvSpPr>
          <p:nvPr>
            <p:ph type="title"/>
          </p:nvPr>
        </p:nvSpPr>
        <p:spPr>
          <a:xfrm>
            <a:off x="838200" y="83023"/>
            <a:ext cx="10515600" cy="1325563"/>
          </a:xfrm>
        </p:spPr>
        <p:txBody>
          <a:bodyPr/>
          <a:lstStyle/>
          <a:p>
            <a:pPr algn="r" rtl="1"/>
            <a:r>
              <a:rPr lang="he-IL" dirty="0"/>
              <a:t>הערכת מידע והערכת כלי חיפוש</a:t>
            </a:r>
            <a:endParaRPr lang="en-US" dirty="0"/>
          </a:p>
        </p:txBody>
      </p:sp>
      <p:pic>
        <p:nvPicPr>
          <p:cNvPr id="4" name="Picture 3">
            <a:extLst>
              <a:ext uri="{FF2B5EF4-FFF2-40B4-BE49-F238E27FC236}">
                <a16:creationId xmlns:a16="http://schemas.microsoft.com/office/drawing/2014/main" id="{869B9811-92CA-4557-8B98-38CF4E81F701}"/>
              </a:ext>
            </a:extLst>
          </p:cNvPr>
          <p:cNvPicPr>
            <a:picLocks noChangeAspect="1"/>
          </p:cNvPicPr>
          <p:nvPr/>
        </p:nvPicPr>
        <p:blipFill>
          <a:blip r:embed="rId2"/>
          <a:stretch>
            <a:fillRect/>
          </a:stretch>
        </p:blipFill>
        <p:spPr>
          <a:xfrm>
            <a:off x="1044507" y="4548390"/>
            <a:ext cx="6134100" cy="1438275"/>
          </a:xfrm>
          <a:prstGeom prst="rect">
            <a:avLst/>
          </a:prstGeom>
        </p:spPr>
      </p:pic>
    </p:spTree>
    <p:extLst>
      <p:ext uri="{BB962C8B-B14F-4D97-AF65-F5344CB8AC3E}">
        <p14:creationId xmlns:p14="http://schemas.microsoft.com/office/powerpoint/2010/main" val="2825783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0847A0-9788-4E90-A523-E088E1508669}"/>
              </a:ext>
            </a:extLst>
          </p:cNvPr>
          <p:cNvSpPr>
            <a:spLocks noGrp="1"/>
          </p:cNvSpPr>
          <p:nvPr>
            <p:ph idx="1"/>
          </p:nvPr>
        </p:nvSpPr>
        <p:spPr>
          <a:xfrm>
            <a:off x="838200" y="1517515"/>
            <a:ext cx="10515600" cy="4659448"/>
          </a:xfrm>
        </p:spPr>
        <p:txBody>
          <a:bodyPr>
            <a:normAutofit/>
          </a:bodyPr>
          <a:lstStyle/>
          <a:p>
            <a:pPr algn="r" rtl="1"/>
            <a:r>
              <a:rPr lang="he-IL" dirty="0"/>
              <a:t>הערכת תוכן</a:t>
            </a:r>
          </a:p>
          <a:p>
            <a:pPr lvl="1" algn="r" rtl="1"/>
            <a:r>
              <a:rPr lang="he-IL" dirty="0"/>
              <a:t>נכונות/דיוק (</a:t>
            </a:r>
            <a:r>
              <a:rPr lang="en-US" dirty="0"/>
              <a:t>accuracy</a:t>
            </a:r>
            <a:r>
              <a:rPr lang="he-IL" dirty="0"/>
              <a:t>)</a:t>
            </a:r>
          </a:p>
          <a:p>
            <a:pPr lvl="2" algn="r" rtl="1"/>
            <a:r>
              <a:rPr lang="he-IL" dirty="0"/>
              <a:t>ידע אישי, השואה למקורות מידע אחרים</a:t>
            </a:r>
            <a:endParaRPr lang="en-US" dirty="0"/>
          </a:p>
          <a:p>
            <a:pPr algn="r" rtl="1"/>
            <a:r>
              <a:rPr lang="he-IL" dirty="0"/>
              <a:t>סמכות האתר</a:t>
            </a:r>
          </a:p>
          <a:p>
            <a:pPr lvl="1" algn="r" rtl="1"/>
            <a:r>
              <a:rPr lang="he-IL" dirty="0"/>
              <a:t>אתר מסחרי – האם יש אינטרסים לאתר - </a:t>
            </a:r>
            <a:r>
              <a:rPr lang="en-US" dirty="0"/>
              <a:t>.com, .co.il</a:t>
            </a:r>
            <a:endParaRPr lang="he-IL" dirty="0"/>
          </a:p>
          <a:p>
            <a:pPr algn="r" rtl="1"/>
            <a:r>
              <a:rPr lang="he-IL" dirty="0"/>
              <a:t>מהמנות יוצר המידע (אם ידוע)</a:t>
            </a:r>
          </a:p>
          <a:p>
            <a:pPr algn="r" rtl="1"/>
            <a:r>
              <a:rPr lang="he-IL" dirty="0"/>
              <a:t>היקף המידע</a:t>
            </a:r>
          </a:p>
          <a:p>
            <a:pPr algn="r" rtl="1"/>
            <a:r>
              <a:rPr lang="he-IL" dirty="0"/>
              <a:t>עדכניות</a:t>
            </a:r>
          </a:p>
        </p:txBody>
      </p:sp>
      <p:sp>
        <p:nvSpPr>
          <p:cNvPr id="3" name="Title 2">
            <a:extLst>
              <a:ext uri="{FF2B5EF4-FFF2-40B4-BE49-F238E27FC236}">
                <a16:creationId xmlns:a16="http://schemas.microsoft.com/office/drawing/2014/main" id="{2B9178FE-0DCE-4B62-BEC2-0DA1751988F0}"/>
              </a:ext>
            </a:extLst>
          </p:cNvPr>
          <p:cNvSpPr>
            <a:spLocks noGrp="1"/>
          </p:cNvSpPr>
          <p:nvPr>
            <p:ph type="title"/>
          </p:nvPr>
        </p:nvSpPr>
        <p:spPr/>
        <p:txBody>
          <a:bodyPr/>
          <a:lstStyle/>
          <a:p>
            <a:pPr algn="r" rtl="1"/>
            <a:r>
              <a:rPr lang="he-IL" dirty="0"/>
              <a:t>הערכת תוצאות החיפוש</a:t>
            </a:r>
            <a:endParaRPr lang="en-US" dirty="0"/>
          </a:p>
        </p:txBody>
      </p:sp>
    </p:spTree>
    <p:extLst>
      <p:ext uri="{BB962C8B-B14F-4D97-AF65-F5344CB8AC3E}">
        <p14:creationId xmlns:p14="http://schemas.microsoft.com/office/powerpoint/2010/main" val="4139389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2DA6CF-CDB9-47FB-949B-115615EC6CFD}"/>
              </a:ext>
            </a:extLst>
          </p:cNvPr>
          <p:cNvSpPr>
            <a:spLocks noGrp="1"/>
          </p:cNvSpPr>
          <p:nvPr>
            <p:ph idx="1"/>
          </p:nvPr>
        </p:nvSpPr>
        <p:spPr/>
        <p:txBody>
          <a:bodyPr/>
          <a:lstStyle/>
          <a:p>
            <a:pPr algn="r" rtl="1"/>
            <a:r>
              <a:rPr lang="he-IL" dirty="0"/>
              <a:t>רלוונטיות</a:t>
            </a:r>
          </a:p>
          <a:p>
            <a:pPr algn="r" rtl="1"/>
            <a:r>
              <a:rPr lang="he-IL" dirty="0"/>
              <a:t>חידוש</a:t>
            </a:r>
          </a:p>
          <a:p>
            <a:pPr algn="r" rtl="1"/>
            <a:r>
              <a:rPr lang="he-IL" dirty="0"/>
              <a:t>חזרה (במידה) על מידע שבכר ידוע</a:t>
            </a:r>
          </a:p>
          <a:p>
            <a:pPr algn="r" rtl="1"/>
            <a:r>
              <a:rPr lang="he-IL" dirty="0"/>
              <a:t>אובייקטיבי/מוטה?</a:t>
            </a:r>
          </a:p>
          <a:p>
            <a:pPr algn="r" rtl="1"/>
            <a:r>
              <a:rPr lang="he-IL" dirty="0"/>
              <a:t>מראה האתר</a:t>
            </a:r>
          </a:p>
          <a:p>
            <a:pPr algn="r" rtl="1"/>
            <a:r>
              <a:rPr lang="he-IL" dirty="0"/>
              <a:t>קלות השימוש באתר - התמצאות</a:t>
            </a:r>
          </a:p>
          <a:p>
            <a:pPr algn="r" rtl="1"/>
            <a:r>
              <a:rPr lang="he-IL" dirty="0"/>
              <a:t>ניסיון קודם (עם האתר, כותב המידע)/בתחום הידע</a:t>
            </a:r>
            <a:endParaRPr lang="en-US" dirty="0"/>
          </a:p>
        </p:txBody>
      </p:sp>
      <p:sp>
        <p:nvSpPr>
          <p:cNvPr id="3" name="Title 2">
            <a:extLst>
              <a:ext uri="{FF2B5EF4-FFF2-40B4-BE49-F238E27FC236}">
                <a16:creationId xmlns:a16="http://schemas.microsoft.com/office/drawing/2014/main" id="{76DEF87A-E640-4BEC-9D33-C43639831410}"/>
              </a:ext>
            </a:extLst>
          </p:cNvPr>
          <p:cNvSpPr>
            <a:spLocks noGrp="1"/>
          </p:cNvSpPr>
          <p:nvPr>
            <p:ph type="title"/>
          </p:nvPr>
        </p:nvSpPr>
        <p:spPr/>
        <p:txBody>
          <a:bodyPr/>
          <a:lstStyle/>
          <a:p>
            <a:pPr algn="r" rtl="1"/>
            <a:r>
              <a:rPr lang="he-IL" dirty="0"/>
              <a:t>הערכה סובייקטיבית של מחפש המידע</a:t>
            </a:r>
            <a:endParaRPr lang="en-US" dirty="0"/>
          </a:p>
        </p:txBody>
      </p:sp>
    </p:spTree>
    <p:extLst>
      <p:ext uri="{BB962C8B-B14F-4D97-AF65-F5344CB8AC3E}">
        <p14:creationId xmlns:p14="http://schemas.microsoft.com/office/powerpoint/2010/main" val="1809585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2A86B0FF-7DA3-4466-B71D-F69336C88C32}"/>
              </a:ext>
            </a:extLst>
          </p:cNvPr>
          <p:cNvSpPr>
            <a:spLocks noGrp="1"/>
          </p:cNvSpPr>
          <p:nvPr>
            <p:ph idx="1"/>
          </p:nvPr>
        </p:nvSpPr>
        <p:spPr>
          <a:xfrm>
            <a:off x="838200" y="1143000"/>
            <a:ext cx="10515600" cy="5469783"/>
          </a:xfrm>
        </p:spPr>
        <p:txBody>
          <a:bodyPr>
            <a:normAutofit lnSpcReduction="10000"/>
          </a:bodyPr>
          <a:lstStyle/>
          <a:p>
            <a:pPr marL="514350" indent="-514350" algn="r" rtl="1">
              <a:buFont typeface="+mj-lt"/>
              <a:buAutoNum type="arabicPeriod"/>
            </a:pPr>
            <a:r>
              <a:rPr lang="he-IL" dirty="0"/>
              <a:t>האם המטרות של האתר ברורות? (סולם 1-5, 5 הכי טוב)</a:t>
            </a:r>
          </a:p>
          <a:p>
            <a:pPr marL="514350" indent="-514350" algn="r" rtl="1">
              <a:buFont typeface="+mj-lt"/>
              <a:buAutoNum type="arabicPeriod"/>
            </a:pPr>
            <a:r>
              <a:rPr lang="he-IL" dirty="0"/>
              <a:t>האם האתר משיג את מטרתו?</a:t>
            </a:r>
          </a:p>
          <a:p>
            <a:pPr marL="514350" indent="-514350" algn="r" rtl="1">
              <a:buFont typeface="+mj-lt"/>
              <a:buAutoNum type="arabicPeriod"/>
            </a:pPr>
            <a:r>
              <a:rPr lang="he-IL" dirty="0"/>
              <a:t>האם הוא רלוונטי?</a:t>
            </a:r>
          </a:p>
          <a:p>
            <a:pPr marL="514350" indent="-514350" algn="r" rtl="1">
              <a:buFont typeface="+mj-lt"/>
              <a:buAutoNum type="arabicPeriod"/>
            </a:pPr>
            <a:r>
              <a:rPr lang="he-IL" dirty="0"/>
              <a:t>האם מציין מקורות מידע שהסתמכו עליהם?</a:t>
            </a:r>
          </a:p>
          <a:p>
            <a:pPr marL="514350" indent="-514350" algn="r" rtl="1">
              <a:buFont typeface="+mj-lt"/>
              <a:buAutoNum type="arabicPeriod"/>
            </a:pPr>
            <a:r>
              <a:rPr lang="he-IL" dirty="0"/>
              <a:t>האם ברור למתי המידע במסמך מעודכן?</a:t>
            </a:r>
          </a:p>
          <a:p>
            <a:pPr marL="514350" indent="-514350" algn="r" rtl="1">
              <a:buFont typeface="+mj-lt"/>
              <a:buAutoNum type="arabicPeriod"/>
            </a:pPr>
            <a:r>
              <a:rPr lang="he-IL" dirty="0"/>
              <a:t>האם המידע מוטה?</a:t>
            </a:r>
          </a:p>
          <a:p>
            <a:pPr marL="514350" indent="-514350" algn="r" rtl="1">
              <a:buFont typeface="+mj-lt"/>
              <a:buAutoNum type="arabicPeriod"/>
            </a:pPr>
            <a:r>
              <a:rPr lang="he-IL" dirty="0"/>
              <a:t>האם מספק מקורות מידע נוספים התומכים במידע המוצג?</a:t>
            </a:r>
          </a:p>
          <a:p>
            <a:pPr marL="514350" indent="-514350" algn="r" rtl="1">
              <a:buFont typeface="+mj-lt"/>
              <a:buAutoNum type="arabicPeriod"/>
            </a:pPr>
            <a:r>
              <a:rPr lang="he-IL" dirty="0"/>
              <a:t>האם יש התייחסות לנושאים שאינם חד משמעיים?</a:t>
            </a:r>
          </a:p>
          <a:p>
            <a:pPr algn="r" rtl="1"/>
            <a:endParaRPr lang="he-IL" dirty="0"/>
          </a:p>
          <a:p>
            <a:pPr algn="r" rtl="1"/>
            <a:r>
              <a:rPr lang="he-IL" dirty="0"/>
              <a:t>התרשמות כללית לגבי איכות המידע</a:t>
            </a:r>
          </a:p>
          <a:p>
            <a:pPr lvl="1" algn="r" rtl="1"/>
            <a:r>
              <a:rPr lang="he-IL" dirty="0"/>
              <a:t>נמוך, בינוני, גבוה</a:t>
            </a:r>
          </a:p>
          <a:p>
            <a:pPr marL="457200" lvl="1" indent="0" algn="r" rtl="1">
              <a:buNone/>
            </a:pPr>
            <a:endParaRPr lang="en-US" dirty="0"/>
          </a:p>
        </p:txBody>
      </p:sp>
      <p:sp>
        <p:nvSpPr>
          <p:cNvPr id="3" name="Title 2">
            <a:extLst>
              <a:ext uri="{FF2B5EF4-FFF2-40B4-BE49-F238E27FC236}">
                <a16:creationId xmlns:a16="http://schemas.microsoft.com/office/drawing/2014/main" id="{6BEA423F-71B2-49DF-9365-AD6DEF3E8F9E}"/>
              </a:ext>
            </a:extLst>
          </p:cNvPr>
          <p:cNvSpPr>
            <a:spLocks noGrp="1"/>
          </p:cNvSpPr>
          <p:nvPr>
            <p:ph type="title"/>
          </p:nvPr>
        </p:nvSpPr>
        <p:spPr>
          <a:xfrm>
            <a:off x="838200" y="365125"/>
            <a:ext cx="10515600" cy="777875"/>
          </a:xfrm>
        </p:spPr>
        <p:txBody>
          <a:bodyPr>
            <a:normAutofit fontScale="90000"/>
          </a:bodyPr>
          <a:lstStyle/>
          <a:p>
            <a:pPr algn="r" rtl="1"/>
            <a:r>
              <a:rPr lang="he-IL" sz="3600" dirty="0"/>
              <a:t>כלי להערכה – </a:t>
            </a:r>
            <a:r>
              <a:rPr lang="en-US" sz="2700" u="sng" dirty="0">
                <a:hlinkClick r:id="rId2"/>
              </a:rPr>
              <a:t>http://www.discern.org.uk/discern_instrument.php</a:t>
            </a:r>
            <a:br>
              <a:rPr lang="en-US" sz="2700" dirty="0"/>
            </a:br>
            <a:endParaRPr lang="en-US" sz="2700" dirty="0"/>
          </a:p>
        </p:txBody>
      </p:sp>
    </p:spTree>
    <p:extLst>
      <p:ext uri="{BB962C8B-B14F-4D97-AF65-F5344CB8AC3E}">
        <p14:creationId xmlns:p14="http://schemas.microsoft.com/office/powerpoint/2010/main" val="1536286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49A0EA-8C37-4622-9FA7-DE94212A1D78}"/>
              </a:ext>
            </a:extLst>
          </p:cNvPr>
          <p:cNvSpPr>
            <a:spLocks noGrp="1"/>
          </p:cNvSpPr>
          <p:nvPr>
            <p:ph idx="1"/>
          </p:nvPr>
        </p:nvSpPr>
        <p:spPr>
          <a:xfrm>
            <a:off x="838200" y="1361872"/>
            <a:ext cx="10515600" cy="4815091"/>
          </a:xfrm>
        </p:spPr>
        <p:txBody>
          <a:bodyPr/>
          <a:lstStyle/>
          <a:p>
            <a:pPr algn="r" rtl="1"/>
            <a:r>
              <a:rPr lang="he-IL" dirty="0"/>
              <a:t>מאגרי מידע משפטיים</a:t>
            </a:r>
          </a:p>
          <a:p>
            <a:pPr lvl="1" algn="r" rtl="1"/>
            <a:r>
              <a:rPr lang="he-IL" dirty="0"/>
              <a:t>נבו, </a:t>
            </a:r>
            <a:r>
              <a:rPr lang="he-IL" dirty="0" err="1"/>
              <a:t>תקדין</a:t>
            </a:r>
            <a:r>
              <a:rPr lang="he-IL" dirty="0"/>
              <a:t>,</a:t>
            </a:r>
            <a:r>
              <a:rPr lang="en-US" dirty="0"/>
              <a:t> </a:t>
            </a:r>
            <a:r>
              <a:rPr lang="he-IL" dirty="0" err="1"/>
              <a:t>פדאור</a:t>
            </a:r>
            <a:endParaRPr lang="he-IL" dirty="0"/>
          </a:p>
          <a:p>
            <a:pPr lvl="1" algn="r" rtl="1"/>
            <a:r>
              <a:rPr lang="he-IL" dirty="0"/>
              <a:t>דוגמה לחיפוש בנבו</a:t>
            </a:r>
          </a:p>
          <a:p>
            <a:pPr lvl="1" algn="r" rtl="1"/>
            <a:endParaRPr lang="en-US" dirty="0"/>
          </a:p>
        </p:txBody>
      </p:sp>
      <p:sp>
        <p:nvSpPr>
          <p:cNvPr id="3" name="Title 2">
            <a:extLst>
              <a:ext uri="{FF2B5EF4-FFF2-40B4-BE49-F238E27FC236}">
                <a16:creationId xmlns:a16="http://schemas.microsoft.com/office/drawing/2014/main" id="{20419342-03B5-4D9E-9789-FAADB0D86896}"/>
              </a:ext>
            </a:extLst>
          </p:cNvPr>
          <p:cNvSpPr>
            <a:spLocks noGrp="1"/>
          </p:cNvSpPr>
          <p:nvPr>
            <p:ph type="title"/>
          </p:nvPr>
        </p:nvSpPr>
        <p:spPr>
          <a:xfrm>
            <a:off x="838200" y="219210"/>
            <a:ext cx="10515600" cy="1006475"/>
          </a:xfrm>
        </p:spPr>
        <p:txBody>
          <a:bodyPr>
            <a:normAutofit/>
          </a:bodyPr>
          <a:lstStyle/>
          <a:p>
            <a:pPr algn="r" rtl="1"/>
            <a:r>
              <a:rPr lang="he-IL" sz="3400" dirty="0"/>
              <a:t>דוגמאות למאגרי מידע/מקורות מידע נגישים דרך הרשת</a:t>
            </a:r>
            <a:endParaRPr lang="en-US" sz="3400" dirty="0"/>
          </a:p>
        </p:txBody>
      </p:sp>
      <p:pic>
        <p:nvPicPr>
          <p:cNvPr id="4" name="Picture 3">
            <a:extLst>
              <a:ext uri="{FF2B5EF4-FFF2-40B4-BE49-F238E27FC236}">
                <a16:creationId xmlns:a16="http://schemas.microsoft.com/office/drawing/2014/main" id="{2A9DA8F0-A7CC-496E-AA68-102D667E540E}"/>
              </a:ext>
            </a:extLst>
          </p:cNvPr>
          <p:cNvPicPr>
            <a:picLocks noChangeAspect="1"/>
          </p:cNvPicPr>
          <p:nvPr/>
        </p:nvPicPr>
        <p:blipFill>
          <a:blip r:embed="rId2"/>
          <a:stretch>
            <a:fillRect/>
          </a:stretch>
        </p:blipFill>
        <p:spPr>
          <a:xfrm>
            <a:off x="1457325" y="2711348"/>
            <a:ext cx="9277350" cy="428625"/>
          </a:xfrm>
          <a:prstGeom prst="rect">
            <a:avLst/>
          </a:prstGeom>
        </p:spPr>
      </p:pic>
      <p:pic>
        <p:nvPicPr>
          <p:cNvPr id="5" name="Picture 4">
            <a:extLst>
              <a:ext uri="{FF2B5EF4-FFF2-40B4-BE49-F238E27FC236}">
                <a16:creationId xmlns:a16="http://schemas.microsoft.com/office/drawing/2014/main" id="{A8D4E7BA-75C2-44EC-A598-3F679916B75E}"/>
              </a:ext>
            </a:extLst>
          </p:cNvPr>
          <p:cNvPicPr>
            <a:picLocks noChangeAspect="1"/>
          </p:cNvPicPr>
          <p:nvPr/>
        </p:nvPicPr>
        <p:blipFill>
          <a:blip r:embed="rId3"/>
          <a:stretch>
            <a:fillRect/>
          </a:stretch>
        </p:blipFill>
        <p:spPr>
          <a:xfrm>
            <a:off x="1800488" y="3635273"/>
            <a:ext cx="8305800" cy="695325"/>
          </a:xfrm>
          <a:prstGeom prst="rect">
            <a:avLst/>
          </a:prstGeom>
        </p:spPr>
      </p:pic>
      <p:pic>
        <p:nvPicPr>
          <p:cNvPr id="6" name="Picture 5">
            <a:extLst>
              <a:ext uri="{FF2B5EF4-FFF2-40B4-BE49-F238E27FC236}">
                <a16:creationId xmlns:a16="http://schemas.microsoft.com/office/drawing/2014/main" id="{41F3A9B1-85DD-4857-B685-2800A52264A2}"/>
              </a:ext>
            </a:extLst>
          </p:cNvPr>
          <p:cNvPicPr>
            <a:picLocks noChangeAspect="1"/>
          </p:cNvPicPr>
          <p:nvPr/>
        </p:nvPicPr>
        <p:blipFill>
          <a:blip r:embed="rId4"/>
          <a:stretch>
            <a:fillRect/>
          </a:stretch>
        </p:blipFill>
        <p:spPr>
          <a:xfrm>
            <a:off x="8210550" y="3139973"/>
            <a:ext cx="2524125" cy="495300"/>
          </a:xfrm>
          <a:prstGeom prst="rect">
            <a:avLst/>
          </a:prstGeom>
        </p:spPr>
      </p:pic>
      <p:pic>
        <p:nvPicPr>
          <p:cNvPr id="7" name="Picture 6">
            <a:extLst>
              <a:ext uri="{FF2B5EF4-FFF2-40B4-BE49-F238E27FC236}">
                <a16:creationId xmlns:a16="http://schemas.microsoft.com/office/drawing/2014/main" id="{BC8EEFE3-7018-4C30-9635-6A97F01D3310}"/>
              </a:ext>
            </a:extLst>
          </p:cNvPr>
          <p:cNvPicPr>
            <a:picLocks noChangeAspect="1"/>
          </p:cNvPicPr>
          <p:nvPr/>
        </p:nvPicPr>
        <p:blipFill>
          <a:blip r:embed="rId5"/>
          <a:stretch>
            <a:fillRect/>
          </a:stretch>
        </p:blipFill>
        <p:spPr>
          <a:xfrm>
            <a:off x="1838588" y="4362010"/>
            <a:ext cx="8267700" cy="209550"/>
          </a:xfrm>
          <a:prstGeom prst="rect">
            <a:avLst/>
          </a:prstGeom>
        </p:spPr>
      </p:pic>
      <p:pic>
        <p:nvPicPr>
          <p:cNvPr id="8" name="Picture 7">
            <a:extLst>
              <a:ext uri="{FF2B5EF4-FFF2-40B4-BE49-F238E27FC236}">
                <a16:creationId xmlns:a16="http://schemas.microsoft.com/office/drawing/2014/main" id="{EB1096F5-A632-4AD4-8499-E4F9332A6446}"/>
              </a:ext>
            </a:extLst>
          </p:cNvPr>
          <p:cNvPicPr>
            <a:picLocks noChangeAspect="1"/>
          </p:cNvPicPr>
          <p:nvPr/>
        </p:nvPicPr>
        <p:blipFill>
          <a:blip r:embed="rId6"/>
          <a:stretch>
            <a:fillRect/>
          </a:stretch>
        </p:blipFill>
        <p:spPr>
          <a:xfrm>
            <a:off x="1838588" y="4659886"/>
            <a:ext cx="8305800" cy="714375"/>
          </a:xfrm>
          <a:prstGeom prst="rect">
            <a:avLst/>
          </a:prstGeom>
        </p:spPr>
      </p:pic>
      <p:pic>
        <p:nvPicPr>
          <p:cNvPr id="9" name="Picture 8">
            <a:extLst>
              <a:ext uri="{FF2B5EF4-FFF2-40B4-BE49-F238E27FC236}">
                <a16:creationId xmlns:a16="http://schemas.microsoft.com/office/drawing/2014/main" id="{8464D254-F207-4D3E-8448-3B8F87A5F641}"/>
              </a:ext>
            </a:extLst>
          </p:cNvPr>
          <p:cNvPicPr>
            <a:picLocks noChangeAspect="1"/>
          </p:cNvPicPr>
          <p:nvPr/>
        </p:nvPicPr>
        <p:blipFill>
          <a:blip r:embed="rId7"/>
          <a:stretch>
            <a:fillRect/>
          </a:stretch>
        </p:blipFill>
        <p:spPr>
          <a:xfrm>
            <a:off x="1786200" y="5388492"/>
            <a:ext cx="8372475" cy="209550"/>
          </a:xfrm>
          <a:prstGeom prst="rect">
            <a:avLst/>
          </a:prstGeom>
        </p:spPr>
      </p:pic>
      <p:pic>
        <p:nvPicPr>
          <p:cNvPr id="10" name="Picture 9">
            <a:extLst>
              <a:ext uri="{FF2B5EF4-FFF2-40B4-BE49-F238E27FC236}">
                <a16:creationId xmlns:a16="http://schemas.microsoft.com/office/drawing/2014/main" id="{601832E2-BD88-471E-8FC0-BAC500858364}"/>
              </a:ext>
            </a:extLst>
          </p:cNvPr>
          <p:cNvPicPr>
            <a:picLocks noChangeAspect="1"/>
          </p:cNvPicPr>
          <p:nvPr/>
        </p:nvPicPr>
        <p:blipFill>
          <a:blip r:embed="rId8"/>
          <a:stretch>
            <a:fillRect/>
          </a:stretch>
        </p:blipFill>
        <p:spPr>
          <a:xfrm>
            <a:off x="1838588" y="5646399"/>
            <a:ext cx="8305800" cy="752475"/>
          </a:xfrm>
          <a:prstGeom prst="rect">
            <a:avLst/>
          </a:prstGeom>
        </p:spPr>
      </p:pic>
      <p:pic>
        <p:nvPicPr>
          <p:cNvPr id="11" name="Picture 10">
            <a:extLst>
              <a:ext uri="{FF2B5EF4-FFF2-40B4-BE49-F238E27FC236}">
                <a16:creationId xmlns:a16="http://schemas.microsoft.com/office/drawing/2014/main" id="{DD283EAF-B19D-4526-83CC-A21D4D1B2DD8}"/>
              </a:ext>
            </a:extLst>
          </p:cNvPr>
          <p:cNvPicPr>
            <a:picLocks noChangeAspect="1"/>
          </p:cNvPicPr>
          <p:nvPr/>
        </p:nvPicPr>
        <p:blipFill>
          <a:blip r:embed="rId9"/>
          <a:stretch>
            <a:fillRect/>
          </a:stretch>
        </p:blipFill>
        <p:spPr>
          <a:xfrm>
            <a:off x="1838588" y="6426189"/>
            <a:ext cx="8239125" cy="219075"/>
          </a:xfrm>
          <a:prstGeom prst="rect">
            <a:avLst/>
          </a:prstGeom>
        </p:spPr>
      </p:pic>
    </p:spTree>
    <p:extLst>
      <p:ext uri="{BB962C8B-B14F-4D97-AF65-F5344CB8AC3E}">
        <p14:creationId xmlns:p14="http://schemas.microsoft.com/office/powerpoint/2010/main" val="553054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DCA139D-5EBC-444B-A1ED-6B72A60EE6E4}"/>
              </a:ext>
            </a:extLst>
          </p:cNvPr>
          <p:cNvPicPr>
            <a:picLocks noGrp="1" noChangeAspect="1"/>
          </p:cNvPicPr>
          <p:nvPr>
            <p:ph idx="1"/>
          </p:nvPr>
        </p:nvPicPr>
        <p:blipFill>
          <a:blip r:embed="rId2"/>
          <a:stretch>
            <a:fillRect/>
          </a:stretch>
        </p:blipFill>
        <p:spPr>
          <a:xfrm>
            <a:off x="2134304" y="1582144"/>
            <a:ext cx="7873762" cy="4868990"/>
          </a:xfrm>
          <a:prstGeom prst="rect">
            <a:avLst/>
          </a:prstGeom>
        </p:spPr>
      </p:pic>
      <p:sp>
        <p:nvSpPr>
          <p:cNvPr id="3" name="Title 2">
            <a:extLst>
              <a:ext uri="{FF2B5EF4-FFF2-40B4-BE49-F238E27FC236}">
                <a16:creationId xmlns:a16="http://schemas.microsoft.com/office/drawing/2014/main" id="{E0EC8882-8D17-4150-989C-4F3611F1A603}"/>
              </a:ext>
            </a:extLst>
          </p:cNvPr>
          <p:cNvSpPr>
            <a:spLocks noGrp="1"/>
          </p:cNvSpPr>
          <p:nvPr>
            <p:ph type="title"/>
          </p:nvPr>
        </p:nvSpPr>
        <p:spPr>
          <a:xfrm>
            <a:off x="813385" y="0"/>
            <a:ext cx="10515600" cy="1325563"/>
          </a:xfrm>
        </p:spPr>
        <p:txBody>
          <a:bodyPr/>
          <a:lstStyle/>
          <a:p>
            <a:pPr algn="ctr" rtl="1"/>
            <a:r>
              <a:rPr lang="he-IL" dirty="0"/>
              <a:t>מאגר פרסומים בעברית – מפתח חיפה</a:t>
            </a:r>
            <a:endParaRPr lang="en-US" dirty="0"/>
          </a:p>
        </p:txBody>
      </p:sp>
    </p:spTree>
    <p:extLst>
      <p:ext uri="{BB962C8B-B14F-4D97-AF65-F5344CB8AC3E}">
        <p14:creationId xmlns:p14="http://schemas.microsoft.com/office/powerpoint/2010/main" val="10018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B740C4-68C9-43EE-A7E9-E286DDCC2F6F}"/>
              </a:ext>
            </a:extLst>
          </p:cNvPr>
          <p:cNvSpPr>
            <a:spLocks noGrp="1"/>
          </p:cNvSpPr>
          <p:nvPr>
            <p:ph idx="1"/>
          </p:nvPr>
        </p:nvSpPr>
        <p:spPr>
          <a:xfrm>
            <a:off x="838200" y="1825624"/>
            <a:ext cx="10515600" cy="4877179"/>
          </a:xfrm>
        </p:spPr>
        <p:txBody>
          <a:bodyPr/>
          <a:lstStyle/>
          <a:p>
            <a:pPr algn="r" rtl="1"/>
            <a:endParaRPr lang="en-US" dirty="0"/>
          </a:p>
          <a:p>
            <a:pPr algn="r" rtl="1"/>
            <a:endParaRPr lang="en-US" dirty="0"/>
          </a:p>
          <a:p>
            <a:pPr algn="r" rtl="1"/>
            <a:endParaRPr lang="en-US" dirty="0"/>
          </a:p>
          <a:p>
            <a:pPr algn="r" rtl="1"/>
            <a:endParaRPr lang="en-US" dirty="0"/>
          </a:p>
          <a:p>
            <a:pPr algn="r" rtl="1"/>
            <a:r>
              <a:rPr lang="en-US" sz="2000" dirty="0"/>
              <a:t>https://www.ssrn.com/en/index.cfm/hrn/</a:t>
            </a:r>
          </a:p>
          <a:p>
            <a:pPr algn="r" rtl="1"/>
            <a:endParaRPr lang="en-US" dirty="0"/>
          </a:p>
        </p:txBody>
      </p:sp>
      <p:sp>
        <p:nvSpPr>
          <p:cNvPr id="3" name="Title 2">
            <a:extLst>
              <a:ext uri="{FF2B5EF4-FFF2-40B4-BE49-F238E27FC236}">
                <a16:creationId xmlns:a16="http://schemas.microsoft.com/office/drawing/2014/main" id="{7F49CB03-FFD4-4B20-8708-64B688BBB7AE}"/>
              </a:ext>
            </a:extLst>
          </p:cNvPr>
          <p:cNvSpPr>
            <a:spLocks noGrp="1"/>
          </p:cNvSpPr>
          <p:nvPr>
            <p:ph type="title"/>
          </p:nvPr>
        </p:nvSpPr>
        <p:spPr>
          <a:xfrm>
            <a:off x="838200" y="205734"/>
            <a:ext cx="10515600" cy="1052615"/>
          </a:xfrm>
        </p:spPr>
        <p:txBody>
          <a:bodyPr>
            <a:normAutofit fontScale="90000"/>
          </a:bodyPr>
          <a:lstStyle/>
          <a:p>
            <a:pPr algn="ctr" rtl="1"/>
            <a:r>
              <a:rPr lang="he-IL" dirty="0"/>
              <a:t>פרסומים בעברית במאגר בינלאומי </a:t>
            </a:r>
            <a:r>
              <a:rPr lang="en-US" dirty="0"/>
              <a:t>SSRN/HRN</a:t>
            </a:r>
            <a:br>
              <a:rPr lang="he-IL" dirty="0"/>
            </a:br>
            <a:r>
              <a:rPr lang="en-US" dirty="0"/>
              <a:t>HRN – Hebrew Research Network</a:t>
            </a:r>
          </a:p>
        </p:txBody>
      </p:sp>
      <p:pic>
        <p:nvPicPr>
          <p:cNvPr id="4" name="Picture 3">
            <a:extLst>
              <a:ext uri="{FF2B5EF4-FFF2-40B4-BE49-F238E27FC236}">
                <a16:creationId xmlns:a16="http://schemas.microsoft.com/office/drawing/2014/main" id="{FFE7391B-BAF9-408C-926F-EB335402A334}"/>
              </a:ext>
            </a:extLst>
          </p:cNvPr>
          <p:cNvPicPr>
            <a:picLocks noChangeAspect="1"/>
          </p:cNvPicPr>
          <p:nvPr/>
        </p:nvPicPr>
        <p:blipFill>
          <a:blip r:embed="rId2"/>
          <a:stretch>
            <a:fillRect/>
          </a:stretch>
        </p:blipFill>
        <p:spPr>
          <a:xfrm>
            <a:off x="3585769" y="1825625"/>
            <a:ext cx="6362700" cy="1590675"/>
          </a:xfrm>
          <a:prstGeom prst="rect">
            <a:avLst/>
          </a:prstGeom>
        </p:spPr>
      </p:pic>
      <p:pic>
        <p:nvPicPr>
          <p:cNvPr id="5" name="Picture 4">
            <a:extLst>
              <a:ext uri="{FF2B5EF4-FFF2-40B4-BE49-F238E27FC236}">
                <a16:creationId xmlns:a16="http://schemas.microsoft.com/office/drawing/2014/main" id="{1E870B1F-2F07-4642-BB5B-8E16DB4057D7}"/>
              </a:ext>
            </a:extLst>
          </p:cNvPr>
          <p:cNvPicPr>
            <a:picLocks noChangeAspect="1"/>
          </p:cNvPicPr>
          <p:nvPr/>
        </p:nvPicPr>
        <p:blipFill>
          <a:blip r:embed="rId3"/>
          <a:stretch>
            <a:fillRect/>
          </a:stretch>
        </p:blipFill>
        <p:spPr>
          <a:xfrm>
            <a:off x="1207665" y="1958218"/>
            <a:ext cx="2209800" cy="3562350"/>
          </a:xfrm>
          <a:prstGeom prst="rect">
            <a:avLst/>
          </a:prstGeom>
        </p:spPr>
      </p:pic>
      <p:pic>
        <p:nvPicPr>
          <p:cNvPr id="7" name="Picture 6">
            <a:extLst>
              <a:ext uri="{FF2B5EF4-FFF2-40B4-BE49-F238E27FC236}">
                <a16:creationId xmlns:a16="http://schemas.microsoft.com/office/drawing/2014/main" id="{0E7CF7ED-B936-4F3F-AF8E-0D35EEE21439}"/>
              </a:ext>
            </a:extLst>
          </p:cNvPr>
          <p:cNvPicPr>
            <a:picLocks noChangeAspect="1"/>
          </p:cNvPicPr>
          <p:nvPr/>
        </p:nvPicPr>
        <p:blipFill>
          <a:blip r:embed="rId4"/>
          <a:stretch>
            <a:fillRect/>
          </a:stretch>
        </p:blipFill>
        <p:spPr>
          <a:xfrm>
            <a:off x="4038600" y="4444243"/>
            <a:ext cx="7315200" cy="2152650"/>
          </a:xfrm>
          <a:prstGeom prst="rect">
            <a:avLst/>
          </a:prstGeom>
        </p:spPr>
      </p:pic>
    </p:spTree>
    <p:extLst>
      <p:ext uri="{BB962C8B-B14F-4D97-AF65-F5344CB8AC3E}">
        <p14:creationId xmlns:p14="http://schemas.microsoft.com/office/powerpoint/2010/main" val="344206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0E46727-BE59-44BC-A89B-5035610CFD94}"/>
              </a:ext>
            </a:extLst>
          </p:cNvPr>
          <p:cNvPicPr>
            <a:picLocks noGrp="1" noChangeAspect="1"/>
          </p:cNvPicPr>
          <p:nvPr>
            <p:ph idx="1"/>
          </p:nvPr>
        </p:nvPicPr>
        <p:blipFill>
          <a:blip r:embed="rId2"/>
          <a:stretch>
            <a:fillRect/>
          </a:stretch>
        </p:blipFill>
        <p:spPr>
          <a:xfrm>
            <a:off x="1316477" y="1872587"/>
            <a:ext cx="10037323" cy="4301710"/>
          </a:xfrm>
          <a:prstGeom prst="rect">
            <a:avLst/>
          </a:prstGeom>
        </p:spPr>
      </p:pic>
      <p:sp>
        <p:nvSpPr>
          <p:cNvPr id="3" name="Title 2">
            <a:extLst>
              <a:ext uri="{FF2B5EF4-FFF2-40B4-BE49-F238E27FC236}">
                <a16:creationId xmlns:a16="http://schemas.microsoft.com/office/drawing/2014/main" id="{A75FBBD5-45B6-4844-BCC1-9295049B14EA}"/>
              </a:ext>
            </a:extLst>
          </p:cNvPr>
          <p:cNvSpPr>
            <a:spLocks noGrp="1"/>
          </p:cNvSpPr>
          <p:nvPr>
            <p:ph type="title"/>
          </p:nvPr>
        </p:nvSpPr>
        <p:spPr/>
        <p:txBody>
          <a:bodyPr/>
          <a:lstStyle/>
          <a:p>
            <a:pPr algn="ctr" rtl="1"/>
            <a:r>
              <a:rPr lang="he-IL" dirty="0"/>
              <a:t>הלשכה המרכזית לסטטיסטיקה (</a:t>
            </a:r>
            <a:r>
              <a:rPr lang="he-IL" dirty="0" err="1"/>
              <a:t>למ"ס</a:t>
            </a:r>
            <a:r>
              <a:rPr lang="he-IL" dirty="0"/>
              <a:t>)</a:t>
            </a:r>
            <a:endParaRPr lang="en-US" dirty="0"/>
          </a:p>
        </p:txBody>
      </p:sp>
    </p:spTree>
    <p:extLst>
      <p:ext uri="{BB962C8B-B14F-4D97-AF65-F5344CB8AC3E}">
        <p14:creationId xmlns:p14="http://schemas.microsoft.com/office/powerpoint/2010/main" val="229986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508CB72-774F-40D7-98C1-1770FDF63201}"/>
              </a:ext>
            </a:extLst>
          </p:cNvPr>
          <p:cNvPicPr>
            <a:picLocks noGrp="1" noChangeAspect="1"/>
          </p:cNvPicPr>
          <p:nvPr>
            <p:ph idx="1"/>
          </p:nvPr>
        </p:nvPicPr>
        <p:blipFill>
          <a:blip r:embed="rId2"/>
          <a:stretch>
            <a:fillRect/>
          </a:stretch>
        </p:blipFill>
        <p:spPr>
          <a:xfrm>
            <a:off x="2593704" y="1825625"/>
            <a:ext cx="7004592" cy="4351338"/>
          </a:xfrm>
          <a:prstGeom prst="rect">
            <a:avLst/>
          </a:prstGeom>
        </p:spPr>
      </p:pic>
      <p:sp>
        <p:nvSpPr>
          <p:cNvPr id="3" name="Title 2">
            <a:extLst>
              <a:ext uri="{FF2B5EF4-FFF2-40B4-BE49-F238E27FC236}">
                <a16:creationId xmlns:a16="http://schemas.microsoft.com/office/drawing/2014/main" id="{FE95D829-D122-4CA4-B0BF-83F8000E01CA}"/>
              </a:ext>
            </a:extLst>
          </p:cNvPr>
          <p:cNvSpPr>
            <a:spLocks noGrp="1"/>
          </p:cNvSpPr>
          <p:nvPr>
            <p:ph type="title"/>
          </p:nvPr>
        </p:nvSpPr>
        <p:spPr/>
        <p:txBody>
          <a:bodyPr/>
          <a:lstStyle/>
          <a:p>
            <a:r>
              <a:rPr lang="en-US" dirty="0"/>
              <a:t>OECD -</a:t>
            </a:r>
            <a:r>
              <a:rPr lang="en-US" dirty="0" err="1"/>
              <a:t>iLibrary</a:t>
            </a:r>
            <a:endParaRPr lang="en-US" dirty="0"/>
          </a:p>
        </p:txBody>
      </p:sp>
    </p:spTree>
    <p:extLst>
      <p:ext uri="{BB962C8B-B14F-4D97-AF65-F5344CB8AC3E}">
        <p14:creationId xmlns:p14="http://schemas.microsoft.com/office/powerpoint/2010/main" val="819748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6C45EC-7F79-432C-8B0D-87A4563754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62275" y="805343"/>
            <a:ext cx="3928614" cy="4992614"/>
          </a:xfrm>
          <a:prstGeom prst="rect">
            <a:avLst/>
          </a:prstGeom>
        </p:spPr>
      </p:pic>
    </p:spTree>
    <p:extLst>
      <p:ext uri="{BB962C8B-B14F-4D97-AF65-F5344CB8AC3E}">
        <p14:creationId xmlns:p14="http://schemas.microsoft.com/office/powerpoint/2010/main" val="267514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resentation level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1">
          <a:schemeClr val="accent3"/>
        </a:lnRef>
        <a:fillRef idx="2">
          <a:schemeClr val="accent3"/>
        </a:fillRef>
        <a:effectRef idx="1">
          <a:schemeClr val="accent3"/>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tx2">
              <a:lumMod val="20000"/>
              <a:lumOff val="80000"/>
            </a:schemeClr>
          </a:solidFill>
        </a:ln>
      </a:spPr>
      <a:bodyPr wrap="none" rtlCol="0">
        <a:spAutoFit/>
      </a:bodyPr>
      <a:lstStyle>
        <a:defPPr>
          <a:defRPr dirty="0" err="1" smtClean="0">
            <a:ln>
              <a:solidFill>
                <a:schemeClr val="accent1">
                  <a:lumMod val="20000"/>
                  <a:lumOff val="80000"/>
                </a:schemeClr>
              </a:solidFill>
            </a:ln>
          </a:defRPr>
        </a:defPPr>
      </a:lstStyle>
    </a:txDef>
  </a:objectDefaults>
  <a:extraClrSchemeLst/>
  <a:extLst>
    <a:ext uri="{05A4C25C-085E-4340-85A3-A5531E510DB2}">
      <thm15:themeFamily xmlns:thm15="http://schemas.microsoft.com/office/thememl/2012/main" name="Presentation level design" id="{00E2FDB5-77A3-416C-8232-A2B8AB0B9A01}" vid="{6E3E8A63-E899-4F92-AFE5-C80B3CCFC0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163AA760-FEA7-44E2-BB85-0893DB8CD7D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Presentation design slides (Level design)</Template>
  <TotalTime>0</TotalTime>
  <Words>614</Words>
  <Application>Microsoft Office PowerPoint</Application>
  <PresentationFormat>Widescreen</PresentationFormat>
  <Paragraphs>152</Paragraphs>
  <Slides>30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Century Gothic</vt:lpstr>
      <vt:lpstr>Gisha</vt:lpstr>
      <vt:lpstr>Times New Roman</vt:lpstr>
      <vt:lpstr>Wingdings</vt:lpstr>
      <vt:lpstr>Presentation level design</vt:lpstr>
      <vt:lpstr>מידע ואינטרנט</vt:lpstr>
      <vt:lpstr>נושאי ההרצאה</vt:lpstr>
      <vt:lpstr>איתור מידע</vt:lpstr>
      <vt:lpstr>איתור מידע</vt:lpstr>
      <vt:lpstr>חיפושי מידע ברשת האינטרנט </vt:lpstr>
      <vt:lpstr>חיפוש מידע טקסטואלי באמצעות Google</vt:lpstr>
      <vt:lpstr>המשך Google</vt:lpstr>
      <vt:lpstr>PowerPoint Presentation</vt:lpstr>
      <vt:lpstr>PowerPoint Presentation</vt:lpstr>
      <vt:lpstr>חיפוש מתקדם</vt:lpstr>
      <vt:lpstr>תוצאות ממומנות לעומת תוצאות אורגניות</vt:lpstr>
      <vt:lpstr>חיפוש בעברית</vt:lpstr>
      <vt:lpstr>סוגי חיפוש נוספים ב Google</vt:lpstr>
      <vt:lpstr>news.google.co.ilחיפוש חדשות </vt:lpstr>
      <vt:lpstr>PowerPoint Presentation</vt:lpstr>
      <vt:lpstr>Bing</vt:lpstr>
      <vt:lpstr>מנוע חיפוש לפרסומים מדעיים – Google Scholar</vt:lpstr>
      <vt:lpstr>ויקיפדיה</vt:lpstr>
      <vt:lpstr>The Internet Archive – archive.org Wayback Machine</vt:lpstr>
      <vt:lpstr>PowerPoint Presentation</vt:lpstr>
      <vt:lpstr>הערכת מידע והערכת כלי חיפוש</vt:lpstr>
      <vt:lpstr>הערכת תוצאות החיפוש</vt:lpstr>
      <vt:lpstr>הערכה סובייקטיבית של מחפש המידע</vt:lpstr>
      <vt:lpstr>כלי להערכה – http://www.discern.org.uk/discern_instrument.php </vt:lpstr>
      <vt:lpstr>דוגמאות למאגרי מידע/מקורות מידע נגישים דרך הרשת</vt:lpstr>
      <vt:lpstr>מאגר פרסומים בעברית – מפתח חיפה</vt:lpstr>
      <vt:lpstr>פרסומים בעברית במאגר בינלאומי SSRN/HRN HRN – Hebrew Research Network</vt:lpstr>
      <vt:lpstr>הלשכה המרכזית לסטטיסטיקה (למ"ס)</vt:lpstr>
      <vt:lpstr>OECD -iLibrary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2018-02-18T14:28:26Z</dcterms:created>
  <dcterms:modified xsi:type="dcterms:W3CDTF">2018-02-22T07:01:09Z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TC034605409991</vt:lpwstr>
  </property>
</Properties>
</file>