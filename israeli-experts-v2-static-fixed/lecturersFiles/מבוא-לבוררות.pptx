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32" r:id="rId1"/>
  </p:sldMasterIdLst>
  <p:notesMasterIdLst>
    <p:notesMasterId r:id="rId48"/>
  </p:notesMasterIdLst>
  <p:sldIdLst>
    <p:sldId id="257" r:id="rId2"/>
    <p:sldId id="258" r:id="rId3"/>
    <p:sldId id="272" r:id="rId4"/>
    <p:sldId id="259" r:id="rId5"/>
    <p:sldId id="260" r:id="rId6"/>
    <p:sldId id="270" r:id="rId7"/>
    <p:sldId id="274" r:id="rId8"/>
    <p:sldId id="342" r:id="rId9"/>
    <p:sldId id="275" r:id="rId10"/>
    <p:sldId id="276" r:id="rId11"/>
    <p:sldId id="321" r:id="rId12"/>
    <p:sldId id="325" r:id="rId13"/>
    <p:sldId id="326" r:id="rId14"/>
    <p:sldId id="322" r:id="rId15"/>
    <p:sldId id="324" r:id="rId16"/>
    <p:sldId id="323" r:id="rId17"/>
    <p:sldId id="329" r:id="rId18"/>
    <p:sldId id="261" r:id="rId19"/>
    <p:sldId id="271" r:id="rId20"/>
    <p:sldId id="266" r:id="rId21"/>
    <p:sldId id="263" r:id="rId22"/>
    <p:sldId id="264" r:id="rId23"/>
    <p:sldId id="265" r:id="rId24"/>
    <p:sldId id="267" r:id="rId25"/>
    <p:sldId id="268" r:id="rId26"/>
    <p:sldId id="269" r:id="rId27"/>
    <p:sldId id="273" r:id="rId28"/>
    <p:sldId id="277" r:id="rId29"/>
    <p:sldId id="278" r:id="rId30"/>
    <p:sldId id="279" r:id="rId31"/>
    <p:sldId id="280" r:id="rId32"/>
    <p:sldId id="281" r:id="rId33"/>
    <p:sldId id="299" r:id="rId34"/>
    <p:sldId id="298" r:id="rId35"/>
    <p:sldId id="330" r:id="rId36"/>
    <p:sldId id="331" r:id="rId37"/>
    <p:sldId id="333" r:id="rId38"/>
    <p:sldId id="334" r:id="rId39"/>
    <p:sldId id="335" r:id="rId40"/>
    <p:sldId id="336" r:id="rId41"/>
    <p:sldId id="337" r:id="rId42"/>
    <p:sldId id="339" r:id="rId43"/>
    <p:sldId id="338" r:id="rId44"/>
    <p:sldId id="340" r:id="rId45"/>
    <p:sldId id="343" r:id="rId46"/>
    <p:sldId id="341" r:id="rId47"/>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דרורה פלפל" initials="דפ" lastIdx="1" clrIdx="0">
    <p:extLst>
      <p:ext uri="{19B8F6BF-5375-455C-9EA6-DF929625EA0E}">
        <p15:presenceInfo xmlns:p15="http://schemas.microsoft.com/office/powerpoint/2012/main" userId="332f7b1f3f62d38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94660"/>
  </p:normalViewPr>
  <p:slideViewPr>
    <p:cSldViewPr snapToGrid="0">
      <p:cViewPr varScale="1">
        <p:scale>
          <a:sx n="71" d="100"/>
          <a:sy n="71" d="100"/>
        </p:scale>
        <p:origin x="37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70B1209A-330A-43CF-A566-09CB5FB786FF}" type="datetimeFigureOut">
              <a:rPr lang="he-IL" smtClean="0"/>
              <a:t>י"ח/טבת/תשע"ח</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36D37AC7-0DC2-4CF6-AC5C-E992A829D0CF}" type="slidenum">
              <a:rPr lang="he-IL" smtClean="0"/>
              <a:t>‹#›</a:t>
            </a:fld>
            <a:endParaRPr lang="he-IL"/>
          </a:p>
        </p:txBody>
      </p:sp>
    </p:spTree>
    <p:extLst>
      <p:ext uri="{BB962C8B-B14F-4D97-AF65-F5344CB8AC3E}">
        <p14:creationId xmlns:p14="http://schemas.microsoft.com/office/powerpoint/2010/main" val="203518218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36D37AC7-0DC2-4CF6-AC5C-E992A829D0CF}" type="slidenum">
              <a:rPr lang="he-IL" smtClean="0"/>
              <a:t>1</a:t>
            </a:fld>
            <a:endParaRPr lang="he-IL"/>
          </a:p>
        </p:txBody>
      </p:sp>
    </p:spTree>
    <p:extLst>
      <p:ext uri="{BB962C8B-B14F-4D97-AF65-F5344CB8AC3E}">
        <p14:creationId xmlns:p14="http://schemas.microsoft.com/office/powerpoint/2010/main" val="19349825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he-IL" smtClean="0"/>
              <a:t>לחץ כדי לערוך סגנון כותרת של תבנית בסיס</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smtClean="0"/>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pPr lvl="0"/>
            <a:r>
              <a:rPr lang="he-IL" smtClean="0"/>
              <a:t>ט"ו/כסלו/תשע"ח</a:t>
            </a:r>
            <a:endParaRPr lang="he-IL"/>
          </a:p>
        </p:txBody>
      </p:sp>
      <p:sp>
        <p:nvSpPr>
          <p:cNvPr id="5" name="Footer Placeholder 4"/>
          <p:cNvSpPr>
            <a:spLocks noGrp="1"/>
          </p:cNvSpPr>
          <p:nvPr>
            <p:ph type="ftr" sz="quarter" idx="11"/>
          </p:nvPr>
        </p:nvSpPr>
        <p:spPr/>
        <p:txBody>
          <a:bodyPr/>
          <a:lstStyle/>
          <a:p>
            <a:pPr lvl="0"/>
            <a:endParaRPr lang="he-IL"/>
          </a:p>
        </p:txBody>
      </p:sp>
      <p:sp>
        <p:nvSpPr>
          <p:cNvPr id="6" name="Slide Number Placeholder 5"/>
          <p:cNvSpPr>
            <a:spLocks noGrp="1"/>
          </p:cNvSpPr>
          <p:nvPr>
            <p:ph type="sldNum" sz="quarter" idx="12"/>
          </p:nvPr>
        </p:nvSpPr>
        <p:spPr/>
        <p:txBody>
          <a:bodyPr/>
          <a:lstStyle/>
          <a:p>
            <a:pPr lvl="0"/>
            <a:fld id="{5C9B0EDC-E2E7-4CC1-954F-F0AD65F13201}" type="slidenum">
              <a:rPr lang="he-IL" smtClean="0"/>
              <a:t>‹#›</a:t>
            </a:fld>
            <a:endParaRPr lang="he-IL"/>
          </a:p>
        </p:txBody>
      </p:sp>
    </p:spTree>
    <p:extLst>
      <p:ext uri="{BB962C8B-B14F-4D97-AF65-F5344CB8AC3E}">
        <p14:creationId xmlns:p14="http://schemas.microsoft.com/office/powerpoint/2010/main" val="41153018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10"/>
          </p:nvPr>
        </p:nvSpPr>
        <p:spPr/>
        <p:txBody>
          <a:bodyPr/>
          <a:lstStyle/>
          <a:p>
            <a:pPr lvl="0"/>
            <a:r>
              <a:rPr lang="he-IL" smtClean="0"/>
              <a:t>ט"ו/כסלו/תשע"ח</a:t>
            </a:r>
            <a:endParaRPr lang="he-IL"/>
          </a:p>
        </p:txBody>
      </p:sp>
      <p:sp>
        <p:nvSpPr>
          <p:cNvPr id="5" name="Footer Placeholder 4"/>
          <p:cNvSpPr>
            <a:spLocks noGrp="1"/>
          </p:cNvSpPr>
          <p:nvPr>
            <p:ph type="ftr" sz="quarter" idx="11"/>
          </p:nvPr>
        </p:nvSpPr>
        <p:spPr/>
        <p:txBody>
          <a:bodyPr/>
          <a:lstStyle/>
          <a:p>
            <a:pPr lvl="0"/>
            <a:endParaRPr lang="he-IL"/>
          </a:p>
        </p:txBody>
      </p:sp>
      <p:sp>
        <p:nvSpPr>
          <p:cNvPr id="6" name="Slide Number Placeholder 5"/>
          <p:cNvSpPr>
            <a:spLocks noGrp="1"/>
          </p:cNvSpPr>
          <p:nvPr>
            <p:ph type="sldNum" sz="quarter" idx="12"/>
          </p:nvPr>
        </p:nvSpPr>
        <p:spPr/>
        <p:txBody>
          <a:bodyPr/>
          <a:lstStyle/>
          <a:p>
            <a:pPr lvl="0"/>
            <a:fld id="{B2AA6E7E-818F-4F2E-87F8-57B2A3F34000}" type="slidenum">
              <a:rPr lang="he-IL" smtClean="0"/>
              <a:t>‹#›</a:t>
            </a:fld>
            <a:endParaRPr lang="he-IL"/>
          </a:p>
        </p:txBody>
      </p:sp>
    </p:spTree>
    <p:extLst>
      <p:ext uri="{BB962C8B-B14F-4D97-AF65-F5344CB8AC3E}">
        <p14:creationId xmlns:p14="http://schemas.microsoft.com/office/powerpoint/2010/main" val="24247636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Date Placeholder 3"/>
          <p:cNvSpPr>
            <a:spLocks noGrp="1"/>
          </p:cNvSpPr>
          <p:nvPr>
            <p:ph type="dt" sz="half" idx="10"/>
          </p:nvPr>
        </p:nvSpPr>
        <p:spPr/>
        <p:txBody>
          <a:bodyPr/>
          <a:lstStyle/>
          <a:p>
            <a:pPr lvl="0"/>
            <a:r>
              <a:rPr lang="he-IL" smtClean="0"/>
              <a:t>ט"ו/כסלו/תשע"ח</a:t>
            </a:r>
            <a:endParaRPr lang="he-IL"/>
          </a:p>
        </p:txBody>
      </p:sp>
      <p:sp>
        <p:nvSpPr>
          <p:cNvPr id="5" name="Footer Placeholder 4"/>
          <p:cNvSpPr>
            <a:spLocks noGrp="1"/>
          </p:cNvSpPr>
          <p:nvPr>
            <p:ph type="ftr" sz="quarter" idx="11"/>
          </p:nvPr>
        </p:nvSpPr>
        <p:spPr/>
        <p:txBody>
          <a:bodyPr/>
          <a:lstStyle/>
          <a:p>
            <a:pPr lvl="0"/>
            <a:endParaRPr lang="he-IL"/>
          </a:p>
        </p:txBody>
      </p:sp>
      <p:sp>
        <p:nvSpPr>
          <p:cNvPr id="6" name="Slide Number Placeholder 5"/>
          <p:cNvSpPr>
            <a:spLocks noGrp="1"/>
          </p:cNvSpPr>
          <p:nvPr>
            <p:ph type="sldNum" sz="quarter" idx="12"/>
          </p:nvPr>
        </p:nvSpPr>
        <p:spPr/>
        <p:txBody>
          <a:bodyPr/>
          <a:lstStyle/>
          <a:p>
            <a:pPr lvl="0"/>
            <a:fld id="{7F84755B-9EAE-4677-87C4-F70AEEA341D8}" type="slidenum">
              <a:rPr lang="he-IL" smtClean="0"/>
              <a:t>‹#›</a:t>
            </a:fld>
            <a:endParaRPr lang="he-IL"/>
          </a:p>
        </p:txBody>
      </p:sp>
    </p:spTree>
    <p:extLst>
      <p:ext uri="{BB962C8B-B14F-4D97-AF65-F5344CB8AC3E}">
        <p14:creationId xmlns:p14="http://schemas.microsoft.com/office/powerpoint/2010/main" val="17260605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5" name="Date Placeholder 4"/>
          <p:cNvSpPr>
            <a:spLocks noGrp="1"/>
          </p:cNvSpPr>
          <p:nvPr>
            <p:ph type="dt" sz="half" idx="10"/>
          </p:nvPr>
        </p:nvSpPr>
        <p:spPr/>
        <p:txBody>
          <a:bodyPr/>
          <a:lstStyle/>
          <a:p>
            <a:pPr lvl="0"/>
            <a:r>
              <a:rPr lang="he-IL" smtClean="0"/>
              <a:t>ט"ו/כסלו/תשע"ח</a:t>
            </a:r>
            <a:endParaRPr lang="he-IL"/>
          </a:p>
        </p:txBody>
      </p:sp>
      <p:sp>
        <p:nvSpPr>
          <p:cNvPr id="6" name="Footer Placeholder 5"/>
          <p:cNvSpPr>
            <a:spLocks noGrp="1"/>
          </p:cNvSpPr>
          <p:nvPr>
            <p:ph type="ftr" sz="quarter" idx="11"/>
          </p:nvPr>
        </p:nvSpPr>
        <p:spPr/>
        <p:txBody>
          <a:bodyPr/>
          <a:lstStyle/>
          <a:p>
            <a:pPr lvl="0"/>
            <a:endParaRPr lang="he-IL"/>
          </a:p>
        </p:txBody>
      </p:sp>
      <p:sp>
        <p:nvSpPr>
          <p:cNvPr id="7" name="Slide Number Placeholder 6"/>
          <p:cNvSpPr>
            <a:spLocks noGrp="1"/>
          </p:cNvSpPr>
          <p:nvPr>
            <p:ph type="sldNum" sz="quarter" idx="12"/>
          </p:nvPr>
        </p:nvSpPr>
        <p:spPr/>
        <p:txBody>
          <a:bodyPr/>
          <a:lstStyle/>
          <a:p>
            <a:pPr lvl="0"/>
            <a:fld id="{EE10BB7A-B9AE-4DB1-9537-9E5DC4BBE8EE}" type="slidenum">
              <a:rPr lang="he-IL" smtClean="0"/>
              <a:t>‹#›</a:t>
            </a:fld>
            <a:endParaRPr lang="he-IL"/>
          </a:p>
        </p:txBody>
      </p:sp>
    </p:spTree>
    <p:extLst>
      <p:ext uri="{BB962C8B-B14F-4D97-AF65-F5344CB8AC3E}">
        <p14:creationId xmlns:p14="http://schemas.microsoft.com/office/powerpoint/2010/main" val="20022185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7" name="Date Placeholder 6"/>
          <p:cNvSpPr>
            <a:spLocks noGrp="1"/>
          </p:cNvSpPr>
          <p:nvPr>
            <p:ph type="dt" sz="half" idx="10"/>
          </p:nvPr>
        </p:nvSpPr>
        <p:spPr/>
        <p:txBody>
          <a:bodyPr/>
          <a:lstStyle/>
          <a:p>
            <a:pPr lvl="0"/>
            <a:r>
              <a:rPr lang="he-IL" smtClean="0"/>
              <a:t>ט"ו/כסלו/תשע"ח</a:t>
            </a:r>
            <a:endParaRPr lang="he-IL"/>
          </a:p>
        </p:txBody>
      </p:sp>
      <p:sp>
        <p:nvSpPr>
          <p:cNvPr id="8" name="Footer Placeholder 7"/>
          <p:cNvSpPr>
            <a:spLocks noGrp="1"/>
          </p:cNvSpPr>
          <p:nvPr>
            <p:ph type="ftr" sz="quarter" idx="11"/>
          </p:nvPr>
        </p:nvSpPr>
        <p:spPr/>
        <p:txBody>
          <a:bodyPr/>
          <a:lstStyle/>
          <a:p>
            <a:pPr lvl="0"/>
            <a:endParaRPr lang="he-IL"/>
          </a:p>
        </p:txBody>
      </p:sp>
      <p:sp>
        <p:nvSpPr>
          <p:cNvPr id="9" name="Slide Number Placeholder 8"/>
          <p:cNvSpPr>
            <a:spLocks noGrp="1"/>
          </p:cNvSpPr>
          <p:nvPr>
            <p:ph type="sldNum" sz="quarter" idx="12"/>
          </p:nvPr>
        </p:nvSpPr>
        <p:spPr/>
        <p:txBody>
          <a:bodyPr/>
          <a:lstStyle/>
          <a:p>
            <a:pPr lvl="0"/>
            <a:fld id="{5E48EC07-2A2D-465C-A5F2-4FF649133033}" type="slidenum">
              <a:rPr lang="he-IL" smtClean="0"/>
              <a:t>‹#›</a:t>
            </a:fld>
            <a:endParaRPr lang="he-IL"/>
          </a:p>
        </p:txBody>
      </p:sp>
    </p:spTree>
    <p:extLst>
      <p:ext uri="{BB962C8B-B14F-4D97-AF65-F5344CB8AC3E}">
        <p14:creationId xmlns:p14="http://schemas.microsoft.com/office/powerpoint/2010/main" val="36161643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7" name="Date Placeholder 2"/>
          <p:cNvSpPr>
            <a:spLocks noGrp="1"/>
          </p:cNvSpPr>
          <p:nvPr>
            <p:ph type="dt" sz="half" idx="10"/>
          </p:nvPr>
        </p:nvSpPr>
        <p:spPr/>
        <p:txBody>
          <a:bodyPr/>
          <a:lstStyle/>
          <a:p>
            <a:pPr lvl="0"/>
            <a:r>
              <a:rPr lang="he-IL" smtClean="0"/>
              <a:t>ט"ו/כסלו/תשע"ח</a:t>
            </a:r>
            <a:endParaRPr lang="he-IL"/>
          </a:p>
        </p:txBody>
      </p:sp>
      <p:sp>
        <p:nvSpPr>
          <p:cNvPr id="5" name="Footer Placeholder 3"/>
          <p:cNvSpPr>
            <a:spLocks noGrp="1"/>
          </p:cNvSpPr>
          <p:nvPr>
            <p:ph type="ftr" sz="quarter" idx="11"/>
          </p:nvPr>
        </p:nvSpPr>
        <p:spPr/>
        <p:txBody>
          <a:bodyPr/>
          <a:lstStyle/>
          <a:p>
            <a:pPr lvl="0"/>
            <a:endParaRPr lang="he-IL"/>
          </a:p>
        </p:txBody>
      </p:sp>
      <p:sp>
        <p:nvSpPr>
          <p:cNvPr id="6" name="Slide Number Placeholder 4"/>
          <p:cNvSpPr>
            <a:spLocks noGrp="1"/>
          </p:cNvSpPr>
          <p:nvPr>
            <p:ph type="sldNum" sz="quarter" idx="12"/>
          </p:nvPr>
        </p:nvSpPr>
        <p:spPr/>
        <p:txBody>
          <a:bodyPr/>
          <a:lstStyle/>
          <a:p>
            <a:pPr lvl="0"/>
            <a:fld id="{AD144A2C-4E61-49A2-811D-D82EE5BD301E}" type="slidenum">
              <a:rPr lang="he-IL" smtClean="0"/>
              <a:t>‹#›</a:t>
            </a:fld>
            <a:endParaRPr lang="he-IL"/>
          </a:p>
        </p:txBody>
      </p:sp>
    </p:spTree>
    <p:extLst>
      <p:ext uri="{BB962C8B-B14F-4D97-AF65-F5344CB8AC3E}">
        <p14:creationId xmlns:p14="http://schemas.microsoft.com/office/powerpoint/2010/main" val="7572516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lvl="0"/>
            <a:r>
              <a:rPr lang="he-IL" smtClean="0"/>
              <a:t>ט"ו/כסלו/תשע"ח</a:t>
            </a:r>
            <a:endParaRPr lang="he-IL"/>
          </a:p>
        </p:txBody>
      </p:sp>
      <p:sp>
        <p:nvSpPr>
          <p:cNvPr id="5" name="Footer Placeholder 2"/>
          <p:cNvSpPr>
            <a:spLocks noGrp="1"/>
          </p:cNvSpPr>
          <p:nvPr>
            <p:ph type="ftr" sz="quarter" idx="11"/>
          </p:nvPr>
        </p:nvSpPr>
        <p:spPr/>
        <p:txBody>
          <a:bodyPr/>
          <a:lstStyle/>
          <a:p>
            <a:pPr lvl="0"/>
            <a:endParaRPr lang="he-IL"/>
          </a:p>
        </p:txBody>
      </p:sp>
      <p:sp>
        <p:nvSpPr>
          <p:cNvPr id="6" name="Slide Number Placeholder 3"/>
          <p:cNvSpPr>
            <a:spLocks noGrp="1"/>
          </p:cNvSpPr>
          <p:nvPr>
            <p:ph type="sldNum" sz="quarter" idx="12"/>
          </p:nvPr>
        </p:nvSpPr>
        <p:spPr/>
        <p:txBody>
          <a:bodyPr/>
          <a:lstStyle/>
          <a:p>
            <a:pPr lvl="0"/>
            <a:fld id="{8D59F17F-4EE3-4F9C-BB8C-D0F1D64FD727}" type="slidenum">
              <a:rPr lang="he-IL" smtClean="0"/>
              <a:t>‹#›</a:t>
            </a:fld>
            <a:endParaRPr lang="he-IL"/>
          </a:p>
        </p:txBody>
      </p:sp>
    </p:spTree>
    <p:extLst>
      <p:ext uri="{BB962C8B-B14F-4D97-AF65-F5344CB8AC3E}">
        <p14:creationId xmlns:p14="http://schemas.microsoft.com/office/powerpoint/2010/main" val="17081241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he-IL" smtClean="0"/>
              <a:t>לחץ כדי לערוך סגנון כותרת של תבנית בסיס</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7" name="Date Placeholder 4"/>
          <p:cNvSpPr>
            <a:spLocks noGrp="1"/>
          </p:cNvSpPr>
          <p:nvPr>
            <p:ph type="dt" sz="half" idx="10"/>
          </p:nvPr>
        </p:nvSpPr>
        <p:spPr/>
        <p:txBody>
          <a:bodyPr/>
          <a:lstStyle/>
          <a:p>
            <a:pPr lvl="0"/>
            <a:r>
              <a:rPr lang="he-IL" smtClean="0"/>
              <a:t>ט"ו/כסלו/תשע"ח</a:t>
            </a:r>
            <a:endParaRPr lang="he-IL"/>
          </a:p>
        </p:txBody>
      </p:sp>
      <p:sp>
        <p:nvSpPr>
          <p:cNvPr id="5" name="Footer Placeholder 5"/>
          <p:cNvSpPr>
            <a:spLocks noGrp="1"/>
          </p:cNvSpPr>
          <p:nvPr>
            <p:ph type="ftr" sz="quarter" idx="11"/>
          </p:nvPr>
        </p:nvSpPr>
        <p:spPr/>
        <p:txBody>
          <a:bodyPr/>
          <a:lstStyle/>
          <a:p>
            <a:pPr lvl="0"/>
            <a:endParaRPr lang="he-IL"/>
          </a:p>
        </p:txBody>
      </p:sp>
      <p:sp>
        <p:nvSpPr>
          <p:cNvPr id="6" name="Slide Number Placeholder 6"/>
          <p:cNvSpPr>
            <a:spLocks noGrp="1"/>
          </p:cNvSpPr>
          <p:nvPr>
            <p:ph type="sldNum" sz="quarter" idx="12"/>
          </p:nvPr>
        </p:nvSpPr>
        <p:spPr/>
        <p:txBody>
          <a:bodyPr/>
          <a:lstStyle/>
          <a:p>
            <a:pPr lvl="0"/>
            <a:fld id="{1E36F673-F84B-4E42-B167-1B52A5515B9F}" type="slidenum">
              <a:rPr lang="he-IL" smtClean="0"/>
              <a:t>‹#›</a:t>
            </a:fld>
            <a:endParaRPr lang="he-IL"/>
          </a:p>
        </p:txBody>
      </p:sp>
    </p:spTree>
    <p:extLst>
      <p:ext uri="{BB962C8B-B14F-4D97-AF65-F5344CB8AC3E}">
        <p14:creationId xmlns:p14="http://schemas.microsoft.com/office/powerpoint/2010/main" val="18462143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he-IL" smtClean="0"/>
              <a:t>לחץ כדי לערוך סגנון כותרת של תבנית בסיס</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smtClean="0"/>
              <a:t>לחץ על הסמל כדי להוסיף תמונה</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Date Placeholder 4"/>
          <p:cNvSpPr>
            <a:spLocks noGrp="1"/>
          </p:cNvSpPr>
          <p:nvPr>
            <p:ph type="dt" sz="half" idx="10"/>
          </p:nvPr>
        </p:nvSpPr>
        <p:spPr/>
        <p:txBody>
          <a:bodyPr/>
          <a:lstStyle/>
          <a:p>
            <a:pPr lvl="0"/>
            <a:r>
              <a:rPr lang="he-IL" smtClean="0"/>
              <a:t>ט"ו/כסלו/תשע"ח</a:t>
            </a:r>
            <a:endParaRPr lang="he-IL"/>
          </a:p>
        </p:txBody>
      </p:sp>
      <p:sp>
        <p:nvSpPr>
          <p:cNvPr id="6" name="Footer Placeholder 5"/>
          <p:cNvSpPr>
            <a:spLocks noGrp="1"/>
          </p:cNvSpPr>
          <p:nvPr>
            <p:ph type="ftr" sz="quarter" idx="11"/>
          </p:nvPr>
        </p:nvSpPr>
        <p:spPr/>
        <p:txBody>
          <a:bodyPr/>
          <a:lstStyle/>
          <a:p>
            <a:pPr lvl="0"/>
            <a:endParaRPr lang="he-IL"/>
          </a:p>
        </p:txBody>
      </p:sp>
      <p:sp>
        <p:nvSpPr>
          <p:cNvPr id="7" name="Slide Number Placeholder 6"/>
          <p:cNvSpPr>
            <a:spLocks noGrp="1"/>
          </p:cNvSpPr>
          <p:nvPr>
            <p:ph type="sldNum" sz="quarter" idx="12"/>
          </p:nvPr>
        </p:nvSpPr>
        <p:spPr/>
        <p:txBody>
          <a:bodyPr/>
          <a:lstStyle/>
          <a:p>
            <a:pPr lvl="0"/>
            <a:fld id="{438C03A0-E473-4F84-9FCE-7D56E4C65309}" type="slidenum">
              <a:rPr lang="he-IL" smtClean="0"/>
              <a:t>‹#›</a:t>
            </a:fld>
            <a:endParaRPr lang="he-IL"/>
          </a:p>
        </p:txBody>
      </p:sp>
    </p:spTree>
    <p:extLst>
      <p:ext uri="{BB962C8B-B14F-4D97-AF65-F5344CB8AC3E}">
        <p14:creationId xmlns:p14="http://schemas.microsoft.com/office/powerpoint/2010/main" val="40726689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he-IL" smtClean="0"/>
              <a:t>לחץ כדי לערוך סגנון כותרת של תבנית בסיס</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smtClean="0"/>
              <a:t>לחץ על הסמל כדי להוסיף תמונה</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Date Placeholder 4"/>
          <p:cNvSpPr>
            <a:spLocks noGrp="1"/>
          </p:cNvSpPr>
          <p:nvPr>
            <p:ph type="dt" sz="half" idx="10"/>
          </p:nvPr>
        </p:nvSpPr>
        <p:spPr/>
        <p:txBody>
          <a:bodyPr/>
          <a:lstStyle/>
          <a:p>
            <a:pPr lvl="0"/>
            <a:r>
              <a:rPr lang="he-IL" smtClean="0"/>
              <a:t>ט"ו/כסלו/תשע"ח</a:t>
            </a:r>
            <a:endParaRPr lang="he-IL"/>
          </a:p>
        </p:txBody>
      </p:sp>
      <p:sp>
        <p:nvSpPr>
          <p:cNvPr id="6" name="Footer Placeholder 5"/>
          <p:cNvSpPr>
            <a:spLocks noGrp="1"/>
          </p:cNvSpPr>
          <p:nvPr>
            <p:ph type="ftr" sz="quarter" idx="11"/>
          </p:nvPr>
        </p:nvSpPr>
        <p:spPr/>
        <p:txBody>
          <a:bodyPr/>
          <a:lstStyle/>
          <a:p>
            <a:pPr lvl="0"/>
            <a:endParaRPr lang="he-IL"/>
          </a:p>
        </p:txBody>
      </p:sp>
      <p:sp>
        <p:nvSpPr>
          <p:cNvPr id="7" name="Slide Number Placeholder 6"/>
          <p:cNvSpPr>
            <a:spLocks noGrp="1"/>
          </p:cNvSpPr>
          <p:nvPr>
            <p:ph type="sldNum" sz="quarter" idx="12"/>
          </p:nvPr>
        </p:nvSpPr>
        <p:spPr/>
        <p:txBody>
          <a:bodyPr/>
          <a:lstStyle/>
          <a:p>
            <a:pPr lvl="0"/>
            <a:fld id="{535765B9-B6F2-423B-B132-82808C90EAF9}" type="slidenum">
              <a:rPr lang="he-IL" smtClean="0"/>
              <a:t>‹#›</a:t>
            </a:fld>
            <a:endParaRPr lang="he-IL"/>
          </a:p>
        </p:txBody>
      </p:sp>
    </p:spTree>
    <p:extLst>
      <p:ext uri="{BB962C8B-B14F-4D97-AF65-F5344CB8AC3E}">
        <p14:creationId xmlns:p14="http://schemas.microsoft.com/office/powerpoint/2010/main" val="7325166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he-IL" smtClean="0"/>
              <a:t>לחץ כדי לערוך סגנון כותרת של תבנית בסיס</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4" name="Date Placeholder 3"/>
          <p:cNvSpPr>
            <a:spLocks noGrp="1"/>
          </p:cNvSpPr>
          <p:nvPr>
            <p:ph type="dt" sz="half" idx="10"/>
          </p:nvPr>
        </p:nvSpPr>
        <p:spPr/>
        <p:txBody>
          <a:bodyPr/>
          <a:lstStyle/>
          <a:p>
            <a:pPr lvl="0"/>
            <a:r>
              <a:rPr lang="he-IL" smtClean="0"/>
              <a:t>ט"ו/כסלו/תשע"ח</a:t>
            </a:r>
            <a:endParaRPr lang="he-IL"/>
          </a:p>
        </p:txBody>
      </p:sp>
      <p:sp>
        <p:nvSpPr>
          <p:cNvPr id="5" name="Footer Placeholder 4"/>
          <p:cNvSpPr>
            <a:spLocks noGrp="1"/>
          </p:cNvSpPr>
          <p:nvPr>
            <p:ph type="ftr" sz="quarter" idx="11"/>
          </p:nvPr>
        </p:nvSpPr>
        <p:spPr/>
        <p:txBody>
          <a:bodyPr/>
          <a:lstStyle/>
          <a:p>
            <a:pPr lvl="0"/>
            <a:endParaRPr lang="he-IL"/>
          </a:p>
        </p:txBody>
      </p:sp>
      <p:sp>
        <p:nvSpPr>
          <p:cNvPr id="6" name="Slide Number Placeholder 5"/>
          <p:cNvSpPr>
            <a:spLocks noGrp="1"/>
          </p:cNvSpPr>
          <p:nvPr>
            <p:ph type="sldNum" sz="quarter" idx="12"/>
          </p:nvPr>
        </p:nvSpPr>
        <p:spPr/>
        <p:txBody>
          <a:bodyPr/>
          <a:lstStyle/>
          <a:p>
            <a:pPr lvl="0"/>
            <a:fld id="{535765B9-B6F2-423B-B132-82808C90EAF9}" type="slidenum">
              <a:rPr lang="he-IL" smtClean="0"/>
              <a:t>‹#›</a:t>
            </a:fld>
            <a:endParaRPr lang="he-IL"/>
          </a:p>
        </p:txBody>
      </p:sp>
    </p:spTree>
    <p:extLst>
      <p:ext uri="{BB962C8B-B14F-4D97-AF65-F5344CB8AC3E}">
        <p14:creationId xmlns:p14="http://schemas.microsoft.com/office/powerpoint/2010/main" val="41545831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he-IL" smtClean="0"/>
              <a:t>לחץ כדי לערוך סגנון כותרת של תבנית בסיס</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4" name="Date Placeholder 3"/>
          <p:cNvSpPr>
            <a:spLocks noGrp="1"/>
          </p:cNvSpPr>
          <p:nvPr>
            <p:ph type="dt" sz="half" idx="10"/>
          </p:nvPr>
        </p:nvSpPr>
        <p:spPr/>
        <p:txBody>
          <a:bodyPr/>
          <a:lstStyle/>
          <a:p>
            <a:pPr lvl="0"/>
            <a:r>
              <a:rPr lang="he-IL" smtClean="0"/>
              <a:t>ט"ו/כסלו/תשע"ח</a:t>
            </a:r>
            <a:endParaRPr lang="he-IL"/>
          </a:p>
        </p:txBody>
      </p:sp>
      <p:sp>
        <p:nvSpPr>
          <p:cNvPr id="5" name="Footer Placeholder 4"/>
          <p:cNvSpPr>
            <a:spLocks noGrp="1"/>
          </p:cNvSpPr>
          <p:nvPr>
            <p:ph type="ftr" sz="quarter" idx="11"/>
          </p:nvPr>
        </p:nvSpPr>
        <p:spPr/>
        <p:txBody>
          <a:bodyPr/>
          <a:lstStyle/>
          <a:p>
            <a:pPr lvl="0"/>
            <a:endParaRPr lang="he-IL"/>
          </a:p>
        </p:txBody>
      </p:sp>
      <p:sp>
        <p:nvSpPr>
          <p:cNvPr id="6" name="Slide Number Placeholder 5"/>
          <p:cNvSpPr>
            <a:spLocks noGrp="1"/>
          </p:cNvSpPr>
          <p:nvPr>
            <p:ph type="sldNum" sz="quarter" idx="12"/>
          </p:nvPr>
        </p:nvSpPr>
        <p:spPr/>
        <p:txBody>
          <a:bodyPr/>
          <a:lstStyle/>
          <a:p>
            <a:pPr lvl="0"/>
            <a:fld id="{535765B9-B6F2-423B-B132-82808C90EAF9}" type="slidenum">
              <a:rPr lang="he-IL" smtClean="0"/>
              <a:t>‹#›</a:t>
            </a:fld>
            <a:endParaRPr lang="he-IL"/>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37411558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Date Placeholder 3"/>
          <p:cNvSpPr>
            <a:spLocks noGrp="1"/>
          </p:cNvSpPr>
          <p:nvPr>
            <p:ph type="dt" sz="half" idx="10"/>
          </p:nvPr>
        </p:nvSpPr>
        <p:spPr/>
        <p:txBody>
          <a:bodyPr/>
          <a:lstStyle/>
          <a:p>
            <a:pPr lvl="0"/>
            <a:r>
              <a:rPr lang="he-IL" smtClean="0"/>
              <a:t>ט"ו/כסלו/תשע"ח</a:t>
            </a:r>
            <a:endParaRPr lang="he-IL"/>
          </a:p>
        </p:txBody>
      </p:sp>
      <p:sp>
        <p:nvSpPr>
          <p:cNvPr id="5" name="Footer Placeholder 4"/>
          <p:cNvSpPr>
            <a:spLocks noGrp="1"/>
          </p:cNvSpPr>
          <p:nvPr>
            <p:ph type="ftr" sz="quarter" idx="11"/>
          </p:nvPr>
        </p:nvSpPr>
        <p:spPr/>
        <p:txBody>
          <a:bodyPr/>
          <a:lstStyle/>
          <a:p>
            <a:pPr lvl="0"/>
            <a:endParaRPr lang="he-IL"/>
          </a:p>
        </p:txBody>
      </p:sp>
      <p:sp>
        <p:nvSpPr>
          <p:cNvPr id="6" name="Slide Number Placeholder 5"/>
          <p:cNvSpPr>
            <a:spLocks noGrp="1"/>
          </p:cNvSpPr>
          <p:nvPr>
            <p:ph type="sldNum" sz="quarter" idx="12"/>
          </p:nvPr>
        </p:nvSpPr>
        <p:spPr/>
        <p:txBody>
          <a:bodyPr/>
          <a:lstStyle/>
          <a:p>
            <a:pPr lvl="0"/>
            <a:fld id="{535765B9-B6F2-423B-B132-82808C90EAF9}" type="slidenum">
              <a:rPr lang="he-IL" smtClean="0"/>
              <a:t>‹#›</a:t>
            </a:fld>
            <a:endParaRPr lang="he-IL"/>
          </a:p>
        </p:txBody>
      </p:sp>
    </p:spTree>
    <p:extLst>
      <p:ext uri="{BB962C8B-B14F-4D97-AF65-F5344CB8AC3E}">
        <p14:creationId xmlns:p14="http://schemas.microsoft.com/office/powerpoint/2010/main" val="41659012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עמודות">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lvl="0"/>
            <a:r>
              <a:rPr lang="he-IL" smtClean="0"/>
              <a:t>ט"ו/כסלו/תשע"ח</a:t>
            </a:r>
            <a:endParaRPr lang="he-IL"/>
          </a:p>
        </p:txBody>
      </p:sp>
      <p:sp>
        <p:nvSpPr>
          <p:cNvPr id="4" name="Footer Placeholder 4"/>
          <p:cNvSpPr>
            <a:spLocks noGrp="1"/>
          </p:cNvSpPr>
          <p:nvPr>
            <p:ph type="ftr" sz="quarter" idx="11"/>
          </p:nvPr>
        </p:nvSpPr>
        <p:spPr/>
        <p:txBody>
          <a:bodyPr/>
          <a:lstStyle/>
          <a:p>
            <a:pPr lvl="0"/>
            <a:endParaRPr lang="he-IL"/>
          </a:p>
        </p:txBody>
      </p:sp>
      <p:sp>
        <p:nvSpPr>
          <p:cNvPr id="6" name="Slide Number Placeholder 5"/>
          <p:cNvSpPr>
            <a:spLocks noGrp="1"/>
          </p:cNvSpPr>
          <p:nvPr>
            <p:ph type="sldNum" sz="quarter" idx="12"/>
          </p:nvPr>
        </p:nvSpPr>
        <p:spPr/>
        <p:txBody>
          <a:bodyPr/>
          <a:lstStyle/>
          <a:p>
            <a:pPr lvl="0"/>
            <a:fld id="{535765B9-B6F2-423B-B132-82808C90EAF9}" type="slidenum">
              <a:rPr lang="he-IL" smtClean="0"/>
              <a:t>‹#›</a:t>
            </a:fld>
            <a:endParaRPr lang="he-IL"/>
          </a:p>
        </p:txBody>
      </p:sp>
    </p:spTree>
    <p:extLst>
      <p:ext uri="{BB962C8B-B14F-4D97-AF65-F5344CB8AC3E}">
        <p14:creationId xmlns:p14="http://schemas.microsoft.com/office/powerpoint/2010/main" val="7625384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עמודת 3 תמונות">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smtClean="0"/>
              <a:t>לחץ על הסמל כדי להוסיף תמונה</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smtClean="0"/>
              <a:t>לחץ על הסמל כדי להוסיף תמונה</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smtClean="0"/>
              <a:t>לחץ על הסמל כדי להוסיף תמונה</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lvl="0"/>
            <a:r>
              <a:rPr lang="he-IL" smtClean="0"/>
              <a:t>ט"ו/כסלו/תשע"ח</a:t>
            </a:r>
            <a:endParaRPr lang="he-IL"/>
          </a:p>
        </p:txBody>
      </p:sp>
      <p:sp>
        <p:nvSpPr>
          <p:cNvPr id="4" name="Footer Placeholder 4"/>
          <p:cNvSpPr>
            <a:spLocks noGrp="1"/>
          </p:cNvSpPr>
          <p:nvPr>
            <p:ph type="ftr" sz="quarter" idx="11"/>
          </p:nvPr>
        </p:nvSpPr>
        <p:spPr/>
        <p:txBody>
          <a:bodyPr/>
          <a:lstStyle/>
          <a:p>
            <a:pPr lvl="0"/>
            <a:endParaRPr lang="he-IL"/>
          </a:p>
        </p:txBody>
      </p:sp>
      <p:sp>
        <p:nvSpPr>
          <p:cNvPr id="6" name="Slide Number Placeholder 5"/>
          <p:cNvSpPr>
            <a:spLocks noGrp="1"/>
          </p:cNvSpPr>
          <p:nvPr>
            <p:ph type="sldNum" sz="quarter" idx="12"/>
          </p:nvPr>
        </p:nvSpPr>
        <p:spPr/>
        <p:txBody>
          <a:bodyPr/>
          <a:lstStyle/>
          <a:p>
            <a:pPr lvl="0"/>
            <a:fld id="{535765B9-B6F2-423B-B132-82808C90EAF9}" type="slidenum">
              <a:rPr lang="he-IL" smtClean="0"/>
              <a:t>‹#›</a:t>
            </a:fld>
            <a:endParaRPr lang="he-IL"/>
          </a:p>
        </p:txBody>
      </p:sp>
    </p:spTree>
    <p:extLst>
      <p:ext uri="{BB962C8B-B14F-4D97-AF65-F5344CB8AC3E}">
        <p14:creationId xmlns:p14="http://schemas.microsoft.com/office/powerpoint/2010/main" val="42875393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nchor="t" anchorCtr="0"/>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10"/>
          </p:nvPr>
        </p:nvSpPr>
        <p:spPr/>
        <p:txBody>
          <a:bodyPr/>
          <a:lstStyle/>
          <a:p>
            <a:pPr lvl="0"/>
            <a:r>
              <a:rPr lang="he-IL" smtClean="0"/>
              <a:t>ט"ו/כסלו/תשע"ח</a:t>
            </a:r>
            <a:endParaRPr lang="he-IL"/>
          </a:p>
        </p:txBody>
      </p:sp>
      <p:sp>
        <p:nvSpPr>
          <p:cNvPr id="5" name="Footer Placeholder 4"/>
          <p:cNvSpPr>
            <a:spLocks noGrp="1"/>
          </p:cNvSpPr>
          <p:nvPr>
            <p:ph type="ftr" sz="quarter" idx="11"/>
          </p:nvPr>
        </p:nvSpPr>
        <p:spPr/>
        <p:txBody>
          <a:bodyPr/>
          <a:lstStyle/>
          <a:p>
            <a:pPr lvl="0"/>
            <a:endParaRPr lang="he-IL"/>
          </a:p>
        </p:txBody>
      </p:sp>
      <p:sp>
        <p:nvSpPr>
          <p:cNvPr id="6" name="Slide Number Placeholder 5"/>
          <p:cNvSpPr>
            <a:spLocks noGrp="1"/>
          </p:cNvSpPr>
          <p:nvPr>
            <p:ph type="sldNum" sz="quarter" idx="12"/>
          </p:nvPr>
        </p:nvSpPr>
        <p:spPr/>
        <p:txBody>
          <a:bodyPr/>
          <a:lstStyle/>
          <a:p>
            <a:pPr lvl="0"/>
            <a:fld id="{706F0370-0773-4E1C-9A27-A4254102BF00}" type="slidenum">
              <a:rPr lang="he-IL" smtClean="0"/>
              <a:t>‹#›</a:t>
            </a:fld>
            <a:endParaRPr lang="he-IL"/>
          </a:p>
        </p:txBody>
      </p:sp>
    </p:spTree>
    <p:extLst>
      <p:ext uri="{BB962C8B-B14F-4D97-AF65-F5344CB8AC3E}">
        <p14:creationId xmlns:p14="http://schemas.microsoft.com/office/powerpoint/2010/main" val="41879319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he-IL" smtClean="0"/>
              <a:t>לחץ כדי לערוך סגנון כותרת של תבנית בסיס</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10"/>
          </p:nvPr>
        </p:nvSpPr>
        <p:spPr/>
        <p:txBody>
          <a:bodyPr/>
          <a:lstStyle/>
          <a:p>
            <a:pPr lvl="0"/>
            <a:r>
              <a:rPr lang="he-IL" smtClean="0"/>
              <a:t>ט"ו/כסלו/תשע"ח</a:t>
            </a:r>
            <a:endParaRPr lang="he-IL"/>
          </a:p>
        </p:txBody>
      </p:sp>
      <p:sp>
        <p:nvSpPr>
          <p:cNvPr id="5" name="Footer Placeholder 4"/>
          <p:cNvSpPr>
            <a:spLocks noGrp="1"/>
          </p:cNvSpPr>
          <p:nvPr>
            <p:ph type="ftr" sz="quarter" idx="11"/>
          </p:nvPr>
        </p:nvSpPr>
        <p:spPr/>
        <p:txBody>
          <a:bodyPr/>
          <a:lstStyle/>
          <a:p>
            <a:pPr lvl="0"/>
            <a:endParaRPr lang="he-IL"/>
          </a:p>
        </p:txBody>
      </p:sp>
      <p:sp>
        <p:nvSpPr>
          <p:cNvPr id="6" name="Slide Number Placeholder 5"/>
          <p:cNvSpPr>
            <a:spLocks noGrp="1"/>
          </p:cNvSpPr>
          <p:nvPr>
            <p:ph type="sldNum" sz="quarter" idx="12"/>
          </p:nvPr>
        </p:nvSpPr>
        <p:spPr/>
        <p:txBody>
          <a:bodyPr/>
          <a:lstStyle/>
          <a:p>
            <a:pPr lvl="0"/>
            <a:fld id="{FD7EFAA6-D951-4786-8618-2CFA46D9E11D}" type="slidenum">
              <a:rPr lang="he-IL" smtClean="0"/>
              <a:t>‹#›</a:t>
            </a:fld>
            <a:endParaRPr lang="he-IL"/>
          </a:p>
        </p:txBody>
      </p:sp>
    </p:spTree>
    <p:extLst>
      <p:ext uri="{BB962C8B-B14F-4D97-AF65-F5344CB8AC3E}">
        <p14:creationId xmlns:p14="http://schemas.microsoft.com/office/powerpoint/2010/main" val="41617611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 name="type.wav"/>
          </p:stSnd>
        </p:sndAc>
      </p:transition>
    </mc:Choice>
    <mc:Fallback xmlns="">
      <p:transition spd="slow">
        <p:fade/>
        <p:sndAc>
          <p:stSnd>
            <p:snd r:embed="rId3" name="type.wav"/>
          </p:stSnd>
        </p:sndAc>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audio" Target="../media/audio1.wav"/><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audio" Target="../media/audio1.wav"/><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lvl="0"/>
            <a:r>
              <a:rPr lang="he-IL" smtClean="0"/>
              <a:t>ט"ו/כסלו/תשע"ח</a:t>
            </a:r>
            <a:endParaRPr lang="he-IL"/>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lvl="0"/>
            <a:endParaRPr lang="he-IL"/>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lvl="0"/>
            <a:fld id="{535765B9-B6F2-423B-B132-82808C90EAF9}" type="slidenum">
              <a:rPr lang="he-IL" smtClean="0"/>
              <a:t>‹#›</a:t>
            </a:fld>
            <a:endParaRPr lang="he-IL"/>
          </a:p>
        </p:txBody>
      </p:sp>
    </p:spTree>
    <p:extLst>
      <p:ext uri="{BB962C8B-B14F-4D97-AF65-F5344CB8AC3E}">
        <p14:creationId xmlns:p14="http://schemas.microsoft.com/office/powerpoint/2010/main" val="3455566416"/>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19" name="type.wav"/>
          </p:stSnd>
        </p:sndAc>
      </p:transition>
    </mc:Choice>
    <mc:Fallback xmlns="">
      <p:transition spd="slow">
        <p:fade/>
        <p:sndAc>
          <p:stSnd>
            <p:snd r:embed="rId24" name="type.wav"/>
          </p:stSnd>
        </p:sndAc>
      </p:transition>
    </mc:Fallback>
  </mc:AlternateContent>
  <p:timing>
    <p:tnLst>
      <p:par>
        <p:cTn id="1" dur="indefinite" restart="never" nodeType="tmRoot"/>
      </p:par>
    </p:tnLst>
  </p:timing>
  <p:hf sldNum="0" hdr="0" ftr="0" dt="0"/>
  <p:txStyles>
    <p:titleStyle>
      <a:lvl1pPr algn="l" defTabSz="457200" rtl="1" eaLnBrk="1" latinLnBrk="0" hangingPunct="1">
        <a:spcBef>
          <a:spcPct val="0"/>
        </a:spcBef>
        <a:buNone/>
        <a:defRPr sz="4200" b="0" i="0" kern="1200">
          <a:solidFill>
            <a:schemeClr val="tx2"/>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r" defTabSz="457200" rtl="1"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r" defTabSz="457200" rtl="1"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r" defTabSz="457200" rtl="1"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r" defTabSz="457200" rtl="1"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r" defTabSz="457200" rtl="1"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r" defTabSz="457200" rtl="1"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r" defTabSz="457200" rtl="1"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r" defTabSz="457200" rtl="1"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2.xml.rels><?xml version="1.0" encoding="UTF-8" standalone="yes"?>
<Relationships xmlns="http://schemas.openxmlformats.org/package/2006/relationships"><Relationship Id="rId8" Type="http://schemas.openxmlformats.org/officeDocument/2006/relationships/hyperlink" Target="https://he.wikipedia.org/wiki/%D7%A0%D7%99%D7%A9%D7%95%D7%90%D7%99%D7%9F" TargetMode="External"/><Relationship Id="rId13" Type="http://schemas.openxmlformats.org/officeDocument/2006/relationships/hyperlink" Target="https://he.wikipedia.org/wiki/%D7%A9%D7%9C%D7%95%D7%9D" TargetMode="External"/><Relationship Id="rId3" Type="http://schemas.openxmlformats.org/officeDocument/2006/relationships/hyperlink" Target="https://he.wikipedia.org/wiki/%D7%A2%D7%99%D7%A8%D7%99%D7%94" TargetMode="External"/><Relationship Id="rId7" Type="http://schemas.openxmlformats.org/officeDocument/2006/relationships/hyperlink" Target="https://he.wikipedia.org/wiki/%D7%92%D7%99%D7%A8%D7%95%D7%A9%D7%99%D7%9D" TargetMode="External"/><Relationship Id="rId12" Type="http://schemas.openxmlformats.org/officeDocument/2006/relationships/hyperlink" Target="https://he.wikipedia.org/wiki/%D7%9E%D7%93%D7%99%D7%A0%D7%94" TargetMode="Externa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hyperlink" Target="https://he.wikipedia.org/wiki/%D7%A9%D7%95%D7%AA%D7%A4%D7%95%D7%AA" TargetMode="External"/><Relationship Id="rId11" Type="http://schemas.openxmlformats.org/officeDocument/2006/relationships/hyperlink" Target="https://he.wikipedia.org/wiki/%D7%91%D7%99%D7%AA_%D7%A1%D7%A4%D7%A8" TargetMode="External"/><Relationship Id="rId5" Type="http://schemas.openxmlformats.org/officeDocument/2006/relationships/hyperlink" Target="https://he.wikipedia.org/wiki/%D7%A6%D7%A8%D7%9B%D7%A0%D7%95%D7%AA" TargetMode="External"/><Relationship Id="rId15" Type="http://schemas.openxmlformats.org/officeDocument/2006/relationships/audio" Target="../media/audio1.wav"/><Relationship Id="rId10" Type="http://schemas.openxmlformats.org/officeDocument/2006/relationships/hyperlink" Target="https://he.wikipedia.org/wiki/%D7%A2%D7%95%D7%91%D7%93" TargetMode="External"/><Relationship Id="rId4" Type="http://schemas.openxmlformats.org/officeDocument/2006/relationships/hyperlink" Target="https://he.wikipedia.org/wiki/%D7%9E%D7%95%D7%A2%D7%A6%D7%94_%D7%9E%D7%A7%D7%95%D7%9E%D7%99%D7%AA" TargetMode="External"/><Relationship Id="rId9" Type="http://schemas.openxmlformats.org/officeDocument/2006/relationships/hyperlink" Target="https://he.wikipedia.org/wiki/%D7%99%D7%A8%D7%95%D7%A9%D7%94" TargetMode="External"/><Relationship Id="rId1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4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4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54.jpeg"/><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z="6600" dirty="0" smtClean="0"/>
              <a:t>מבוא לבוררות</a:t>
            </a:r>
            <a:endParaRPr lang="he-IL" sz="6600" dirty="0"/>
          </a:p>
        </p:txBody>
      </p:sp>
      <p:sp>
        <p:nvSpPr>
          <p:cNvPr id="3" name="מציין מיקום תוכן 2"/>
          <p:cNvSpPr>
            <a:spLocks noGrp="1"/>
          </p:cNvSpPr>
          <p:nvPr>
            <p:ph idx="1"/>
          </p:nvPr>
        </p:nvSpPr>
        <p:spPr/>
        <p:txBody>
          <a:bodyPr/>
          <a:lstStyle/>
          <a:p>
            <a:r>
              <a:rPr lang="he-IL" sz="4000" dirty="0" smtClean="0"/>
              <a:t>הרצאת השופטת (בדימ)</a:t>
            </a:r>
          </a:p>
          <a:p>
            <a:r>
              <a:rPr lang="he-IL" sz="4000" smtClean="0"/>
              <a:t>ד"ר </a:t>
            </a:r>
            <a:r>
              <a:rPr lang="he-IL" sz="4000" dirty="0" smtClean="0"/>
              <a:t>דרורה פלפל</a:t>
            </a:r>
          </a:p>
          <a:p>
            <a:endParaRPr lang="he-IL" sz="4000" dirty="0"/>
          </a:p>
          <a:p>
            <a:r>
              <a:rPr lang="he-IL" sz="4000" dirty="0" smtClean="0"/>
              <a:t>ינואר 2018</a:t>
            </a:r>
            <a:endParaRPr lang="he-IL" sz="4000" dirty="0"/>
          </a:p>
        </p:txBody>
      </p:sp>
      <p:pic>
        <p:nvPicPr>
          <p:cNvPr id="4" name="תמונה 3"/>
          <p:cNvPicPr>
            <a:picLocks noChangeAspect="1"/>
          </p:cNvPicPr>
          <p:nvPr/>
        </p:nvPicPr>
        <p:blipFill>
          <a:blip r:embed="rId4"/>
          <a:stretch>
            <a:fillRect/>
          </a:stretch>
        </p:blipFill>
        <p:spPr>
          <a:xfrm>
            <a:off x="1591294" y="2203244"/>
            <a:ext cx="1752600" cy="2600325"/>
          </a:xfrm>
          <a:prstGeom prst="rect">
            <a:avLst/>
          </a:prstGeom>
        </p:spPr>
      </p:pic>
      <p:sp>
        <p:nvSpPr>
          <p:cNvPr id="5" name="TextBox 4"/>
          <p:cNvSpPr txBox="1"/>
          <p:nvPr/>
        </p:nvSpPr>
        <p:spPr>
          <a:xfrm>
            <a:off x="10949049" y="5854536"/>
            <a:ext cx="320634" cy="646331"/>
          </a:xfrm>
          <a:prstGeom prst="rect">
            <a:avLst/>
          </a:prstGeom>
          <a:noFill/>
        </p:spPr>
        <p:txBody>
          <a:bodyPr wrap="square" rtlCol="1">
            <a:spAutoFit/>
          </a:bodyPr>
          <a:lstStyle/>
          <a:p>
            <a:r>
              <a:rPr lang="he-IL" dirty="0" smtClean="0"/>
              <a:t>1</a:t>
            </a:r>
          </a:p>
          <a:p>
            <a:endParaRPr lang="he-IL" dirty="0"/>
          </a:p>
        </p:txBody>
      </p:sp>
    </p:spTree>
    <p:extLst>
      <p:ext uri="{BB962C8B-B14F-4D97-AF65-F5344CB8AC3E}">
        <p14:creationId xmlns:p14="http://schemas.microsoft.com/office/powerpoint/2010/main" val="4138286466"/>
      </p:ext>
    </p:extLst>
  </p:cSld>
  <p:clrMapOvr>
    <a:masterClrMapping/>
  </p:clrMapOvr>
  <mc:AlternateContent xmlns:mc="http://schemas.openxmlformats.org/markup-compatibility/2006" xmlns:p14="http://schemas.microsoft.com/office/powerpoint/2010/main">
    <mc:Choice Requires="p14">
      <p:transition spd="slow" p14:dur="1400">
        <p14:ripple/>
        <p:sndAc>
          <p:stSnd>
            <p:snd r:embed="rId3" name="type.wav"/>
          </p:stSnd>
        </p:sndAc>
      </p:transition>
    </mc:Choice>
    <mc:Fallback xmlns="">
      <p:transition spd="slow">
        <p:fade/>
        <p:sndAc>
          <p:stSnd>
            <p:snd r:embed="rId5" name="type.wav"/>
          </p:stSnd>
        </p:sndAc>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מה היא בוררות – סקירה </a:t>
            </a:r>
            <a:r>
              <a:rPr lang="he-IL" dirty="0" err="1" smtClean="0"/>
              <a:t>הסטורית</a:t>
            </a:r>
            <a:endParaRPr lang="he-IL" dirty="0"/>
          </a:p>
        </p:txBody>
      </p:sp>
      <p:sp>
        <p:nvSpPr>
          <p:cNvPr id="3" name="מציין מיקום תוכן 2"/>
          <p:cNvSpPr>
            <a:spLocks noGrp="1"/>
          </p:cNvSpPr>
          <p:nvPr>
            <p:ph idx="1"/>
          </p:nvPr>
        </p:nvSpPr>
        <p:spPr>
          <a:xfrm>
            <a:off x="0" y="1539240"/>
            <a:ext cx="9601200" cy="5318760"/>
          </a:xfrm>
        </p:spPr>
        <p:txBody>
          <a:bodyPr>
            <a:noAutofit/>
          </a:bodyPr>
          <a:lstStyle/>
          <a:p>
            <a:r>
              <a:rPr lang="he-IL" sz="3200" dirty="0" smtClean="0"/>
              <a:t>המג'לה (המגילה) </a:t>
            </a:r>
            <a:r>
              <a:rPr lang="he-IL" sz="3200" dirty="0" err="1" smtClean="0"/>
              <a:t>היתה</a:t>
            </a:r>
            <a:r>
              <a:rPr lang="he-IL" sz="3200" dirty="0" smtClean="0"/>
              <a:t> החוק התורכי האזרחי לפני המנדט הבריטי.</a:t>
            </a:r>
          </a:p>
          <a:p>
            <a:r>
              <a:rPr lang="he-IL" sz="3200" dirty="0" smtClean="0"/>
              <a:t>בסעיף 1790 למג'לה הוכרה אפשרות הבוררות ובלשונה:</a:t>
            </a:r>
          </a:p>
          <a:p>
            <a:r>
              <a:rPr lang="he-IL" sz="3200" dirty="0" smtClean="0"/>
              <a:t>"כששני בעלי הדין ממנים אדם כרצונם לשופט עליהם לדון להם וליישב את דבר ריבם ותביעתם. אדם זה קרוי בורר".</a:t>
            </a:r>
          </a:p>
          <a:p>
            <a:r>
              <a:rPr lang="he-IL" sz="3200" dirty="0" smtClean="0"/>
              <a:t>ופסק דינו של הבורר – </a:t>
            </a:r>
          </a:p>
          <a:p>
            <a:r>
              <a:rPr lang="he-IL" sz="3200" dirty="0" smtClean="0"/>
              <a:t>"שהוא בפני שופט הממונה מטעם המלכות, הרי אם נמצא מתאים לסדרי הדין הקבועים, מקבלו השופט ומקיימו. לא נמצא כן – מבטלו".</a:t>
            </a:r>
            <a:endParaRPr lang="he-IL" sz="3200" dirty="0"/>
          </a:p>
        </p:txBody>
      </p:sp>
      <p:pic>
        <p:nvPicPr>
          <p:cNvPr id="1026" name="Picture 2" descr="תוצאת תמונה עבור בוררות"/>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4375" y="0"/>
            <a:ext cx="2466975" cy="18478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604665" y="6044540"/>
            <a:ext cx="368135" cy="369332"/>
          </a:xfrm>
          <a:prstGeom prst="rect">
            <a:avLst/>
          </a:prstGeom>
          <a:noFill/>
        </p:spPr>
        <p:txBody>
          <a:bodyPr wrap="square" rtlCol="1">
            <a:spAutoFit/>
          </a:bodyPr>
          <a:lstStyle/>
          <a:p>
            <a:r>
              <a:rPr lang="he-IL" dirty="0" smtClean="0"/>
              <a:t>2</a:t>
            </a:r>
            <a:endParaRPr lang="he-IL" dirty="0"/>
          </a:p>
        </p:txBody>
      </p:sp>
    </p:spTree>
    <p:extLst>
      <p:ext uri="{BB962C8B-B14F-4D97-AF65-F5344CB8AC3E}">
        <p14:creationId xmlns:p14="http://schemas.microsoft.com/office/powerpoint/2010/main" val="17371716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mph" presetSubtype="0" fill="hold" grpId="0" nodeType="with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3">
                                            <p:txEl>
                                              <p:pRg st="0" end="0"/>
                                            </p:txEl>
                                          </p:spTgt>
                                        </p:tgtEl>
                                        <p:attrNameLst>
                                          <p:attrName>ppt_x</p:attrName>
                                          <p:attrName>ppt_y</p:attrName>
                                        </p:attrNameLst>
                                      </p:cBhvr>
                                    </p:animMotion>
                                    <p:animRot by="1500000">
                                      <p:cBhvr>
                                        <p:cTn id="7" dur="125" fill="hold">
                                          <p:stCondLst>
                                            <p:cond delay="0"/>
                                          </p:stCondLst>
                                        </p:cTn>
                                        <p:tgtEl>
                                          <p:spTgt spid="3">
                                            <p:txEl>
                                              <p:pRg st="0" end="0"/>
                                            </p:txEl>
                                          </p:spTgt>
                                        </p:tgtEl>
                                        <p:attrNameLst>
                                          <p:attrName>r</p:attrName>
                                        </p:attrNameLst>
                                      </p:cBhvr>
                                    </p:animRot>
                                    <p:animRot by="-1500000">
                                      <p:cBhvr>
                                        <p:cTn id="8" dur="125" fill="hold">
                                          <p:stCondLst>
                                            <p:cond delay="125"/>
                                          </p:stCondLst>
                                        </p:cTn>
                                        <p:tgtEl>
                                          <p:spTgt spid="3">
                                            <p:txEl>
                                              <p:pRg st="0" end="0"/>
                                            </p:txEl>
                                          </p:spTgt>
                                        </p:tgtEl>
                                        <p:attrNameLst>
                                          <p:attrName>r</p:attrName>
                                        </p:attrNameLst>
                                      </p:cBhvr>
                                    </p:animRot>
                                    <p:animRot by="-1500000">
                                      <p:cBhvr>
                                        <p:cTn id="9" dur="125" fill="hold">
                                          <p:stCondLst>
                                            <p:cond delay="250"/>
                                          </p:stCondLst>
                                        </p:cTn>
                                        <p:tgtEl>
                                          <p:spTgt spid="3">
                                            <p:txEl>
                                              <p:pRg st="0" end="0"/>
                                            </p:txEl>
                                          </p:spTgt>
                                        </p:tgtEl>
                                        <p:attrNameLst>
                                          <p:attrName>r</p:attrName>
                                        </p:attrNameLst>
                                      </p:cBhvr>
                                    </p:animRot>
                                    <p:animRot by="1500000">
                                      <p:cBhvr>
                                        <p:cTn id="10" dur="125" fill="hold">
                                          <p:stCondLst>
                                            <p:cond delay="375"/>
                                          </p:stCondLst>
                                        </p:cTn>
                                        <p:tgtEl>
                                          <p:spTgt spid="3">
                                            <p:txEl>
                                              <p:pRg st="0" end="0"/>
                                            </p:txEl>
                                          </p:spTgt>
                                        </p:tgtEl>
                                        <p:attrNameLst>
                                          <p:attrName>r</p:attrName>
                                        </p:attrNameLst>
                                      </p:cBhvr>
                                    </p:animRot>
                                  </p:childTnLst>
                                </p:cTn>
                              </p:par>
                              <p:par>
                                <p:cTn id="11" presetID="34" presetClass="emph" presetSubtype="0" fill="hold" grpId="0" nodeType="withEffect">
                                  <p:stCondLst>
                                    <p:cond delay="0"/>
                                  </p:stCondLst>
                                  <p:iterate type="lt">
                                    <p:tmPct val="10000"/>
                                  </p:iterate>
                                  <p:childTnLst>
                                    <p:animMotion origin="layout" path="M 0.0 0.0 L 0.0 -0.07213" pathEditMode="relative" ptsTypes="">
                                      <p:cBhvr>
                                        <p:cTn id="12" dur="250" accel="50000" decel="50000" autoRev="1" fill="hold">
                                          <p:stCondLst>
                                            <p:cond delay="0"/>
                                          </p:stCondLst>
                                        </p:cTn>
                                        <p:tgtEl>
                                          <p:spTgt spid="3">
                                            <p:txEl>
                                              <p:pRg st="1" end="1"/>
                                            </p:txEl>
                                          </p:spTgt>
                                        </p:tgtEl>
                                        <p:attrNameLst>
                                          <p:attrName>ppt_x</p:attrName>
                                          <p:attrName>ppt_y</p:attrName>
                                        </p:attrNameLst>
                                      </p:cBhvr>
                                    </p:animMotion>
                                    <p:animRot by="1500000">
                                      <p:cBhvr>
                                        <p:cTn id="13" dur="125" fill="hold">
                                          <p:stCondLst>
                                            <p:cond delay="0"/>
                                          </p:stCondLst>
                                        </p:cTn>
                                        <p:tgtEl>
                                          <p:spTgt spid="3">
                                            <p:txEl>
                                              <p:pRg st="1" end="1"/>
                                            </p:txEl>
                                          </p:spTgt>
                                        </p:tgtEl>
                                        <p:attrNameLst>
                                          <p:attrName>r</p:attrName>
                                        </p:attrNameLst>
                                      </p:cBhvr>
                                    </p:animRot>
                                    <p:animRot by="-1500000">
                                      <p:cBhvr>
                                        <p:cTn id="14" dur="125" fill="hold">
                                          <p:stCondLst>
                                            <p:cond delay="125"/>
                                          </p:stCondLst>
                                        </p:cTn>
                                        <p:tgtEl>
                                          <p:spTgt spid="3">
                                            <p:txEl>
                                              <p:pRg st="1" end="1"/>
                                            </p:txEl>
                                          </p:spTgt>
                                        </p:tgtEl>
                                        <p:attrNameLst>
                                          <p:attrName>r</p:attrName>
                                        </p:attrNameLst>
                                      </p:cBhvr>
                                    </p:animRot>
                                    <p:animRot by="-1500000">
                                      <p:cBhvr>
                                        <p:cTn id="15" dur="125" fill="hold">
                                          <p:stCondLst>
                                            <p:cond delay="250"/>
                                          </p:stCondLst>
                                        </p:cTn>
                                        <p:tgtEl>
                                          <p:spTgt spid="3">
                                            <p:txEl>
                                              <p:pRg st="1" end="1"/>
                                            </p:txEl>
                                          </p:spTgt>
                                        </p:tgtEl>
                                        <p:attrNameLst>
                                          <p:attrName>r</p:attrName>
                                        </p:attrNameLst>
                                      </p:cBhvr>
                                    </p:animRot>
                                    <p:animRot by="1500000">
                                      <p:cBhvr>
                                        <p:cTn id="16" dur="125" fill="hold">
                                          <p:stCondLst>
                                            <p:cond delay="375"/>
                                          </p:stCondLst>
                                        </p:cTn>
                                        <p:tgtEl>
                                          <p:spTgt spid="3">
                                            <p:txEl>
                                              <p:pRg st="1" end="1"/>
                                            </p:txEl>
                                          </p:spTgt>
                                        </p:tgtEl>
                                        <p:attrNameLst>
                                          <p:attrName>r</p:attrName>
                                        </p:attrNameLst>
                                      </p:cBhvr>
                                    </p:animRot>
                                  </p:childTnLst>
                                </p:cTn>
                              </p:par>
                              <p:par>
                                <p:cTn id="17" presetID="34" presetClass="emph" presetSubtype="0" fill="hold" grpId="0" nodeType="withEffect">
                                  <p:stCondLst>
                                    <p:cond delay="0"/>
                                  </p:stCondLst>
                                  <p:iterate type="lt">
                                    <p:tmPct val="10000"/>
                                  </p:iterate>
                                  <p:childTnLst>
                                    <p:animMotion origin="layout" path="M 0.0 0.0 L 0.0 -0.07213" pathEditMode="relative" ptsTypes="">
                                      <p:cBhvr>
                                        <p:cTn id="18" dur="250" accel="50000" decel="50000" autoRev="1" fill="hold">
                                          <p:stCondLst>
                                            <p:cond delay="0"/>
                                          </p:stCondLst>
                                        </p:cTn>
                                        <p:tgtEl>
                                          <p:spTgt spid="3">
                                            <p:txEl>
                                              <p:pRg st="2" end="2"/>
                                            </p:txEl>
                                          </p:spTgt>
                                        </p:tgtEl>
                                        <p:attrNameLst>
                                          <p:attrName>ppt_x</p:attrName>
                                          <p:attrName>ppt_y</p:attrName>
                                        </p:attrNameLst>
                                      </p:cBhvr>
                                    </p:animMotion>
                                    <p:animRot by="1500000">
                                      <p:cBhvr>
                                        <p:cTn id="19" dur="125" fill="hold">
                                          <p:stCondLst>
                                            <p:cond delay="0"/>
                                          </p:stCondLst>
                                        </p:cTn>
                                        <p:tgtEl>
                                          <p:spTgt spid="3">
                                            <p:txEl>
                                              <p:pRg st="2" end="2"/>
                                            </p:txEl>
                                          </p:spTgt>
                                        </p:tgtEl>
                                        <p:attrNameLst>
                                          <p:attrName>r</p:attrName>
                                        </p:attrNameLst>
                                      </p:cBhvr>
                                    </p:animRot>
                                    <p:animRot by="-1500000">
                                      <p:cBhvr>
                                        <p:cTn id="20" dur="125" fill="hold">
                                          <p:stCondLst>
                                            <p:cond delay="125"/>
                                          </p:stCondLst>
                                        </p:cTn>
                                        <p:tgtEl>
                                          <p:spTgt spid="3">
                                            <p:txEl>
                                              <p:pRg st="2" end="2"/>
                                            </p:txEl>
                                          </p:spTgt>
                                        </p:tgtEl>
                                        <p:attrNameLst>
                                          <p:attrName>r</p:attrName>
                                        </p:attrNameLst>
                                      </p:cBhvr>
                                    </p:animRot>
                                    <p:animRot by="-1500000">
                                      <p:cBhvr>
                                        <p:cTn id="21" dur="125" fill="hold">
                                          <p:stCondLst>
                                            <p:cond delay="250"/>
                                          </p:stCondLst>
                                        </p:cTn>
                                        <p:tgtEl>
                                          <p:spTgt spid="3">
                                            <p:txEl>
                                              <p:pRg st="2" end="2"/>
                                            </p:txEl>
                                          </p:spTgt>
                                        </p:tgtEl>
                                        <p:attrNameLst>
                                          <p:attrName>r</p:attrName>
                                        </p:attrNameLst>
                                      </p:cBhvr>
                                    </p:animRot>
                                    <p:animRot by="1500000">
                                      <p:cBhvr>
                                        <p:cTn id="22" dur="125" fill="hold">
                                          <p:stCondLst>
                                            <p:cond delay="375"/>
                                          </p:stCondLst>
                                        </p:cTn>
                                        <p:tgtEl>
                                          <p:spTgt spid="3">
                                            <p:txEl>
                                              <p:pRg st="2" end="2"/>
                                            </p:txEl>
                                          </p:spTgt>
                                        </p:tgtEl>
                                        <p:attrNameLst>
                                          <p:attrName>r</p:attrName>
                                        </p:attrNameLst>
                                      </p:cBhvr>
                                    </p:animRot>
                                  </p:childTnLst>
                                </p:cTn>
                              </p:par>
                              <p:par>
                                <p:cTn id="23" presetID="34" presetClass="emph" presetSubtype="0" fill="hold" grpId="0" nodeType="withEffect">
                                  <p:stCondLst>
                                    <p:cond delay="0"/>
                                  </p:stCondLst>
                                  <p:iterate type="lt">
                                    <p:tmPct val="10000"/>
                                  </p:iterate>
                                  <p:childTnLst>
                                    <p:animMotion origin="layout" path="M 0.0 0.0 L 0.0 -0.07213" pathEditMode="relative" ptsTypes="">
                                      <p:cBhvr>
                                        <p:cTn id="24" dur="250" accel="50000" decel="50000" autoRev="1" fill="hold">
                                          <p:stCondLst>
                                            <p:cond delay="0"/>
                                          </p:stCondLst>
                                        </p:cTn>
                                        <p:tgtEl>
                                          <p:spTgt spid="3">
                                            <p:txEl>
                                              <p:pRg st="3" end="3"/>
                                            </p:txEl>
                                          </p:spTgt>
                                        </p:tgtEl>
                                        <p:attrNameLst>
                                          <p:attrName>ppt_x</p:attrName>
                                          <p:attrName>ppt_y</p:attrName>
                                        </p:attrNameLst>
                                      </p:cBhvr>
                                    </p:animMotion>
                                    <p:animRot by="1500000">
                                      <p:cBhvr>
                                        <p:cTn id="25" dur="125" fill="hold">
                                          <p:stCondLst>
                                            <p:cond delay="0"/>
                                          </p:stCondLst>
                                        </p:cTn>
                                        <p:tgtEl>
                                          <p:spTgt spid="3">
                                            <p:txEl>
                                              <p:pRg st="3" end="3"/>
                                            </p:txEl>
                                          </p:spTgt>
                                        </p:tgtEl>
                                        <p:attrNameLst>
                                          <p:attrName>r</p:attrName>
                                        </p:attrNameLst>
                                      </p:cBhvr>
                                    </p:animRot>
                                    <p:animRot by="-1500000">
                                      <p:cBhvr>
                                        <p:cTn id="26" dur="125" fill="hold">
                                          <p:stCondLst>
                                            <p:cond delay="125"/>
                                          </p:stCondLst>
                                        </p:cTn>
                                        <p:tgtEl>
                                          <p:spTgt spid="3">
                                            <p:txEl>
                                              <p:pRg st="3" end="3"/>
                                            </p:txEl>
                                          </p:spTgt>
                                        </p:tgtEl>
                                        <p:attrNameLst>
                                          <p:attrName>r</p:attrName>
                                        </p:attrNameLst>
                                      </p:cBhvr>
                                    </p:animRot>
                                    <p:animRot by="-1500000">
                                      <p:cBhvr>
                                        <p:cTn id="27" dur="125" fill="hold">
                                          <p:stCondLst>
                                            <p:cond delay="250"/>
                                          </p:stCondLst>
                                        </p:cTn>
                                        <p:tgtEl>
                                          <p:spTgt spid="3">
                                            <p:txEl>
                                              <p:pRg st="3" end="3"/>
                                            </p:txEl>
                                          </p:spTgt>
                                        </p:tgtEl>
                                        <p:attrNameLst>
                                          <p:attrName>r</p:attrName>
                                        </p:attrNameLst>
                                      </p:cBhvr>
                                    </p:animRot>
                                    <p:animRot by="1500000">
                                      <p:cBhvr>
                                        <p:cTn id="28" dur="125" fill="hold">
                                          <p:stCondLst>
                                            <p:cond delay="375"/>
                                          </p:stCondLst>
                                        </p:cTn>
                                        <p:tgtEl>
                                          <p:spTgt spid="3">
                                            <p:txEl>
                                              <p:pRg st="3" end="3"/>
                                            </p:txEl>
                                          </p:spTgt>
                                        </p:tgtEl>
                                        <p:attrNameLst>
                                          <p:attrName>r</p:attrName>
                                        </p:attrNameLst>
                                      </p:cBhvr>
                                    </p:animRot>
                                  </p:childTnLst>
                                </p:cTn>
                              </p:par>
                              <p:par>
                                <p:cTn id="29" presetID="34" presetClass="emph" presetSubtype="0" fill="hold" grpId="0" nodeType="withEffect">
                                  <p:stCondLst>
                                    <p:cond delay="0"/>
                                  </p:stCondLst>
                                  <p:iterate type="lt">
                                    <p:tmPct val="10000"/>
                                  </p:iterate>
                                  <p:childTnLst>
                                    <p:animMotion origin="layout" path="M 0.0 0.0 L 0.0 -0.07213" pathEditMode="relative" ptsTypes="">
                                      <p:cBhvr>
                                        <p:cTn id="30" dur="250" accel="50000" decel="50000" autoRev="1" fill="hold">
                                          <p:stCondLst>
                                            <p:cond delay="0"/>
                                          </p:stCondLst>
                                        </p:cTn>
                                        <p:tgtEl>
                                          <p:spTgt spid="3">
                                            <p:txEl>
                                              <p:pRg st="4" end="4"/>
                                            </p:txEl>
                                          </p:spTgt>
                                        </p:tgtEl>
                                        <p:attrNameLst>
                                          <p:attrName>ppt_x</p:attrName>
                                          <p:attrName>ppt_y</p:attrName>
                                        </p:attrNameLst>
                                      </p:cBhvr>
                                    </p:animMotion>
                                    <p:animRot by="1500000">
                                      <p:cBhvr>
                                        <p:cTn id="31" dur="125" fill="hold">
                                          <p:stCondLst>
                                            <p:cond delay="0"/>
                                          </p:stCondLst>
                                        </p:cTn>
                                        <p:tgtEl>
                                          <p:spTgt spid="3">
                                            <p:txEl>
                                              <p:pRg st="4" end="4"/>
                                            </p:txEl>
                                          </p:spTgt>
                                        </p:tgtEl>
                                        <p:attrNameLst>
                                          <p:attrName>r</p:attrName>
                                        </p:attrNameLst>
                                      </p:cBhvr>
                                    </p:animRot>
                                    <p:animRot by="-1500000">
                                      <p:cBhvr>
                                        <p:cTn id="32" dur="125" fill="hold">
                                          <p:stCondLst>
                                            <p:cond delay="125"/>
                                          </p:stCondLst>
                                        </p:cTn>
                                        <p:tgtEl>
                                          <p:spTgt spid="3">
                                            <p:txEl>
                                              <p:pRg st="4" end="4"/>
                                            </p:txEl>
                                          </p:spTgt>
                                        </p:tgtEl>
                                        <p:attrNameLst>
                                          <p:attrName>r</p:attrName>
                                        </p:attrNameLst>
                                      </p:cBhvr>
                                    </p:animRot>
                                    <p:animRot by="-1500000">
                                      <p:cBhvr>
                                        <p:cTn id="33" dur="125" fill="hold">
                                          <p:stCondLst>
                                            <p:cond delay="250"/>
                                          </p:stCondLst>
                                        </p:cTn>
                                        <p:tgtEl>
                                          <p:spTgt spid="3">
                                            <p:txEl>
                                              <p:pRg st="4" end="4"/>
                                            </p:txEl>
                                          </p:spTgt>
                                        </p:tgtEl>
                                        <p:attrNameLst>
                                          <p:attrName>r</p:attrName>
                                        </p:attrNameLst>
                                      </p:cBhvr>
                                    </p:animRot>
                                    <p:animRot by="1500000">
                                      <p:cBhvr>
                                        <p:cTn id="34" dur="125" fill="hold">
                                          <p:stCondLst>
                                            <p:cond delay="375"/>
                                          </p:stCondLst>
                                        </p:cTn>
                                        <p:tgtEl>
                                          <p:spTgt spid="3">
                                            <p:txEl>
                                              <p:pRg st="4" end="4"/>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46111" y="452718"/>
            <a:ext cx="9404723" cy="717176"/>
          </a:xfrm>
        </p:spPr>
        <p:txBody>
          <a:bodyPr/>
          <a:lstStyle/>
          <a:p>
            <a:pPr algn="r"/>
            <a:r>
              <a:rPr lang="he-IL" dirty="0" smtClean="0"/>
              <a:t>והדין העברי</a:t>
            </a:r>
            <a:endParaRPr lang="he-IL" dirty="0"/>
          </a:p>
        </p:txBody>
      </p:sp>
      <p:sp>
        <p:nvSpPr>
          <p:cNvPr id="3" name="מציין מיקום תוכן 2"/>
          <p:cNvSpPr>
            <a:spLocks noGrp="1"/>
          </p:cNvSpPr>
          <p:nvPr>
            <p:ph idx="1"/>
          </p:nvPr>
        </p:nvSpPr>
        <p:spPr>
          <a:xfrm>
            <a:off x="1103312" y="1842246"/>
            <a:ext cx="8946541" cy="4840941"/>
          </a:xfrm>
        </p:spPr>
        <p:txBody>
          <a:bodyPr>
            <a:noAutofit/>
          </a:bodyPr>
          <a:lstStyle/>
          <a:p>
            <a:r>
              <a:rPr lang="he-IL" sz="2400" dirty="0"/>
              <a:t>המושג "בוררות" יסודו במקורות המשפט העברי, אלא שבהם הבורר הוא בעל הדין הבוחר (בורר) את </a:t>
            </a:r>
            <a:r>
              <a:rPr lang="he-IL" sz="2800" dirty="0"/>
              <a:t>הדיינים</a:t>
            </a:r>
            <a:r>
              <a:rPr lang="he-IL" sz="2400" dirty="0"/>
              <a:t> שידונו בעניינו, והדיינים נקראים בו ברורים [=מי שביררו אותם]. וזה לשון המשנה </a:t>
            </a:r>
            <a:r>
              <a:rPr lang="he-IL" sz="2400" dirty="0" smtClean="0"/>
              <a:t>:</a:t>
            </a:r>
          </a:p>
          <a:p>
            <a:r>
              <a:rPr lang="he-IL" sz="2400" dirty="0" smtClean="0"/>
              <a:t>זה </a:t>
            </a:r>
            <a:r>
              <a:rPr lang="he-IL" sz="2400" dirty="0"/>
              <a:t>בורר לו אחד, וזה בורר לו אחד, ושניהן [שני בעלי הדין] </a:t>
            </a:r>
            <a:r>
              <a:rPr lang="he-IL" sz="2400" dirty="0" err="1"/>
              <a:t>בוררין</a:t>
            </a:r>
            <a:r>
              <a:rPr lang="he-IL" sz="2400" dirty="0"/>
              <a:t> להן עוד אחד. דברי רבי מאיר. וחכמים אומרים: שני </a:t>
            </a:r>
            <a:r>
              <a:rPr lang="he-IL" sz="2400" dirty="0" err="1"/>
              <a:t>דיינין</a:t>
            </a:r>
            <a:r>
              <a:rPr lang="he-IL" sz="2400" dirty="0"/>
              <a:t> </a:t>
            </a:r>
            <a:r>
              <a:rPr lang="he-IL" sz="2400" dirty="0" err="1"/>
              <a:t>בוררין</a:t>
            </a:r>
            <a:r>
              <a:rPr lang="he-IL" sz="2400" dirty="0"/>
              <a:t> להן עוד אחד. </a:t>
            </a:r>
          </a:p>
          <a:p>
            <a:r>
              <a:rPr lang="he-IL" sz="2400" dirty="0" smtClean="0"/>
              <a:t>כך הצדדים יכולים </a:t>
            </a:r>
            <a:r>
              <a:rPr lang="he-IL" sz="2400" dirty="0"/>
              <a:t>לקבוע בעצמם מי יהיו השופטים בבוררות</a:t>
            </a:r>
            <a:r>
              <a:rPr lang="he-IL" sz="2400" dirty="0" smtClean="0"/>
              <a:t>. </a:t>
            </a:r>
            <a:r>
              <a:rPr lang="he-IL" sz="2400" dirty="0"/>
              <a:t>והבוררים חייבים בעיקרון לפסוק את הדין רק לפי דין </a:t>
            </a:r>
            <a:r>
              <a:rPr lang="he-IL" sz="2400" dirty="0" smtClean="0"/>
              <a:t>תורה.</a:t>
            </a:r>
            <a:endParaRPr lang="he-IL" sz="2400" dirty="0"/>
          </a:p>
          <a:p>
            <a:r>
              <a:rPr lang="he-IL" sz="2400" dirty="0" smtClean="0"/>
              <a:t>התלמוד </a:t>
            </a:r>
            <a:r>
              <a:rPr lang="he-IL" sz="2400" dirty="0"/>
              <a:t>דן בהיגיון העומד ביסוד שיטת הבוררות שבה כל צד בוחר את אחד </a:t>
            </a:r>
            <a:r>
              <a:rPr lang="he-IL" sz="2400" dirty="0" smtClean="0"/>
              <a:t>הדיינים ושואל</a:t>
            </a:r>
            <a:r>
              <a:rPr lang="he-IL" sz="2400" dirty="0"/>
              <a:t>: מדוע לא עדיפה שיטה שבה שני הצדדים מסכימים יחד על זהות שלושת הבוררים, כדי שיהיו כל הבוררים אובייקטיביים לחלוטין. </a:t>
            </a:r>
            <a:r>
              <a:rPr lang="he-IL" sz="2400" dirty="0" smtClean="0"/>
              <a:t>הטעם </a:t>
            </a:r>
            <a:r>
              <a:rPr lang="he-IL" sz="2400" dirty="0"/>
              <a:t>לדבר </a:t>
            </a:r>
            <a:r>
              <a:rPr lang="he-IL" sz="2400" dirty="0" smtClean="0"/>
              <a:t>לעמדתו הוא</a:t>
            </a:r>
            <a:r>
              <a:rPr lang="he-IL" sz="2400" dirty="0"/>
              <a:t>: "מתוך שזה בורר לו דיין אחד וזה בורר לו דיין אחד ושניהן </a:t>
            </a:r>
            <a:r>
              <a:rPr lang="he-IL" sz="2400" dirty="0" err="1"/>
              <a:t>בוררין</a:t>
            </a:r>
            <a:r>
              <a:rPr lang="he-IL" sz="2400" dirty="0"/>
              <a:t> להן עוד אחד - יצא הדין לאמיתו</a:t>
            </a:r>
            <a:r>
              <a:rPr lang="he-IL" sz="2400" dirty="0" smtClean="0"/>
              <a:t>". </a:t>
            </a:r>
            <a:endParaRPr lang="he-IL" sz="2400" dirty="0"/>
          </a:p>
        </p:txBody>
      </p:sp>
      <p:pic>
        <p:nvPicPr>
          <p:cNvPr id="4" name="תמונה 3"/>
          <p:cNvPicPr>
            <a:picLocks noChangeAspect="1"/>
          </p:cNvPicPr>
          <p:nvPr/>
        </p:nvPicPr>
        <p:blipFill>
          <a:blip r:embed="rId3"/>
          <a:stretch>
            <a:fillRect/>
          </a:stretch>
        </p:blipFill>
        <p:spPr>
          <a:xfrm>
            <a:off x="160630" y="0"/>
            <a:ext cx="1830408" cy="1662545"/>
          </a:xfrm>
          <a:prstGeom prst="rect">
            <a:avLst/>
          </a:prstGeom>
        </p:spPr>
      </p:pic>
    </p:spTree>
    <p:extLst>
      <p:ext uri="{BB962C8B-B14F-4D97-AF65-F5344CB8AC3E}">
        <p14:creationId xmlns:p14="http://schemas.microsoft.com/office/powerpoint/2010/main" val="26595772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מעלות הבוררות</a:t>
            </a:r>
            <a:endParaRPr lang="he-IL" dirty="0"/>
          </a:p>
        </p:txBody>
      </p:sp>
      <p:sp>
        <p:nvSpPr>
          <p:cNvPr id="3" name="מציין מיקום תוכן 2"/>
          <p:cNvSpPr>
            <a:spLocks noGrp="1"/>
          </p:cNvSpPr>
          <p:nvPr>
            <p:ph idx="1"/>
          </p:nvPr>
        </p:nvSpPr>
        <p:spPr>
          <a:xfrm>
            <a:off x="947737" y="2845398"/>
            <a:ext cx="7840423" cy="4195481"/>
          </a:xfrm>
        </p:spPr>
        <p:txBody>
          <a:bodyPr>
            <a:normAutofit/>
          </a:bodyPr>
          <a:lstStyle/>
          <a:p>
            <a:r>
              <a:rPr lang="he-IL" sz="2400" dirty="0" smtClean="0"/>
              <a:t>גם בתי המשפט וגם מתדיינים פרטיים, </a:t>
            </a:r>
            <a:r>
              <a:rPr lang="he-IL" sz="2400" dirty="0" err="1" smtClean="0"/>
              <a:t>מעונינים</a:t>
            </a:r>
            <a:r>
              <a:rPr lang="he-IL" sz="2400" dirty="0" smtClean="0"/>
              <a:t> בפתרון סכסוכים על דרך הבוררות ; כל אחד מטעמיו:</a:t>
            </a:r>
          </a:p>
          <a:p>
            <a:r>
              <a:rPr lang="he-IL" sz="2400" dirty="0" smtClean="0"/>
              <a:t>בתי המשפט –</a:t>
            </a:r>
          </a:p>
          <a:p>
            <a:r>
              <a:rPr lang="he-IL" sz="2400" dirty="0" smtClean="0"/>
              <a:t> כי זה מפחית מעומס התיקים שקיים בבתי המשפט.</a:t>
            </a:r>
          </a:p>
          <a:p>
            <a:r>
              <a:rPr lang="he-IL" sz="2400" dirty="0" smtClean="0"/>
              <a:t>הצדדים – </a:t>
            </a:r>
          </a:p>
          <a:p>
            <a:r>
              <a:rPr lang="he-IL" sz="2400" dirty="0" smtClean="0"/>
              <a:t>בחירת בורר לטעמם.</a:t>
            </a:r>
          </a:p>
          <a:p>
            <a:r>
              <a:rPr lang="he-IL" sz="2400" dirty="0" smtClean="0"/>
              <a:t>שמירה על פרטיות.</a:t>
            </a:r>
          </a:p>
          <a:p>
            <a:r>
              <a:rPr lang="he-IL" sz="2400" dirty="0" smtClean="0"/>
              <a:t>יעיל ומהיר.</a:t>
            </a:r>
            <a:endParaRPr lang="he-IL" sz="2400" dirty="0"/>
          </a:p>
        </p:txBody>
      </p:sp>
      <p:pic>
        <p:nvPicPr>
          <p:cNvPr id="2050" name="Picture 2" descr="תוצאת תמונה עבור מעלות"/>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4954"/>
            <a:ext cx="2209800" cy="193484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996551" y="6305797"/>
            <a:ext cx="558140" cy="369332"/>
          </a:xfrm>
          <a:prstGeom prst="rect">
            <a:avLst/>
          </a:prstGeom>
          <a:noFill/>
        </p:spPr>
        <p:txBody>
          <a:bodyPr wrap="square" rtlCol="1">
            <a:spAutoFit/>
          </a:bodyPr>
          <a:lstStyle/>
          <a:p>
            <a:r>
              <a:rPr lang="he-IL" dirty="0" smtClean="0"/>
              <a:t>4</a:t>
            </a:r>
            <a:endParaRPr lang="he-IL" dirty="0"/>
          </a:p>
        </p:txBody>
      </p:sp>
    </p:spTree>
    <p:extLst>
      <p:ext uri="{BB962C8B-B14F-4D97-AF65-F5344CB8AC3E}">
        <p14:creationId xmlns:p14="http://schemas.microsoft.com/office/powerpoint/2010/main" val="32072040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חסרונות הבוררות</a:t>
            </a:r>
            <a:endParaRPr lang="he-IL" dirty="0"/>
          </a:p>
        </p:txBody>
      </p:sp>
      <p:sp>
        <p:nvSpPr>
          <p:cNvPr id="3" name="מציין מיקום תוכן 2"/>
          <p:cNvSpPr>
            <a:spLocks noGrp="1"/>
          </p:cNvSpPr>
          <p:nvPr>
            <p:ph idx="1"/>
          </p:nvPr>
        </p:nvSpPr>
        <p:spPr>
          <a:xfrm>
            <a:off x="3145868" y="1626920"/>
            <a:ext cx="8946541" cy="4916384"/>
          </a:xfrm>
        </p:spPr>
        <p:txBody>
          <a:bodyPr>
            <a:noAutofit/>
          </a:bodyPr>
          <a:lstStyle/>
          <a:p>
            <a:endParaRPr lang="he-IL" sz="2800" dirty="0" smtClean="0"/>
          </a:p>
          <a:p>
            <a:r>
              <a:rPr lang="he-IL" sz="2800" dirty="0" smtClean="0"/>
              <a:t>אין ערעור "כללי" על פסק דינו של הבורר</a:t>
            </a:r>
            <a:r>
              <a:rPr lang="he-IL" sz="2800" dirty="0"/>
              <a:t>. </a:t>
            </a:r>
            <a:endParaRPr lang="he-IL" sz="2800" dirty="0" smtClean="0"/>
          </a:p>
          <a:p>
            <a:r>
              <a:rPr lang="he-IL" sz="2800" dirty="0" smtClean="0"/>
              <a:t>קיימת </a:t>
            </a:r>
            <a:r>
              <a:rPr lang="he-IL" sz="2800" dirty="0"/>
              <a:t>אפשרות ערעור </a:t>
            </a:r>
            <a:r>
              <a:rPr lang="he-IL" sz="2800" dirty="0" smtClean="0"/>
              <a:t>מוגבלת (הוספה </a:t>
            </a:r>
            <a:r>
              <a:rPr lang="he-IL" sz="2800" dirty="0"/>
              <a:t>בשנת 2008) </a:t>
            </a:r>
            <a:r>
              <a:rPr lang="he-IL" sz="2800" dirty="0" smtClean="0"/>
              <a:t>בסעיף </a:t>
            </a:r>
            <a:r>
              <a:rPr lang="he-IL" sz="2800" dirty="0"/>
              <a:t>21א לתוספת </a:t>
            </a:r>
            <a:r>
              <a:rPr lang="he-IL" sz="2800" dirty="0" err="1"/>
              <a:t>השניה</a:t>
            </a:r>
            <a:r>
              <a:rPr lang="he-IL" sz="2800" dirty="0"/>
              <a:t>. </a:t>
            </a:r>
            <a:r>
              <a:rPr lang="he-IL" sz="2800" dirty="0" smtClean="0"/>
              <a:t>ו-רשות </a:t>
            </a:r>
            <a:r>
              <a:rPr lang="he-IL" sz="2800" dirty="0"/>
              <a:t>ערעור לביהמ"ש לפי סעיף 29 ב </a:t>
            </a:r>
            <a:r>
              <a:rPr lang="he-IL" sz="2800" dirty="0" smtClean="0"/>
              <a:t>לחוק.</a:t>
            </a:r>
            <a:endParaRPr lang="he-IL" sz="2800" dirty="0"/>
          </a:p>
          <a:p>
            <a:r>
              <a:rPr lang="he-IL" sz="2800" dirty="0" smtClean="0"/>
              <a:t>בתי המשפט "</a:t>
            </a:r>
            <a:r>
              <a:rPr lang="he-IL" sz="2800" dirty="0" err="1" smtClean="0"/>
              <a:t>מגינים</a:t>
            </a:r>
            <a:r>
              <a:rPr lang="he-IL" sz="2800" dirty="0" smtClean="0"/>
              <a:t>" על פסק הבורר גם כאשר טעותו גלויה לעין.</a:t>
            </a:r>
          </a:p>
          <a:p>
            <a:r>
              <a:rPr lang="he-IL" sz="2800" dirty="0" smtClean="0"/>
              <a:t>קיימות רק  עילות ביטול הפסק </a:t>
            </a:r>
            <a:r>
              <a:rPr lang="he-IL" sz="2800" dirty="0" smtClean="0"/>
              <a:t>, שמופיעות בסעיף 24 לחוק הבוררות.</a:t>
            </a:r>
            <a:endParaRPr lang="he-IL" sz="2800" dirty="0" smtClean="0"/>
          </a:p>
          <a:p>
            <a:r>
              <a:rPr lang="he-IL" sz="2800" dirty="0" smtClean="0"/>
              <a:t>במידה ובדיון יש גילויי אלימות, אין משטרה זמינה.</a:t>
            </a:r>
          </a:p>
          <a:p>
            <a:endParaRPr lang="he-IL" sz="2800" dirty="0"/>
          </a:p>
        </p:txBody>
      </p:sp>
      <p:pic>
        <p:nvPicPr>
          <p:cNvPr id="4" name="תמונה 3"/>
          <p:cNvPicPr>
            <a:picLocks noChangeAspect="1"/>
          </p:cNvPicPr>
          <p:nvPr/>
        </p:nvPicPr>
        <p:blipFill>
          <a:blip r:embed="rId3"/>
          <a:stretch>
            <a:fillRect/>
          </a:stretch>
        </p:blipFill>
        <p:spPr>
          <a:xfrm>
            <a:off x="301126" y="2594251"/>
            <a:ext cx="1658303" cy="2429011"/>
          </a:xfrm>
          <a:prstGeom prst="rect">
            <a:avLst/>
          </a:prstGeom>
        </p:spPr>
      </p:pic>
      <p:sp>
        <p:nvSpPr>
          <p:cNvPr id="5" name="TextBox 4"/>
          <p:cNvSpPr txBox="1"/>
          <p:nvPr/>
        </p:nvSpPr>
        <p:spPr>
          <a:xfrm>
            <a:off x="11257808" y="6424551"/>
            <a:ext cx="320634" cy="369332"/>
          </a:xfrm>
          <a:prstGeom prst="rect">
            <a:avLst/>
          </a:prstGeom>
          <a:noFill/>
        </p:spPr>
        <p:txBody>
          <a:bodyPr wrap="square" rtlCol="1">
            <a:spAutoFit/>
          </a:bodyPr>
          <a:lstStyle/>
          <a:p>
            <a:r>
              <a:rPr lang="he-IL" dirty="0" smtClean="0"/>
              <a:t>5</a:t>
            </a:r>
            <a:endParaRPr lang="he-IL" dirty="0"/>
          </a:p>
        </p:txBody>
      </p:sp>
    </p:spTree>
    <p:extLst>
      <p:ext uri="{BB962C8B-B14F-4D97-AF65-F5344CB8AC3E}">
        <p14:creationId xmlns:p14="http://schemas.microsoft.com/office/powerpoint/2010/main" val="2372886548"/>
      </p:ext>
    </p:extLst>
  </p:cSld>
  <p:clrMapOvr>
    <a:masterClrMapping/>
  </p:clrMapOvr>
  <mc:AlternateContent xmlns:mc="http://schemas.openxmlformats.org/markup-compatibility/2006" xmlns:p14="http://schemas.microsoft.com/office/powerpoint/2010/main">
    <mc:Choice Requires="p14">
      <p:transition spd="slow" p14:dur="1250">
        <p14:switch dir="l"/>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88615" y="785227"/>
            <a:ext cx="9404723" cy="1400530"/>
          </a:xfrm>
        </p:spPr>
        <p:txBody>
          <a:bodyPr/>
          <a:lstStyle/>
          <a:p>
            <a:pPr algn="r"/>
            <a:r>
              <a:rPr lang="he-IL" dirty="0" smtClean="0"/>
              <a:t>הסכם הבוררות או </a:t>
            </a:r>
            <a:r>
              <a:rPr lang="he-IL" dirty="0" err="1" smtClean="0"/>
              <a:t>תניית</a:t>
            </a:r>
            <a:r>
              <a:rPr lang="he-IL" dirty="0" smtClean="0"/>
              <a:t> בוררות</a:t>
            </a:r>
            <a:endParaRPr lang="he-IL" dirty="0"/>
          </a:p>
        </p:txBody>
      </p:sp>
      <p:sp>
        <p:nvSpPr>
          <p:cNvPr id="3" name="מציין מיקום תוכן 2"/>
          <p:cNvSpPr>
            <a:spLocks noGrp="1"/>
          </p:cNvSpPr>
          <p:nvPr>
            <p:ph idx="1"/>
          </p:nvPr>
        </p:nvSpPr>
        <p:spPr/>
        <p:txBody>
          <a:bodyPr>
            <a:normAutofit lnSpcReduction="10000"/>
          </a:bodyPr>
          <a:lstStyle/>
          <a:p>
            <a:r>
              <a:rPr lang="he-IL" sz="2800" dirty="0" smtClean="0"/>
              <a:t>הדרך לשכלל את הסכם הבוררות זה באמצעות סעיף מיוחד בהסכם שבין הצדדים, שמכונה </a:t>
            </a:r>
            <a:r>
              <a:rPr lang="he-IL" sz="2800" dirty="0" err="1" smtClean="0"/>
              <a:t>תניית</a:t>
            </a:r>
            <a:r>
              <a:rPr lang="he-IL" sz="2800" dirty="0" smtClean="0"/>
              <a:t> בוררות, או בהסכם בוררות נפרד.</a:t>
            </a:r>
          </a:p>
          <a:p>
            <a:r>
              <a:rPr lang="he-IL" sz="2800" dirty="0" err="1" smtClean="0"/>
              <a:t>תניית</a:t>
            </a:r>
            <a:r>
              <a:rPr lang="he-IL" sz="2800" dirty="0" smtClean="0"/>
              <a:t> הבוררות יכולה להיות שמית, כלומר לנקוב בשמו של הבורר או הבוררים; וכן יכולה להצביע על חילופין: אם הראשון לא יוכל/יסכים, יבוא השני וכך הלאה.</a:t>
            </a:r>
          </a:p>
          <a:p>
            <a:r>
              <a:rPr lang="he-IL" sz="2800" dirty="0" smtClean="0"/>
              <a:t>התניה יכולה להיות גם כללית, כמו: נשיא איגוד לשכות המסחר ימנה את הבורר. משמעות תניה כזו היא שכל מי שימש כנשיא בתקופה הרלבנטית, - יש לו סמכות מינוי. אם צד ג' אינו ממנה – ביהמ"ש ימנה.</a:t>
            </a:r>
          </a:p>
          <a:p>
            <a:r>
              <a:rPr lang="he-IL" sz="2800" dirty="0" smtClean="0"/>
              <a:t>ההסכם הנפרד – יכול להיות ברוח דומה.</a:t>
            </a:r>
          </a:p>
          <a:p>
            <a:endParaRPr lang="he-IL" sz="2800" dirty="0" smtClean="0"/>
          </a:p>
          <a:p>
            <a:endParaRPr lang="he-IL" sz="2800" dirty="0"/>
          </a:p>
        </p:txBody>
      </p:sp>
      <p:pic>
        <p:nvPicPr>
          <p:cNvPr id="3074" name="Picture 2" descr="תוצאת תמונה עבור יצירה"/>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757548" cy="17100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740325" y="6121831"/>
            <a:ext cx="991892" cy="369332"/>
          </a:xfrm>
          <a:prstGeom prst="rect">
            <a:avLst/>
          </a:prstGeom>
          <a:noFill/>
        </p:spPr>
        <p:txBody>
          <a:bodyPr wrap="square" rtlCol="1">
            <a:spAutoFit/>
          </a:bodyPr>
          <a:lstStyle/>
          <a:p>
            <a:r>
              <a:rPr lang="he-IL" dirty="0" smtClean="0"/>
              <a:t>6</a:t>
            </a:r>
            <a:endParaRPr lang="he-IL" dirty="0"/>
          </a:p>
        </p:txBody>
      </p:sp>
    </p:spTree>
    <p:extLst>
      <p:ext uri="{BB962C8B-B14F-4D97-AF65-F5344CB8AC3E}">
        <p14:creationId xmlns:p14="http://schemas.microsoft.com/office/powerpoint/2010/main" val="10863330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בוררות כמעכבת הליכים</a:t>
            </a:r>
            <a:endParaRPr lang="he-IL" dirty="0"/>
          </a:p>
        </p:txBody>
      </p:sp>
      <p:sp>
        <p:nvSpPr>
          <p:cNvPr id="3" name="מציין מיקום תוכן 2"/>
          <p:cNvSpPr>
            <a:spLocks noGrp="1"/>
          </p:cNvSpPr>
          <p:nvPr>
            <p:ph idx="1"/>
          </p:nvPr>
        </p:nvSpPr>
        <p:spPr>
          <a:xfrm>
            <a:off x="1103312" y="1653988"/>
            <a:ext cx="8946541" cy="4594411"/>
          </a:xfrm>
        </p:spPr>
        <p:txBody>
          <a:bodyPr>
            <a:normAutofit/>
          </a:bodyPr>
          <a:lstStyle/>
          <a:p>
            <a:r>
              <a:rPr lang="he-IL" sz="3200" dirty="0" smtClean="0"/>
              <a:t>סעיף 5 לחוק הבוררות דן בסיטואציה מה קורה אם למרות סעיף בוררות בהסכם, מוגשת תביעה לבית משפט.</a:t>
            </a:r>
          </a:p>
          <a:p>
            <a:r>
              <a:rPr lang="he-IL" sz="3200" dirty="0" smtClean="0"/>
              <a:t>הקביעה – ביהמ"ש יעכב את הדיון בבימ"ש אם יתבקש לכך ובלבד שמי שמבקש את העיכוב,-מוכן לעשות כל הדרוש לקיום הבוררות ולהמשכה.</a:t>
            </a:r>
          </a:p>
          <a:p>
            <a:r>
              <a:rPr lang="he-IL" sz="3200" dirty="0" smtClean="0"/>
              <a:t>הבקשה תוגש בהזדמנות הראשונה.</a:t>
            </a:r>
          </a:p>
          <a:p>
            <a:endParaRPr lang="he-IL" sz="2800" dirty="0"/>
          </a:p>
        </p:txBody>
      </p:sp>
      <p:pic>
        <p:nvPicPr>
          <p:cNvPr id="4" name="תמונה 3"/>
          <p:cNvPicPr>
            <a:picLocks noChangeAspect="1"/>
          </p:cNvPicPr>
          <p:nvPr/>
        </p:nvPicPr>
        <p:blipFill>
          <a:blip r:embed="rId3"/>
          <a:stretch>
            <a:fillRect/>
          </a:stretch>
        </p:blipFill>
        <p:spPr>
          <a:xfrm>
            <a:off x="0" y="4772396"/>
            <a:ext cx="2847975" cy="2085604"/>
          </a:xfrm>
          <a:prstGeom prst="rect">
            <a:avLst/>
          </a:prstGeom>
        </p:spPr>
      </p:pic>
      <p:sp>
        <p:nvSpPr>
          <p:cNvPr id="5" name="TextBox 4"/>
          <p:cNvSpPr txBox="1"/>
          <p:nvPr/>
        </p:nvSpPr>
        <p:spPr>
          <a:xfrm>
            <a:off x="10414861" y="5904854"/>
            <a:ext cx="1053885" cy="369332"/>
          </a:xfrm>
          <a:prstGeom prst="rect">
            <a:avLst/>
          </a:prstGeom>
          <a:noFill/>
        </p:spPr>
        <p:txBody>
          <a:bodyPr wrap="square" rtlCol="1">
            <a:spAutoFit/>
          </a:bodyPr>
          <a:lstStyle/>
          <a:p>
            <a:r>
              <a:rPr lang="he-IL" dirty="0" smtClean="0"/>
              <a:t>7</a:t>
            </a:r>
            <a:endParaRPr lang="he-IL" dirty="0"/>
          </a:p>
        </p:txBody>
      </p:sp>
    </p:spTree>
    <p:extLst>
      <p:ext uri="{BB962C8B-B14F-4D97-AF65-F5344CB8AC3E}">
        <p14:creationId xmlns:p14="http://schemas.microsoft.com/office/powerpoint/2010/main" val="4181175221"/>
      </p:ext>
    </p:extLst>
  </p:cSld>
  <p:clrMapOvr>
    <a:masterClrMapping/>
  </p:clrMapOvr>
  <mc:AlternateContent xmlns:mc="http://schemas.openxmlformats.org/markup-compatibility/2006" xmlns:p14="http://schemas.microsoft.com/office/powerpoint/2010/main">
    <mc:Choice Requires="p14">
      <p:transition spd="slow" p14:dur="1250">
        <p14:switch dir="l"/>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המדינה כצד להליך בוררות</a:t>
            </a:r>
            <a:endParaRPr lang="he-IL" dirty="0"/>
          </a:p>
        </p:txBody>
      </p:sp>
      <p:sp>
        <p:nvSpPr>
          <p:cNvPr id="3" name="מציין מיקום תוכן 2"/>
          <p:cNvSpPr>
            <a:spLocks noGrp="1"/>
          </p:cNvSpPr>
          <p:nvPr>
            <p:ph idx="1"/>
          </p:nvPr>
        </p:nvSpPr>
        <p:spPr/>
        <p:txBody>
          <a:bodyPr>
            <a:normAutofit lnSpcReduction="10000"/>
          </a:bodyPr>
          <a:lstStyle/>
          <a:p>
            <a:r>
              <a:rPr lang="he-IL" sz="3200" dirty="0" smtClean="0"/>
              <a:t>בשנת 2003 יצאה הנחיה של היועמ"ש רובינשטיין, שכעקרון המדינה לא תלך לבוררות, מאחר וברצונה למצות את מירב ההליכים בדרך להכרעה.</a:t>
            </a:r>
          </a:p>
          <a:p>
            <a:endParaRPr lang="he-IL" sz="3200" dirty="0"/>
          </a:p>
          <a:p>
            <a:r>
              <a:rPr lang="he-IL" sz="3200" dirty="0" smtClean="0"/>
              <a:t>בשנת 2009-שונתה ההנחיה, ע"י מזוז כי במידה והמדובר באינטרס אזרחי, </a:t>
            </a:r>
            <a:r>
              <a:rPr lang="he-IL" sz="3200" dirty="0" err="1" smtClean="0"/>
              <a:t>בענין</a:t>
            </a:r>
            <a:r>
              <a:rPr lang="he-IL" sz="3200" dirty="0" smtClean="0"/>
              <a:t> של יחסים מתמשכים המחייבים הכרעה של גורם מקצועי ותוך דגש על היעדר פומביות – ניתן לפנות לבוררות.</a:t>
            </a:r>
            <a:endParaRPr lang="he-IL" sz="3200" dirty="0"/>
          </a:p>
        </p:txBody>
      </p:sp>
      <p:pic>
        <p:nvPicPr>
          <p:cNvPr id="4" name="תמונה 3"/>
          <p:cNvPicPr>
            <a:picLocks noChangeAspect="1"/>
          </p:cNvPicPr>
          <p:nvPr/>
        </p:nvPicPr>
        <p:blipFill>
          <a:blip r:embed="rId3"/>
          <a:stretch>
            <a:fillRect/>
          </a:stretch>
        </p:blipFill>
        <p:spPr>
          <a:xfrm>
            <a:off x="0" y="0"/>
            <a:ext cx="1734671" cy="1586753"/>
          </a:xfrm>
          <a:prstGeom prst="rect">
            <a:avLst/>
          </a:prstGeom>
        </p:spPr>
      </p:pic>
    </p:spTree>
    <p:extLst>
      <p:ext uri="{BB962C8B-B14F-4D97-AF65-F5344CB8AC3E}">
        <p14:creationId xmlns:p14="http://schemas.microsoft.com/office/powerpoint/2010/main" val="18445580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מתי ההליכים לא יעוכבו למרות סעיף בוררות?</a:t>
            </a:r>
            <a:endParaRPr lang="he-IL" dirty="0"/>
          </a:p>
        </p:txBody>
      </p:sp>
      <p:sp>
        <p:nvSpPr>
          <p:cNvPr id="3" name="מציין מיקום תוכן 2"/>
          <p:cNvSpPr>
            <a:spLocks noGrp="1"/>
          </p:cNvSpPr>
          <p:nvPr>
            <p:ph idx="1"/>
          </p:nvPr>
        </p:nvSpPr>
        <p:spPr/>
        <p:txBody>
          <a:bodyPr>
            <a:normAutofit/>
          </a:bodyPr>
          <a:lstStyle/>
          <a:p>
            <a:r>
              <a:rPr lang="he-IL" sz="2800" dirty="0" smtClean="0"/>
              <a:t>כשהמדובר </a:t>
            </a:r>
            <a:r>
              <a:rPr lang="he-IL" sz="2800" dirty="0" err="1" smtClean="0"/>
              <a:t>בענין</a:t>
            </a:r>
            <a:r>
              <a:rPr lang="he-IL" sz="2800" dirty="0" smtClean="0"/>
              <a:t> בעל חשיבות ציבורית מיוחדת.</a:t>
            </a:r>
          </a:p>
          <a:p>
            <a:r>
              <a:rPr lang="he-IL" sz="2800" dirty="0" smtClean="0"/>
              <a:t>לדוגמא</a:t>
            </a:r>
            <a:r>
              <a:rPr lang="he-IL" sz="2800" dirty="0" smtClean="0"/>
              <a:t>:</a:t>
            </a:r>
          </a:p>
          <a:p>
            <a:r>
              <a:rPr lang="he-IL" sz="2800" dirty="0" smtClean="0"/>
              <a:t>תביעת </a:t>
            </a:r>
            <a:r>
              <a:rPr lang="he-IL" sz="2800" dirty="0" err="1" smtClean="0"/>
              <a:t>רוכשי</a:t>
            </a:r>
            <a:r>
              <a:rPr lang="he-IL" sz="2800" dirty="0" smtClean="0"/>
              <a:t> דירות נגד קבלן באשמת מצג שווא. </a:t>
            </a:r>
          </a:p>
          <a:p>
            <a:r>
              <a:rPr lang="he-IL" sz="2800" dirty="0" smtClean="0"/>
              <a:t>שיוך </a:t>
            </a:r>
            <a:r>
              <a:rPr lang="he-IL" sz="2800" dirty="0" smtClean="0"/>
              <a:t>דירות בקיבוץ לפרטים – נפסק כי השאלה בעלת אופי חוקתי וחשיבות ציבורית שחורגת </a:t>
            </a:r>
            <a:r>
              <a:rPr lang="he-IL" sz="2800" dirty="0" err="1" smtClean="0"/>
              <a:t>מענינם</a:t>
            </a:r>
            <a:r>
              <a:rPr lang="he-IL" sz="2800" dirty="0" smtClean="0"/>
              <a:t> של הצדדים.</a:t>
            </a:r>
          </a:p>
          <a:p>
            <a:endParaRPr lang="he-IL" sz="2800" dirty="0"/>
          </a:p>
        </p:txBody>
      </p:sp>
      <p:pic>
        <p:nvPicPr>
          <p:cNvPr id="4" name="תמונה 3"/>
          <p:cNvPicPr>
            <a:picLocks noChangeAspect="1"/>
          </p:cNvPicPr>
          <p:nvPr/>
        </p:nvPicPr>
        <p:blipFill>
          <a:blip r:embed="rId3"/>
          <a:stretch>
            <a:fillRect/>
          </a:stretch>
        </p:blipFill>
        <p:spPr>
          <a:xfrm>
            <a:off x="113954" y="5010150"/>
            <a:ext cx="2466975" cy="1847850"/>
          </a:xfrm>
          <a:prstGeom prst="rect">
            <a:avLst/>
          </a:prstGeom>
        </p:spPr>
      </p:pic>
      <p:sp>
        <p:nvSpPr>
          <p:cNvPr id="5" name="TextBox 4"/>
          <p:cNvSpPr txBox="1"/>
          <p:nvPr/>
        </p:nvSpPr>
        <p:spPr>
          <a:xfrm>
            <a:off x="10647336" y="5656881"/>
            <a:ext cx="960895" cy="369332"/>
          </a:xfrm>
          <a:prstGeom prst="rect">
            <a:avLst/>
          </a:prstGeom>
          <a:noFill/>
        </p:spPr>
        <p:txBody>
          <a:bodyPr wrap="square" rtlCol="1">
            <a:spAutoFit/>
          </a:bodyPr>
          <a:lstStyle/>
          <a:p>
            <a:r>
              <a:rPr lang="he-IL" dirty="0" smtClean="0"/>
              <a:t>8</a:t>
            </a:r>
            <a:endParaRPr lang="he-IL" dirty="0"/>
          </a:p>
        </p:txBody>
      </p:sp>
    </p:spTree>
    <p:extLst>
      <p:ext uri="{BB962C8B-B14F-4D97-AF65-F5344CB8AC3E}">
        <p14:creationId xmlns:p14="http://schemas.microsoft.com/office/powerpoint/2010/main" val="3018284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אמנה בין-לאומית</a:t>
            </a:r>
            <a:endParaRPr lang="he-IL" dirty="0"/>
          </a:p>
        </p:txBody>
      </p:sp>
      <p:sp>
        <p:nvSpPr>
          <p:cNvPr id="3" name="מציין מיקום תוכן 2"/>
          <p:cNvSpPr>
            <a:spLocks noGrp="1"/>
          </p:cNvSpPr>
          <p:nvPr>
            <p:ph idx="1"/>
          </p:nvPr>
        </p:nvSpPr>
        <p:spPr>
          <a:xfrm>
            <a:off x="1103312" y="1573306"/>
            <a:ext cx="8946541" cy="4675093"/>
          </a:xfrm>
        </p:spPr>
        <p:txBody>
          <a:bodyPr>
            <a:normAutofit/>
          </a:bodyPr>
          <a:lstStyle/>
          <a:p>
            <a:r>
              <a:rPr lang="he-IL" sz="2800" dirty="0" smtClean="0"/>
              <a:t>כשקיימת אמנה בין לאומית שישראל צד לה, שקובעת הוראות </a:t>
            </a:r>
            <a:r>
              <a:rPr lang="he-IL" sz="2800" dirty="0" err="1" smtClean="0"/>
              <a:t>לענין</a:t>
            </a:r>
            <a:r>
              <a:rPr lang="he-IL" sz="2800" dirty="0" smtClean="0"/>
              <a:t> עיכוב הליכים והוגשה בכל זאת תובענה לבית המשפט. קובע סעיף 6 לחוק הבוררות כי בית המשפט יעכב את ההליכים , ויעשה שימוש בפרוצדורה של סעיף 5 לחוק.</a:t>
            </a:r>
            <a:endParaRPr lang="he-IL" sz="2800" dirty="0"/>
          </a:p>
        </p:txBody>
      </p:sp>
      <p:pic>
        <p:nvPicPr>
          <p:cNvPr id="4" name="תמונה 3"/>
          <p:cNvPicPr>
            <a:picLocks noChangeAspect="1"/>
          </p:cNvPicPr>
          <p:nvPr/>
        </p:nvPicPr>
        <p:blipFill>
          <a:blip r:embed="rId3"/>
          <a:stretch>
            <a:fillRect/>
          </a:stretch>
        </p:blipFill>
        <p:spPr>
          <a:xfrm>
            <a:off x="986208" y="4623769"/>
            <a:ext cx="2619375" cy="1743075"/>
          </a:xfrm>
          <a:prstGeom prst="rect">
            <a:avLst/>
          </a:prstGeom>
        </p:spPr>
      </p:pic>
      <p:sp>
        <p:nvSpPr>
          <p:cNvPr id="5" name="TextBox 4"/>
          <p:cNvSpPr txBox="1"/>
          <p:nvPr/>
        </p:nvSpPr>
        <p:spPr>
          <a:xfrm>
            <a:off x="10399363" y="5610386"/>
            <a:ext cx="774915" cy="369332"/>
          </a:xfrm>
          <a:prstGeom prst="rect">
            <a:avLst/>
          </a:prstGeom>
          <a:noFill/>
        </p:spPr>
        <p:txBody>
          <a:bodyPr wrap="square" rtlCol="1">
            <a:spAutoFit/>
          </a:bodyPr>
          <a:lstStyle/>
          <a:p>
            <a:r>
              <a:rPr lang="he-IL" dirty="0" smtClean="0"/>
              <a:t>9</a:t>
            </a:r>
            <a:endParaRPr lang="he-IL" dirty="0"/>
          </a:p>
        </p:txBody>
      </p:sp>
    </p:spTree>
    <p:extLst>
      <p:ext uri="{BB962C8B-B14F-4D97-AF65-F5344CB8AC3E}">
        <p14:creationId xmlns:p14="http://schemas.microsoft.com/office/powerpoint/2010/main" val="9256428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גישור - הגדרה</a:t>
            </a:r>
            <a:endParaRPr lang="he-IL" dirty="0"/>
          </a:p>
        </p:txBody>
      </p:sp>
      <p:sp>
        <p:nvSpPr>
          <p:cNvPr id="3" name="מציין מיקום תוכן 2"/>
          <p:cNvSpPr>
            <a:spLocks noGrp="1"/>
          </p:cNvSpPr>
          <p:nvPr>
            <p:ph idx="1"/>
          </p:nvPr>
        </p:nvSpPr>
        <p:spPr>
          <a:xfrm>
            <a:off x="1245815" y="1949824"/>
            <a:ext cx="8946541" cy="4783485"/>
          </a:xfrm>
        </p:spPr>
        <p:txBody>
          <a:bodyPr>
            <a:normAutofit/>
          </a:bodyPr>
          <a:lstStyle/>
          <a:p>
            <a:r>
              <a:rPr lang="he-IL" sz="2800" dirty="0" smtClean="0"/>
              <a:t>זו דרך נוספת לפתרון סכסוכים בה מכיר הדין הישראלי במסגרת חוק בתי המשפט.</a:t>
            </a:r>
          </a:p>
          <a:p>
            <a:r>
              <a:rPr lang="he-IL" sz="2800" dirty="0" smtClean="0"/>
              <a:t>”</a:t>
            </a:r>
            <a:r>
              <a:rPr lang="he-IL" sz="2800" dirty="0"/>
              <a:t>גישור“ – הליך שבו נועד מגשר עם בעלי הדין, כדי להביאם לידי הסכמה ליישוב הסכסוך, מבלי שיש בידו סמכות להכריע בו.</a:t>
            </a:r>
          </a:p>
          <a:p>
            <a:r>
              <a:rPr lang="he-IL" sz="2800" dirty="0"/>
              <a:t>”הסדר גישור“ – הסכם בין בעלי הדין על יישוב סכסוך שביניהם שהושג בסיומו של הליך גישור;</a:t>
            </a:r>
          </a:p>
          <a:p>
            <a:r>
              <a:rPr lang="he-IL" sz="2800" dirty="0"/>
              <a:t>”מגשר“ – מי שתפקידו לסייע בידי בעלי הדין להגיע להסכמה על יישוב סכסוך שביניהם בהליך גישור בדרך של ניהול משא ומתן חופשי.</a:t>
            </a:r>
          </a:p>
          <a:p>
            <a:endParaRPr lang="he-IL" sz="2800" dirty="0"/>
          </a:p>
        </p:txBody>
      </p:sp>
      <p:pic>
        <p:nvPicPr>
          <p:cNvPr id="4" name="תמונה 3"/>
          <p:cNvPicPr>
            <a:picLocks noChangeAspect="1"/>
          </p:cNvPicPr>
          <p:nvPr/>
        </p:nvPicPr>
        <p:blipFill>
          <a:blip r:embed="rId3"/>
          <a:stretch>
            <a:fillRect/>
          </a:stretch>
        </p:blipFill>
        <p:spPr>
          <a:xfrm>
            <a:off x="0" y="-1"/>
            <a:ext cx="1828800" cy="1710047"/>
          </a:xfrm>
          <a:prstGeom prst="rect">
            <a:avLst/>
          </a:prstGeom>
        </p:spPr>
      </p:pic>
      <p:sp>
        <p:nvSpPr>
          <p:cNvPr id="5" name="TextBox 4"/>
          <p:cNvSpPr txBox="1"/>
          <p:nvPr/>
        </p:nvSpPr>
        <p:spPr>
          <a:xfrm>
            <a:off x="10848814" y="5997844"/>
            <a:ext cx="821410" cy="369332"/>
          </a:xfrm>
          <a:prstGeom prst="rect">
            <a:avLst/>
          </a:prstGeom>
          <a:noFill/>
        </p:spPr>
        <p:txBody>
          <a:bodyPr wrap="square" rtlCol="1">
            <a:spAutoFit/>
          </a:bodyPr>
          <a:lstStyle/>
          <a:p>
            <a:r>
              <a:rPr lang="he-IL" dirty="0" smtClean="0"/>
              <a:t>10</a:t>
            </a:r>
            <a:endParaRPr lang="he-IL" dirty="0"/>
          </a:p>
        </p:txBody>
      </p:sp>
    </p:spTree>
    <p:extLst>
      <p:ext uri="{BB962C8B-B14F-4D97-AF65-F5344CB8AC3E}">
        <p14:creationId xmlns:p14="http://schemas.microsoft.com/office/powerpoint/2010/main" val="28565366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נושאי הגישור</a:t>
            </a:r>
            <a:endParaRPr lang="he-IL" dirty="0"/>
          </a:p>
        </p:txBody>
      </p:sp>
      <p:sp>
        <p:nvSpPr>
          <p:cNvPr id="3" name="מציין מיקום תוכן 2"/>
          <p:cNvSpPr>
            <a:spLocks noGrp="1"/>
          </p:cNvSpPr>
          <p:nvPr>
            <p:ph idx="1"/>
          </p:nvPr>
        </p:nvSpPr>
        <p:spPr/>
        <p:txBody>
          <a:bodyPr>
            <a:normAutofit lnSpcReduction="10000"/>
          </a:bodyPr>
          <a:lstStyle/>
          <a:p>
            <a:r>
              <a:rPr lang="he-IL" dirty="0"/>
              <a:t>סכסוכי שכנים - בין שכנים בבניין או ברחוב</a:t>
            </a:r>
          </a:p>
          <a:p>
            <a:r>
              <a:rPr lang="he-IL" dirty="0"/>
              <a:t>סכסוכים מוניציפליים - בין אזרח </a:t>
            </a:r>
            <a:r>
              <a:rPr lang="he-IL" dirty="0" err="1"/>
              <a:t>ל</a:t>
            </a:r>
            <a:r>
              <a:rPr lang="he-IL" dirty="0" err="1">
                <a:hlinkClick r:id="rId3" tooltip="עיריה"/>
              </a:rPr>
              <a:t>עיריה</a:t>
            </a:r>
            <a:r>
              <a:rPr lang="he-IL" dirty="0"/>
              <a:t> או </a:t>
            </a:r>
            <a:r>
              <a:rPr lang="he-IL" dirty="0">
                <a:hlinkClick r:id="rId4" tooltip="מועצה מקומית"/>
              </a:rPr>
              <a:t>מועצה מקומית</a:t>
            </a:r>
            <a:endParaRPr lang="he-IL" dirty="0"/>
          </a:p>
          <a:p>
            <a:r>
              <a:rPr lang="he-IL" dirty="0">
                <a:hlinkClick r:id="rId5" tooltip="צרכנות"/>
              </a:rPr>
              <a:t>צרכנות</a:t>
            </a:r>
            <a:r>
              <a:rPr lang="he-IL" dirty="0"/>
              <a:t> - בין נותן שירות ללקוח</a:t>
            </a:r>
          </a:p>
          <a:p>
            <a:r>
              <a:rPr lang="he-IL" dirty="0"/>
              <a:t>סכסוכים עסקיים - בין </a:t>
            </a:r>
            <a:r>
              <a:rPr lang="he-IL" dirty="0">
                <a:hlinkClick r:id="rId6" tooltip="שותפות"/>
              </a:rPr>
              <a:t>שותפים</a:t>
            </a:r>
            <a:r>
              <a:rPr lang="he-IL" dirty="0"/>
              <a:t> או מתחרים</a:t>
            </a:r>
          </a:p>
          <a:p>
            <a:r>
              <a:rPr lang="he-IL" dirty="0">
                <a:hlinkClick r:id="rId7" tooltip="גירושים"/>
              </a:rPr>
              <a:t>גירושים</a:t>
            </a:r>
            <a:r>
              <a:rPr lang="he-IL" dirty="0"/>
              <a:t>, פרידה, טיפול בילדים - בין בני זוג במהלך </a:t>
            </a:r>
            <a:r>
              <a:rPr lang="he-IL" dirty="0">
                <a:hlinkClick r:id="rId8" tooltip="נישואין"/>
              </a:rPr>
              <a:t>נישואין</a:t>
            </a:r>
            <a:r>
              <a:rPr lang="he-IL" dirty="0"/>
              <a:t>, לפני או אחרי</a:t>
            </a:r>
          </a:p>
          <a:p>
            <a:r>
              <a:rPr lang="he-IL" dirty="0">
                <a:hlinkClick r:id="rId9" tooltip="ירושה"/>
              </a:rPr>
              <a:t>ירושה</a:t>
            </a:r>
            <a:r>
              <a:rPr lang="he-IL" dirty="0"/>
              <a:t> - בין יורשים</a:t>
            </a:r>
          </a:p>
          <a:p>
            <a:r>
              <a:rPr lang="he-IL" dirty="0"/>
              <a:t>בעבודה - בין </a:t>
            </a:r>
            <a:r>
              <a:rPr lang="he-IL" dirty="0">
                <a:hlinkClick r:id="rId10" tooltip="עובד"/>
              </a:rPr>
              <a:t>עובד</a:t>
            </a:r>
            <a:r>
              <a:rPr lang="he-IL" dirty="0"/>
              <a:t> למעביד או בין העובדים</a:t>
            </a:r>
          </a:p>
          <a:p>
            <a:r>
              <a:rPr lang="he-IL" dirty="0"/>
              <a:t>ב</a:t>
            </a:r>
            <a:r>
              <a:rPr lang="he-IL" dirty="0">
                <a:hlinkClick r:id="rId11" tooltip="בית ספר"/>
              </a:rPr>
              <a:t>בתי ספר</a:t>
            </a:r>
            <a:r>
              <a:rPr lang="he-IL" dirty="0"/>
              <a:t> - בין תלמידים, בין הורים לבית ספר</a:t>
            </a:r>
          </a:p>
          <a:p>
            <a:r>
              <a:rPr lang="he-IL" dirty="0"/>
              <a:t>סכסוכים מדיניים - בין </a:t>
            </a:r>
            <a:r>
              <a:rPr lang="he-IL" dirty="0">
                <a:hlinkClick r:id="rId12" tooltip="מדינה"/>
              </a:rPr>
              <a:t>מדינות</a:t>
            </a:r>
            <a:r>
              <a:rPr lang="he-IL" dirty="0"/>
              <a:t>, עד לשיחות </a:t>
            </a:r>
            <a:r>
              <a:rPr lang="he-IL" dirty="0">
                <a:hlinkClick r:id="rId13" tooltip="שלום"/>
              </a:rPr>
              <a:t>שלום</a:t>
            </a:r>
            <a:endParaRPr lang="he-IL" dirty="0"/>
          </a:p>
          <a:p>
            <a:r>
              <a:rPr lang="he-IL" dirty="0"/>
              <a:t>גישור </a:t>
            </a:r>
            <a:r>
              <a:rPr lang="he-IL" dirty="0" smtClean="0"/>
              <a:t>בפלילים</a:t>
            </a:r>
            <a:endParaRPr lang="he-IL" dirty="0"/>
          </a:p>
          <a:p>
            <a:endParaRPr lang="he-IL" dirty="0"/>
          </a:p>
        </p:txBody>
      </p:sp>
      <p:pic>
        <p:nvPicPr>
          <p:cNvPr id="4" name="תמונה 3"/>
          <p:cNvPicPr>
            <a:picLocks noChangeAspect="1"/>
          </p:cNvPicPr>
          <p:nvPr/>
        </p:nvPicPr>
        <p:blipFill>
          <a:blip r:embed="rId14"/>
          <a:stretch>
            <a:fillRect/>
          </a:stretch>
        </p:blipFill>
        <p:spPr>
          <a:xfrm>
            <a:off x="0" y="0"/>
            <a:ext cx="2209800" cy="3004457"/>
          </a:xfrm>
          <a:prstGeom prst="rect">
            <a:avLst/>
          </a:prstGeom>
        </p:spPr>
      </p:pic>
      <p:sp>
        <p:nvSpPr>
          <p:cNvPr id="5" name="TextBox 4"/>
          <p:cNvSpPr txBox="1"/>
          <p:nvPr/>
        </p:nvSpPr>
        <p:spPr>
          <a:xfrm>
            <a:off x="10926305" y="5966847"/>
            <a:ext cx="774915" cy="369332"/>
          </a:xfrm>
          <a:prstGeom prst="rect">
            <a:avLst/>
          </a:prstGeom>
          <a:noFill/>
        </p:spPr>
        <p:txBody>
          <a:bodyPr wrap="square" rtlCol="1">
            <a:spAutoFit/>
          </a:bodyPr>
          <a:lstStyle/>
          <a:p>
            <a:r>
              <a:rPr lang="he-IL" dirty="0" smtClean="0"/>
              <a:t>11</a:t>
            </a:r>
            <a:endParaRPr lang="he-IL" dirty="0"/>
          </a:p>
        </p:txBody>
      </p:sp>
    </p:spTree>
    <p:extLst>
      <p:ext uri="{BB962C8B-B14F-4D97-AF65-F5344CB8AC3E}">
        <p14:creationId xmlns:p14="http://schemas.microsoft.com/office/powerpoint/2010/main" val="2390524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15" name="type.wav"/>
          </p:stSnd>
        </p:sndAc>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על קצה המזלג</a:t>
            </a:r>
            <a:endParaRPr lang="he-IL" dirty="0"/>
          </a:p>
        </p:txBody>
      </p:sp>
      <p:sp>
        <p:nvSpPr>
          <p:cNvPr id="3" name="מציין מיקום תוכן 2"/>
          <p:cNvSpPr>
            <a:spLocks noGrp="1"/>
          </p:cNvSpPr>
          <p:nvPr>
            <p:ph idx="1"/>
          </p:nvPr>
        </p:nvSpPr>
        <p:spPr>
          <a:xfrm>
            <a:off x="1103312" y="1627094"/>
            <a:ext cx="8946541" cy="4621305"/>
          </a:xfrm>
        </p:spPr>
        <p:txBody>
          <a:bodyPr>
            <a:normAutofit lnSpcReduction="10000"/>
          </a:bodyPr>
          <a:lstStyle/>
          <a:p>
            <a:r>
              <a:rPr lang="he-IL" sz="2800" dirty="0" smtClean="0"/>
              <a:t>נושאי הגישור, אינם מסתיימים בפסק דין חובה, אלא בהסכמה הדדית, ולכן מתאפשרים בכל תחומיי החיים.</a:t>
            </a:r>
          </a:p>
          <a:p>
            <a:r>
              <a:rPr lang="he-IL" sz="2800" dirty="0" smtClean="0"/>
              <a:t>לעומת זאת הבוררות, שסופה הוא פס"ד בין הצדדים, מחריגה מתוכה כבר מלכתחילה מספר נושאים, כמו:</a:t>
            </a:r>
          </a:p>
          <a:p>
            <a:r>
              <a:rPr lang="he-IL" sz="2800" dirty="0" smtClean="0"/>
              <a:t>-שכירות מוגנה.</a:t>
            </a:r>
          </a:p>
          <a:p>
            <a:r>
              <a:rPr lang="he-IL" sz="2800" dirty="0" smtClean="0"/>
              <a:t>-הסכמים קיבוציים.</a:t>
            </a:r>
          </a:p>
          <a:p>
            <a:r>
              <a:rPr lang="he-IL" sz="2800" dirty="0" smtClean="0"/>
              <a:t>-זכויות עובדים.</a:t>
            </a:r>
          </a:p>
          <a:p>
            <a:r>
              <a:rPr lang="he-IL" sz="2800" dirty="0" smtClean="0"/>
              <a:t>-פירוק חברה ושותפות.</a:t>
            </a:r>
          </a:p>
          <a:p>
            <a:r>
              <a:rPr lang="he-IL" sz="2800" dirty="0" err="1" smtClean="0"/>
              <a:t>ענינים</a:t>
            </a:r>
            <a:r>
              <a:rPr lang="he-IL" sz="2800" dirty="0" smtClean="0"/>
              <a:t> בתחום המעמד האישי: צווי ירושה, גירושין.</a:t>
            </a:r>
          </a:p>
          <a:p>
            <a:endParaRPr lang="he-IL" dirty="0"/>
          </a:p>
        </p:txBody>
      </p:sp>
      <p:pic>
        <p:nvPicPr>
          <p:cNvPr id="4" name="תמונה 3"/>
          <p:cNvPicPr>
            <a:picLocks noChangeAspect="1"/>
          </p:cNvPicPr>
          <p:nvPr/>
        </p:nvPicPr>
        <p:blipFill>
          <a:blip r:embed="rId3"/>
          <a:stretch>
            <a:fillRect/>
          </a:stretch>
        </p:blipFill>
        <p:spPr>
          <a:xfrm>
            <a:off x="1123950" y="3925700"/>
            <a:ext cx="1714500" cy="1857375"/>
          </a:xfrm>
          <a:prstGeom prst="rect">
            <a:avLst/>
          </a:prstGeom>
        </p:spPr>
      </p:pic>
      <p:sp>
        <p:nvSpPr>
          <p:cNvPr id="5" name="TextBox 4"/>
          <p:cNvSpPr txBox="1"/>
          <p:nvPr/>
        </p:nvSpPr>
        <p:spPr>
          <a:xfrm>
            <a:off x="10833315" y="5827363"/>
            <a:ext cx="852407" cy="369332"/>
          </a:xfrm>
          <a:prstGeom prst="rect">
            <a:avLst/>
          </a:prstGeom>
          <a:noFill/>
        </p:spPr>
        <p:txBody>
          <a:bodyPr wrap="square" rtlCol="1">
            <a:spAutoFit/>
          </a:bodyPr>
          <a:lstStyle/>
          <a:p>
            <a:r>
              <a:rPr lang="he-IL" dirty="0" smtClean="0"/>
              <a:t>12</a:t>
            </a:r>
            <a:endParaRPr lang="he-IL" dirty="0"/>
          </a:p>
        </p:txBody>
      </p:sp>
    </p:spTree>
    <p:extLst>
      <p:ext uri="{BB962C8B-B14F-4D97-AF65-F5344CB8AC3E}">
        <p14:creationId xmlns:p14="http://schemas.microsoft.com/office/powerpoint/2010/main" val="31988561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46111" y="452718"/>
            <a:ext cx="9404723" cy="817942"/>
          </a:xfrm>
        </p:spPr>
        <p:txBody>
          <a:bodyPr/>
          <a:lstStyle/>
          <a:p>
            <a:pPr algn="r"/>
            <a:r>
              <a:rPr lang="he-IL" dirty="0" smtClean="0"/>
              <a:t>גישור - הדרך</a:t>
            </a:r>
            <a:endParaRPr lang="he-IL" dirty="0"/>
          </a:p>
        </p:txBody>
      </p:sp>
      <p:sp>
        <p:nvSpPr>
          <p:cNvPr id="3" name="מציין מיקום תוכן 2"/>
          <p:cNvSpPr>
            <a:spLocks noGrp="1"/>
          </p:cNvSpPr>
          <p:nvPr>
            <p:ph idx="1"/>
          </p:nvPr>
        </p:nvSpPr>
        <p:spPr>
          <a:xfrm>
            <a:off x="1103312" y="1947553"/>
            <a:ext cx="8946541" cy="4910447"/>
          </a:xfrm>
        </p:spPr>
        <p:txBody>
          <a:bodyPr>
            <a:normAutofit/>
          </a:bodyPr>
          <a:lstStyle/>
          <a:p>
            <a:r>
              <a:rPr lang="he-IL" sz="2800" dirty="0"/>
              <a:t>בית המשפט רשאי, בהסכמת בעלי הדין, להעביר תובענה לגישור.</a:t>
            </a:r>
          </a:p>
          <a:p>
            <a:r>
              <a:rPr lang="he-IL" sz="2800" dirty="0"/>
              <a:t>בהליך הגישור רשאי מגשר להיוועד עם בעלי הדין, יחד או לחוד, ועם כל מי שקשור לסכסוך; ורשאי הוא להיפגש עם בעל דין, בהסכמתו, בלי עורך דינו.</a:t>
            </a:r>
          </a:p>
          <a:p>
            <a:r>
              <a:rPr lang="he-IL" sz="2800" dirty="0"/>
              <a:t>דברים שנמסרו במסגרת הליך גישור, לא ישמשו ראיה בהליך משפטי אזרחי.</a:t>
            </a:r>
          </a:p>
          <a:p>
            <a:r>
              <a:rPr lang="he-IL" sz="2800" dirty="0" smtClean="0"/>
              <a:t>העביר </a:t>
            </a:r>
            <a:r>
              <a:rPr lang="he-IL" sz="2800" dirty="0"/>
              <a:t>בית המשפט ענין לגישור, יעכב את ההליכים שלפניו לתקופה שיקבע, ורשאי הוא להאריך את התקופה בהסכמת בעלי הדין</a:t>
            </a:r>
            <a:r>
              <a:rPr lang="he-IL" sz="2800" dirty="0" smtClean="0"/>
              <a:t>.</a:t>
            </a:r>
            <a:endParaRPr lang="he-IL" sz="2800" dirty="0"/>
          </a:p>
        </p:txBody>
      </p:sp>
      <p:pic>
        <p:nvPicPr>
          <p:cNvPr id="4" name="תמונה 3"/>
          <p:cNvPicPr>
            <a:picLocks noChangeAspect="1"/>
          </p:cNvPicPr>
          <p:nvPr/>
        </p:nvPicPr>
        <p:blipFill>
          <a:blip r:embed="rId3"/>
          <a:stretch>
            <a:fillRect/>
          </a:stretch>
        </p:blipFill>
        <p:spPr>
          <a:xfrm>
            <a:off x="130630" y="-1"/>
            <a:ext cx="2173184" cy="1531917"/>
          </a:xfrm>
          <a:prstGeom prst="rect">
            <a:avLst/>
          </a:prstGeom>
        </p:spPr>
      </p:pic>
      <p:sp>
        <p:nvSpPr>
          <p:cNvPr id="5" name="TextBox 4"/>
          <p:cNvSpPr txBox="1"/>
          <p:nvPr/>
        </p:nvSpPr>
        <p:spPr>
          <a:xfrm>
            <a:off x="10709329" y="5982346"/>
            <a:ext cx="929898" cy="369332"/>
          </a:xfrm>
          <a:prstGeom prst="rect">
            <a:avLst/>
          </a:prstGeom>
          <a:noFill/>
        </p:spPr>
        <p:txBody>
          <a:bodyPr wrap="square" rtlCol="1">
            <a:spAutoFit/>
          </a:bodyPr>
          <a:lstStyle/>
          <a:p>
            <a:r>
              <a:rPr lang="he-IL" dirty="0" smtClean="0"/>
              <a:t>13</a:t>
            </a:r>
            <a:endParaRPr lang="he-IL" dirty="0"/>
          </a:p>
        </p:txBody>
      </p:sp>
    </p:spTree>
    <p:extLst>
      <p:ext uri="{BB962C8B-B14F-4D97-AF65-F5344CB8AC3E}">
        <p14:creationId xmlns:p14="http://schemas.microsoft.com/office/powerpoint/2010/main" val="37960174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err="1" smtClean="0"/>
              <a:t>כשלון</a:t>
            </a:r>
            <a:r>
              <a:rPr lang="he-IL" dirty="0" smtClean="0"/>
              <a:t> בגישור</a:t>
            </a:r>
            <a:endParaRPr lang="he-IL" dirty="0"/>
          </a:p>
        </p:txBody>
      </p:sp>
      <p:sp>
        <p:nvSpPr>
          <p:cNvPr id="3" name="מציין מיקום תוכן 2"/>
          <p:cNvSpPr>
            <a:spLocks noGrp="1"/>
          </p:cNvSpPr>
          <p:nvPr>
            <p:ph idx="1"/>
          </p:nvPr>
        </p:nvSpPr>
        <p:spPr>
          <a:xfrm>
            <a:off x="1103312" y="2052918"/>
            <a:ext cx="8946541" cy="4526012"/>
          </a:xfrm>
        </p:spPr>
        <p:txBody>
          <a:bodyPr>
            <a:normAutofit lnSpcReduction="10000"/>
          </a:bodyPr>
          <a:lstStyle/>
          <a:p>
            <a:r>
              <a:rPr lang="he-IL" sz="2800" dirty="0"/>
              <a:t>לא הגיעו בעלי הדין להסדר גישור עד תום התקופה האמורה </a:t>
            </a:r>
            <a:r>
              <a:rPr lang="he-IL" sz="2800" dirty="0" smtClean="0"/>
              <a:t>שנקצבה, -יחודשו </a:t>
            </a:r>
            <a:r>
              <a:rPr lang="he-IL" sz="2800" dirty="0"/>
              <a:t>ההליכים בבית המשפט; אולם רשאי בית המשפט, על־פי בקשה של המגשר או של בעל דין, לחדשם בכל עת לפני תום התקופה האמורה.</a:t>
            </a:r>
          </a:p>
          <a:p>
            <a:r>
              <a:rPr lang="he-IL" sz="2800" dirty="0"/>
              <a:t>הגיעו בעלי הדין להסדר גישור, יודיע על כך המגשר לבית המשפט, ובית המשפט יהיה רשאי </a:t>
            </a:r>
            <a:r>
              <a:rPr lang="he-IL" sz="2800" dirty="0" err="1"/>
              <a:t>ליתן</a:t>
            </a:r>
            <a:r>
              <a:rPr lang="he-IL" sz="2800" dirty="0"/>
              <a:t> להסדר תוקף של פסק דין.</a:t>
            </a:r>
          </a:p>
          <a:p>
            <a:r>
              <a:rPr lang="he-IL" sz="2800" dirty="0"/>
              <a:t>הגיע צדדים לסכסוך להסכמה על יישוב הסכסוך שביניהם בגישור שנערך לפי חוק זה, רשאי בית המשפט המוסמך לדון בתובענה נושא הסכסוך לתת להסדר הגישור שהושג ביניהם תוקף של פסק דין, אף אם לא הוגשה תובענה באותו סכסוך.</a:t>
            </a:r>
          </a:p>
          <a:p>
            <a:endParaRPr lang="he-IL" dirty="0"/>
          </a:p>
        </p:txBody>
      </p:sp>
      <p:pic>
        <p:nvPicPr>
          <p:cNvPr id="1026" name="Picture 2" descr="תוצאת תמונה עבור כשלון"/>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23" y="104899"/>
            <a:ext cx="2847975" cy="1600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988298" y="6044339"/>
            <a:ext cx="852407" cy="369332"/>
          </a:xfrm>
          <a:prstGeom prst="rect">
            <a:avLst/>
          </a:prstGeom>
          <a:noFill/>
        </p:spPr>
        <p:txBody>
          <a:bodyPr wrap="square" rtlCol="1">
            <a:spAutoFit/>
          </a:bodyPr>
          <a:lstStyle/>
          <a:p>
            <a:r>
              <a:rPr lang="he-IL" dirty="0" smtClean="0"/>
              <a:t>14</a:t>
            </a:r>
            <a:endParaRPr lang="he-IL" dirty="0"/>
          </a:p>
        </p:txBody>
      </p:sp>
    </p:spTree>
    <p:extLst>
      <p:ext uri="{BB962C8B-B14F-4D97-AF65-F5344CB8AC3E}">
        <p14:creationId xmlns:p14="http://schemas.microsoft.com/office/powerpoint/2010/main" val="26671102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
            </a:r>
            <a:br>
              <a:rPr lang="he-IL" dirty="0" smtClean="0"/>
            </a:br>
            <a:r>
              <a:rPr lang="he-IL" dirty="0" smtClean="0"/>
              <a:t>הבדלים בין גישור לבוררות</a:t>
            </a:r>
            <a:endParaRPr lang="he-IL" dirty="0"/>
          </a:p>
        </p:txBody>
      </p:sp>
      <p:sp>
        <p:nvSpPr>
          <p:cNvPr id="3" name="מציין מיקום תוכן 2"/>
          <p:cNvSpPr>
            <a:spLocks noGrp="1"/>
          </p:cNvSpPr>
          <p:nvPr>
            <p:ph idx="1"/>
          </p:nvPr>
        </p:nvSpPr>
        <p:spPr>
          <a:xfrm>
            <a:off x="1103312" y="2422566"/>
            <a:ext cx="8946541" cy="4126152"/>
          </a:xfrm>
        </p:spPr>
        <p:txBody>
          <a:bodyPr>
            <a:normAutofit lnSpcReduction="10000"/>
          </a:bodyPr>
          <a:lstStyle/>
          <a:p>
            <a:r>
              <a:rPr lang="he-IL" sz="3200" dirty="0" smtClean="0"/>
              <a:t>מה אפשר לעשות בגישור ואי אפשר לעשות בבוררות:</a:t>
            </a:r>
          </a:p>
          <a:p>
            <a:r>
              <a:rPr lang="he-IL" sz="3200" dirty="0" smtClean="0"/>
              <a:t>מגשר אינו כפוף להוראות ולכללי חוק הבוררות.</a:t>
            </a:r>
          </a:p>
          <a:p>
            <a:r>
              <a:rPr lang="he-IL" sz="3200" dirty="0" smtClean="0"/>
              <a:t>מגשר יכול </a:t>
            </a:r>
            <a:r>
              <a:rPr lang="he-IL" sz="3200" dirty="0" err="1" smtClean="0"/>
              <a:t>להפגש</a:t>
            </a:r>
            <a:r>
              <a:rPr lang="he-IL" sz="3200" dirty="0" smtClean="0"/>
              <a:t> עם הצדדים לבד ואף ללא עוה"ד שלהם</a:t>
            </a:r>
          </a:p>
          <a:p>
            <a:r>
              <a:rPr lang="he-IL" sz="3200" dirty="0" smtClean="0"/>
              <a:t>למגשר אין סמכות שיפוטית או מעין שיפוטית.</a:t>
            </a:r>
          </a:p>
          <a:p>
            <a:r>
              <a:rPr lang="he-IL" sz="3200" dirty="0" smtClean="0"/>
              <a:t>מגשר מנהל מו"מ עם צדדים ולא שומע ראיות ועדים.</a:t>
            </a:r>
          </a:p>
          <a:p>
            <a:r>
              <a:rPr lang="he-IL" sz="3200" dirty="0" smtClean="0"/>
              <a:t>הדיון אצל המגשר חסוי, ולא ניתן לעשות בו שימוש.</a:t>
            </a:r>
          </a:p>
          <a:p>
            <a:r>
              <a:rPr lang="he-IL" sz="3200" dirty="0" smtClean="0"/>
              <a:t>הצליח הליך הגישור הוא יובא לצורך מתן פס"ד לבימ"ש</a:t>
            </a:r>
            <a:r>
              <a:rPr lang="he-IL" sz="2800" dirty="0" smtClean="0"/>
              <a:t>.</a:t>
            </a:r>
            <a:endParaRPr lang="he-IL" sz="2800" dirty="0"/>
          </a:p>
        </p:txBody>
      </p:sp>
      <p:pic>
        <p:nvPicPr>
          <p:cNvPr id="2050" name="Picture 2" descr="תוצאת תמונה עבור גישורים"/>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073" y="107373"/>
            <a:ext cx="3028950" cy="203018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910807" y="5579390"/>
            <a:ext cx="821410" cy="369332"/>
          </a:xfrm>
          <a:prstGeom prst="rect">
            <a:avLst/>
          </a:prstGeom>
          <a:noFill/>
        </p:spPr>
        <p:txBody>
          <a:bodyPr wrap="square" rtlCol="1">
            <a:spAutoFit/>
          </a:bodyPr>
          <a:lstStyle/>
          <a:p>
            <a:r>
              <a:rPr lang="he-IL" dirty="0" smtClean="0"/>
              <a:t>15</a:t>
            </a:r>
            <a:endParaRPr lang="he-IL" dirty="0"/>
          </a:p>
        </p:txBody>
      </p:sp>
    </p:spTree>
    <p:extLst>
      <p:ext uri="{BB962C8B-B14F-4D97-AF65-F5344CB8AC3E}">
        <p14:creationId xmlns:p14="http://schemas.microsoft.com/office/powerpoint/2010/main" val="30815746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פתרון מורכב - </a:t>
            </a:r>
            <a:r>
              <a:rPr lang="he-IL" dirty="0" err="1" smtClean="0"/>
              <a:t>גישבור</a:t>
            </a:r>
            <a:endParaRPr lang="he-IL" dirty="0"/>
          </a:p>
        </p:txBody>
      </p:sp>
      <p:sp>
        <p:nvSpPr>
          <p:cNvPr id="3" name="מציין מיקום תוכן 2"/>
          <p:cNvSpPr>
            <a:spLocks noGrp="1"/>
          </p:cNvSpPr>
          <p:nvPr>
            <p:ph idx="1"/>
          </p:nvPr>
        </p:nvSpPr>
        <p:spPr/>
        <p:txBody>
          <a:bodyPr>
            <a:normAutofit/>
          </a:bodyPr>
          <a:lstStyle/>
          <a:p>
            <a:r>
              <a:rPr lang="he-IL" sz="2800" dirty="0" smtClean="0"/>
              <a:t>דובר כבר כי תקנה 5(ח) לתקנות הגישור, הולידה מוסד חדש</a:t>
            </a:r>
            <a:r>
              <a:rPr lang="en-US" sz="2800" dirty="0" smtClean="0"/>
              <a:t>: </a:t>
            </a:r>
            <a:r>
              <a:rPr lang="he-IL" sz="2800" dirty="0" smtClean="0"/>
              <a:t> </a:t>
            </a:r>
            <a:r>
              <a:rPr lang="he-IL" sz="2800" dirty="0" err="1" smtClean="0"/>
              <a:t>גישבור</a:t>
            </a:r>
            <a:r>
              <a:rPr lang="he-IL" sz="2800" dirty="0" smtClean="0"/>
              <a:t>.</a:t>
            </a:r>
          </a:p>
          <a:p>
            <a:r>
              <a:rPr lang="he-IL" sz="2800" dirty="0" smtClean="0"/>
              <a:t>קובעת התקנה:</a:t>
            </a:r>
          </a:p>
          <a:p>
            <a:r>
              <a:rPr lang="he-IL" sz="2800" dirty="0" smtClean="0"/>
              <a:t>"המגשר לא יהיה צד להסדר הגישור, ולא יוטלו עליו בהסדר הגישור חובות ולא יוקנו לו זכויות בין במישרין ובין בעקיפין, ואולם לאחר הפסקת הגישור רשאים בעלי הדין להסכים שהמגשר </a:t>
            </a:r>
            <a:r>
              <a:rPr lang="he-IL" sz="2800" dirty="0" err="1" smtClean="0"/>
              <a:t>יתן</a:t>
            </a:r>
            <a:r>
              <a:rPr lang="he-IL" sz="2800" dirty="0" smtClean="0"/>
              <a:t> חוות דעת על הסכסוך או יתמנה לבורר בסכסוך".</a:t>
            </a:r>
          </a:p>
          <a:p>
            <a:r>
              <a:rPr lang="he-IL" sz="2800" dirty="0" smtClean="0"/>
              <a:t>זה מעין שעטנז שתחילתו "בהבנת הנקרא" וסיומו האפשרי בחיוב הצדדים מבחינה משפטית</a:t>
            </a:r>
            <a:endParaRPr lang="he-IL" sz="2800" dirty="0"/>
          </a:p>
        </p:txBody>
      </p:sp>
      <p:pic>
        <p:nvPicPr>
          <p:cNvPr id="4" name="תמונה 3"/>
          <p:cNvPicPr>
            <a:picLocks noChangeAspect="1"/>
          </p:cNvPicPr>
          <p:nvPr/>
        </p:nvPicPr>
        <p:blipFill>
          <a:blip r:embed="rId3"/>
          <a:stretch>
            <a:fillRect/>
          </a:stretch>
        </p:blipFill>
        <p:spPr>
          <a:xfrm>
            <a:off x="146237" y="101413"/>
            <a:ext cx="2647950" cy="1733550"/>
          </a:xfrm>
          <a:prstGeom prst="rect">
            <a:avLst/>
          </a:prstGeom>
        </p:spPr>
      </p:pic>
      <p:sp>
        <p:nvSpPr>
          <p:cNvPr id="5" name="TextBox 4"/>
          <p:cNvSpPr txBox="1"/>
          <p:nvPr/>
        </p:nvSpPr>
        <p:spPr>
          <a:xfrm>
            <a:off x="11013142" y="5567082"/>
            <a:ext cx="605118" cy="369332"/>
          </a:xfrm>
          <a:prstGeom prst="rect">
            <a:avLst/>
          </a:prstGeom>
          <a:noFill/>
        </p:spPr>
        <p:txBody>
          <a:bodyPr wrap="square" rtlCol="1">
            <a:spAutoFit/>
          </a:bodyPr>
          <a:lstStyle/>
          <a:p>
            <a:r>
              <a:rPr lang="he-IL" dirty="0" smtClean="0"/>
              <a:t>34</a:t>
            </a:r>
            <a:endParaRPr lang="he-IL" dirty="0"/>
          </a:p>
        </p:txBody>
      </p:sp>
    </p:spTree>
    <p:extLst>
      <p:ext uri="{BB962C8B-B14F-4D97-AF65-F5344CB8AC3E}">
        <p14:creationId xmlns:p14="http://schemas.microsoft.com/office/powerpoint/2010/main" val="29517601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הגדרת הבורר בחוק הבוררות התשכ"ח-1968</a:t>
            </a:r>
            <a:endParaRPr lang="he-IL" dirty="0"/>
          </a:p>
        </p:txBody>
      </p:sp>
      <p:sp>
        <p:nvSpPr>
          <p:cNvPr id="3" name="מציין מיקום תוכן 2"/>
          <p:cNvSpPr>
            <a:spLocks noGrp="1"/>
          </p:cNvSpPr>
          <p:nvPr>
            <p:ph idx="1"/>
          </p:nvPr>
        </p:nvSpPr>
        <p:spPr>
          <a:xfrm>
            <a:off x="1364569" y="1637282"/>
            <a:ext cx="8946541" cy="5220718"/>
          </a:xfrm>
        </p:spPr>
        <p:txBody>
          <a:bodyPr>
            <a:normAutofit/>
          </a:bodyPr>
          <a:lstStyle/>
          <a:p>
            <a:r>
              <a:rPr lang="he-IL" sz="2800" dirty="0" smtClean="0"/>
              <a:t>בורר" – בורר שנתמנה בהסכם בוררות או על פיו, לרבות בורר מכריע ובורר חליף".</a:t>
            </a:r>
          </a:p>
          <a:p>
            <a:r>
              <a:rPr lang="he-IL" sz="2800" dirty="0" smtClean="0"/>
              <a:t>ו-"הסכם בוררות" מוגדר כך:</a:t>
            </a:r>
          </a:p>
          <a:p>
            <a:r>
              <a:rPr lang="he-IL" sz="2800" dirty="0" smtClean="0"/>
              <a:t>"הסכם בכתב למסור לבוררות סכסוך שנתגלע בין צדדים להסכם או שעשוי להתגלע ביניהם בעתיד. בין שנקוב בהסכם שמו של בורר ובין אם לאו."</a:t>
            </a:r>
            <a:endParaRPr lang="he-IL" sz="2800" dirty="0"/>
          </a:p>
        </p:txBody>
      </p:sp>
      <p:pic>
        <p:nvPicPr>
          <p:cNvPr id="1026" name="Picture 2" descr="תוצאת תמונה עבור הסכם"/>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721493"/>
            <a:ext cx="2257425" cy="20193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92353" y="5625885"/>
            <a:ext cx="1053884" cy="369332"/>
          </a:xfrm>
          <a:prstGeom prst="rect">
            <a:avLst/>
          </a:prstGeom>
          <a:noFill/>
        </p:spPr>
        <p:txBody>
          <a:bodyPr wrap="square" rtlCol="1">
            <a:spAutoFit/>
          </a:bodyPr>
          <a:lstStyle/>
          <a:p>
            <a:r>
              <a:rPr lang="he-IL" dirty="0" smtClean="0"/>
              <a:t>17</a:t>
            </a:r>
            <a:endParaRPr lang="he-IL" dirty="0"/>
          </a:p>
        </p:txBody>
      </p:sp>
    </p:spTree>
    <p:extLst>
      <p:ext uri="{BB962C8B-B14F-4D97-AF65-F5344CB8AC3E}">
        <p14:creationId xmlns:p14="http://schemas.microsoft.com/office/powerpoint/2010/main" val="34658377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סוג אחר של בוררות</a:t>
            </a:r>
            <a:endParaRPr lang="he-IL" dirty="0"/>
          </a:p>
        </p:txBody>
      </p:sp>
      <p:sp>
        <p:nvSpPr>
          <p:cNvPr id="3" name="מציין מיקום תוכן 2"/>
          <p:cNvSpPr>
            <a:spLocks noGrp="1"/>
          </p:cNvSpPr>
          <p:nvPr>
            <p:ph idx="1"/>
          </p:nvPr>
        </p:nvSpPr>
        <p:spPr/>
        <p:txBody>
          <a:bodyPr>
            <a:normAutofit/>
          </a:bodyPr>
          <a:lstStyle/>
          <a:p>
            <a:r>
              <a:rPr lang="he-IL" sz="2800" dirty="0" smtClean="0"/>
              <a:t>סעיף 39 לחוק הבוררות קובע:</a:t>
            </a:r>
          </a:p>
          <a:p>
            <a:r>
              <a:rPr lang="he-IL" sz="2800" dirty="0" smtClean="0"/>
              <a:t>"אין בהוראות חוק זה כדי למנוע הגשת תובענה לבית המשפט על פי הזכויות והחיובים שנקבעו בפסק בוררות לפי חוק זה או בהכרעה שניתנה על יסוד הסכם בעל פה."</a:t>
            </a:r>
          </a:p>
          <a:p>
            <a:r>
              <a:rPr lang="he-IL" sz="2800" dirty="0" smtClean="0"/>
              <a:t>מסקנה – על בוררות </a:t>
            </a:r>
            <a:r>
              <a:rPr lang="he-IL" sz="2800" smtClean="0"/>
              <a:t>שהשתכללה לפני </a:t>
            </a:r>
            <a:r>
              <a:rPr lang="he-IL" sz="2800" dirty="0" smtClean="0"/>
              <a:t>חוק הבוררות, - יחולו הוראות החוק.</a:t>
            </a:r>
          </a:p>
          <a:p>
            <a:r>
              <a:rPr lang="he-IL" sz="2800" dirty="0" smtClean="0"/>
              <a:t>א ב ל - אין זה פוגע בחופש החוזים ליצור הסכם שמביא להכרעת צד ג סכסוך בין צדדים, בלי לכנותו בוררות, שאז יחול הדין הכללי.</a:t>
            </a:r>
            <a:endParaRPr lang="he-IL" sz="2800" dirty="0"/>
          </a:p>
        </p:txBody>
      </p:sp>
      <p:pic>
        <p:nvPicPr>
          <p:cNvPr id="1026" name="Picture 2" descr="תוצאת תמונה עבור אח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1805"/>
            <a:ext cx="1650669" cy="355564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910807" y="5718875"/>
            <a:ext cx="728420" cy="369332"/>
          </a:xfrm>
          <a:prstGeom prst="rect">
            <a:avLst/>
          </a:prstGeom>
          <a:noFill/>
        </p:spPr>
        <p:txBody>
          <a:bodyPr wrap="square" rtlCol="1">
            <a:spAutoFit/>
          </a:bodyPr>
          <a:lstStyle/>
          <a:p>
            <a:r>
              <a:rPr lang="he-IL" dirty="0" smtClean="0"/>
              <a:t>18</a:t>
            </a:r>
            <a:endParaRPr lang="he-IL" dirty="0"/>
          </a:p>
        </p:txBody>
      </p:sp>
    </p:spTree>
    <p:extLst>
      <p:ext uri="{BB962C8B-B14F-4D97-AF65-F5344CB8AC3E}">
        <p14:creationId xmlns:p14="http://schemas.microsoft.com/office/powerpoint/2010/main" val="38774235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
            </a:r>
            <a:br>
              <a:rPr lang="he-IL" dirty="0" smtClean="0"/>
            </a:br>
            <a:r>
              <a:rPr lang="he-IL" dirty="0" smtClean="0"/>
              <a:t>מ ס ק נ ה</a:t>
            </a:r>
            <a:endParaRPr lang="he-IL" dirty="0"/>
          </a:p>
        </p:txBody>
      </p:sp>
      <p:sp>
        <p:nvSpPr>
          <p:cNvPr id="3" name="מציין מיקום תוכן 2"/>
          <p:cNvSpPr>
            <a:spLocks noGrp="1"/>
          </p:cNvSpPr>
          <p:nvPr>
            <p:ph idx="1"/>
          </p:nvPr>
        </p:nvSpPr>
        <p:spPr>
          <a:xfrm>
            <a:off x="1127062" y="2052918"/>
            <a:ext cx="8946541" cy="4668516"/>
          </a:xfrm>
        </p:spPr>
        <p:txBody>
          <a:bodyPr>
            <a:normAutofit/>
          </a:bodyPr>
          <a:lstStyle/>
          <a:p>
            <a:r>
              <a:rPr lang="he-IL" sz="2800" dirty="0" smtClean="0"/>
              <a:t>לבורר אין כישורים מיוחדים.</a:t>
            </a:r>
          </a:p>
          <a:p>
            <a:r>
              <a:rPr lang="he-IL" sz="2800" dirty="0" smtClean="0"/>
              <a:t>כל מי שייבחר מטעם הצדדים והם יסמיכו אותו להגיע לפתרון הסכסוך ביניהם – יכול להיות בורר.</a:t>
            </a:r>
          </a:p>
          <a:p>
            <a:r>
              <a:rPr lang="he-IL" sz="2800" dirty="0" smtClean="0"/>
              <a:t>הבורר אינו כפוף </a:t>
            </a:r>
            <a:r>
              <a:rPr lang="he-IL" sz="2800" dirty="0" smtClean="0"/>
              <a:t>לדין</a:t>
            </a:r>
            <a:r>
              <a:rPr lang="he-IL" sz="2800" dirty="0" smtClean="0"/>
              <a:t>. הוא יכול לפעול בניגוד לספר החוקים ועפ"י מצפונו.</a:t>
            </a:r>
          </a:p>
          <a:p>
            <a:r>
              <a:rPr lang="he-IL" sz="2800" dirty="0" smtClean="0"/>
              <a:t> א ב ל – </a:t>
            </a:r>
          </a:p>
          <a:p>
            <a:r>
              <a:rPr lang="he-IL" sz="2800" dirty="0" smtClean="0"/>
              <a:t>משנתמנה אדם לבורר ,הדין מטיל עליו חבויות </a:t>
            </a:r>
            <a:r>
              <a:rPr lang="he-IL" sz="2800" dirty="0" err="1" smtClean="0"/>
              <a:t>מסויימות</a:t>
            </a:r>
            <a:r>
              <a:rPr lang="he-IL" sz="2800" dirty="0" smtClean="0"/>
              <a:t> בדרך ניהול הבוררות. </a:t>
            </a:r>
          </a:p>
          <a:p>
            <a:r>
              <a:rPr lang="he-IL" sz="2800" dirty="0" smtClean="0"/>
              <a:t>התנהלות שונה - יכולה לאפס את פסק-הדין של הבורר.</a:t>
            </a:r>
            <a:endParaRPr lang="he-IL" sz="2800" dirty="0"/>
          </a:p>
        </p:txBody>
      </p:sp>
      <p:pic>
        <p:nvPicPr>
          <p:cNvPr id="1026" name="Picture 2" descr="תוצאת תמונה עבור בורר עסקי"/>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495227" cy="249522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941803" y="6075336"/>
            <a:ext cx="821411" cy="369332"/>
          </a:xfrm>
          <a:prstGeom prst="rect">
            <a:avLst/>
          </a:prstGeom>
          <a:noFill/>
        </p:spPr>
        <p:txBody>
          <a:bodyPr wrap="square" rtlCol="1">
            <a:spAutoFit/>
          </a:bodyPr>
          <a:lstStyle/>
          <a:p>
            <a:r>
              <a:rPr lang="he-IL" dirty="0" smtClean="0"/>
              <a:t>19</a:t>
            </a:r>
            <a:endParaRPr lang="he-IL" dirty="0"/>
          </a:p>
        </p:txBody>
      </p:sp>
    </p:spTree>
    <p:extLst>
      <p:ext uri="{BB962C8B-B14F-4D97-AF65-F5344CB8AC3E}">
        <p14:creationId xmlns:p14="http://schemas.microsoft.com/office/powerpoint/2010/main" val="42794424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מהו הסכם בכתב?</a:t>
            </a:r>
            <a:endParaRPr lang="he-IL" dirty="0"/>
          </a:p>
        </p:txBody>
      </p:sp>
      <p:sp>
        <p:nvSpPr>
          <p:cNvPr id="3" name="מציין מיקום תוכן 2"/>
          <p:cNvSpPr>
            <a:spLocks noGrp="1"/>
          </p:cNvSpPr>
          <p:nvPr>
            <p:ph idx="1"/>
          </p:nvPr>
        </p:nvSpPr>
        <p:spPr/>
        <p:txBody>
          <a:bodyPr>
            <a:normAutofit/>
          </a:bodyPr>
          <a:lstStyle/>
          <a:p>
            <a:r>
              <a:rPr lang="he-IL" sz="2800" dirty="0" smtClean="0"/>
              <a:t>סעיף 1 לחוק הבוררות קובע כי יצירת הסכם הבוררות היא בכתב.</a:t>
            </a:r>
          </a:p>
          <a:p>
            <a:r>
              <a:rPr lang="he-IL" sz="2800" dirty="0" smtClean="0"/>
              <a:t>מהו כתב?</a:t>
            </a:r>
          </a:p>
          <a:p>
            <a:r>
              <a:rPr lang="he-IL" sz="2800" dirty="0" smtClean="0"/>
              <a:t>היש צורך בחתימה?</a:t>
            </a:r>
          </a:p>
          <a:p>
            <a:r>
              <a:rPr lang="he-IL" sz="2800" dirty="0" smtClean="0"/>
              <a:t>האם מייל, הודעות טקסט ו-</a:t>
            </a:r>
            <a:r>
              <a:rPr lang="he-IL" sz="2800" dirty="0" err="1" smtClean="0"/>
              <a:t>וואטסאפים</a:t>
            </a:r>
            <a:r>
              <a:rPr lang="he-IL" sz="2800" dirty="0" smtClean="0"/>
              <a:t> יכולים להיות כתב?</a:t>
            </a:r>
            <a:endParaRPr lang="he-IL" sz="2800" dirty="0"/>
          </a:p>
        </p:txBody>
      </p:sp>
      <p:pic>
        <p:nvPicPr>
          <p:cNvPr id="4" name="תמונה 3"/>
          <p:cNvPicPr>
            <a:picLocks noChangeAspect="1"/>
          </p:cNvPicPr>
          <p:nvPr/>
        </p:nvPicPr>
        <p:blipFill>
          <a:blip r:embed="rId3"/>
          <a:stretch>
            <a:fillRect/>
          </a:stretch>
        </p:blipFill>
        <p:spPr>
          <a:xfrm>
            <a:off x="1" y="4227617"/>
            <a:ext cx="2185060" cy="2630384"/>
          </a:xfrm>
          <a:prstGeom prst="rect">
            <a:avLst/>
          </a:prstGeom>
        </p:spPr>
      </p:pic>
      <p:sp>
        <p:nvSpPr>
          <p:cNvPr id="5" name="TextBox 4"/>
          <p:cNvSpPr txBox="1"/>
          <p:nvPr/>
        </p:nvSpPr>
        <p:spPr>
          <a:xfrm>
            <a:off x="10569845" y="5346915"/>
            <a:ext cx="1079850" cy="369332"/>
          </a:xfrm>
          <a:prstGeom prst="rect">
            <a:avLst/>
          </a:prstGeom>
          <a:noFill/>
        </p:spPr>
        <p:txBody>
          <a:bodyPr wrap="square" rtlCol="1">
            <a:spAutoFit/>
          </a:bodyPr>
          <a:lstStyle/>
          <a:p>
            <a:r>
              <a:rPr lang="he-IL" dirty="0" smtClean="0"/>
              <a:t>20</a:t>
            </a:r>
            <a:endParaRPr lang="he-IL" dirty="0"/>
          </a:p>
        </p:txBody>
      </p:sp>
    </p:spTree>
    <p:extLst>
      <p:ext uri="{BB962C8B-B14F-4D97-AF65-F5344CB8AC3E}">
        <p14:creationId xmlns:p14="http://schemas.microsoft.com/office/powerpoint/2010/main" val="12035628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smtClean="0"/>
              <a:t>סיפור שבעבר</a:t>
            </a:r>
            <a:endParaRPr lang="he-IL" dirty="0"/>
          </a:p>
        </p:txBody>
      </p:sp>
      <p:sp>
        <p:nvSpPr>
          <p:cNvPr id="3" name="מציין מיקום תוכן 2"/>
          <p:cNvSpPr>
            <a:spLocks noGrp="1"/>
          </p:cNvSpPr>
          <p:nvPr>
            <p:ph idx="1"/>
          </p:nvPr>
        </p:nvSpPr>
        <p:spPr>
          <a:xfrm>
            <a:off x="1138938" y="2470067"/>
            <a:ext cx="8946541" cy="4178705"/>
          </a:xfrm>
        </p:spPr>
        <p:txBody>
          <a:bodyPr>
            <a:normAutofit/>
          </a:bodyPr>
          <a:lstStyle/>
          <a:p>
            <a:r>
              <a:rPr lang="he-IL" sz="2800" dirty="0" smtClean="0"/>
              <a:t>ולפני כן סיפור:</a:t>
            </a:r>
          </a:p>
          <a:p>
            <a:r>
              <a:rPr lang="he-IL" sz="2800" dirty="0" smtClean="0"/>
              <a:t>כולנו יודעים ששיק נכתב על נייר, בפנקס שיקים מסודר.</a:t>
            </a:r>
          </a:p>
          <a:p>
            <a:r>
              <a:rPr lang="he-IL" sz="2800" dirty="0" smtClean="0"/>
              <a:t>משמעותו: מושך השיק , נותן בחתימתו הוראה לבנק, לשלם מחשבונו בבנק, למי שמציג את השיק,(המוטב) את הסכום שכתוב על השיק.</a:t>
            </a:r>
          </a:p>
          <a:p>
            <a:r>
              <a:rPr lang="he-IL" sz="2800" dirty="0" smtClean="0"/>
              <a:t>באנגליה התעוררה השאלה, האם אפשר לכתוב שיק גם על גזע עץ?</a:t>
            </a:r>
          </a:p>
          <a:p>
            <a:endParaRPr lang="he-IL" sz="2800" dirty="0"/>
          </a:p>
        </p:txBody>
      </p:sp>
      <p:sp>
        <p:nvSpPr>
          <p:cNvPr id="4" name="TextBox 3"/>
          <p:cNvSpPr txBox="1"/>
          <p:nvPr/>
        </p:nvSpPr>
        <p:spPr>
          <a:xfrm>
            <a:off x="10802319" y="6222670"/>
            <a:ext cx="828857" cy="369332"/>
          </a:xfrm>
          <a:prstGeom prst="rect">
            <a:avLst/>
          </a:prstGeom>
          <a:noFill/>
        </p:spPr>
        <p:txBody>
          <a:bodyPr wrap="square" rtlCol="1">
            <a:spAutoFit/>
          </a:bodyPr>
          <a:lstStyle/>
          <a:p>
            <a:r>
              <a:rPr lang="he-IL" dirty="0" smtClean="0"/>
              <a:t>21</a:t>
            </a:r>
            <a:endParaRPr lang="he-IL" dirty="0"/>
          </a:p>
        </p:txBody>
      </p:sp>
      <p:pic>
        <p:nvPicPr>
          <p:cNvPr id="5" name="תמונה 4"/>
          <p:cNvPicPr>
            <a:picLocks noChangeAspect="1"/>
          </p:cNvPicPr>
          <p:nvPr/>
        </p:nvPicPr>
        <p:blipFill>
          <a:blip r:embed="rId3"/>
          <a:stretch>
            <a:fillRect/>
          </a:stretch>
        </p:blipFill>
        <p:spPr>
          <a:xfrm>
            <a:off x="108052" y="0"/>
            <a:ext cx="2143125" cy="2143125"/>
          </a:xfrm>
          <a:prstGeom prst="rect">
            <a:avLst/>
          </a:prstGeom>
        </p:spPr>
      </p:pic>
    </p:spTree>
    <p:extLst>
      <p:ext uri="{BB962C8B-B14F-4D97-AF65-F5344CB8AC3E}">
        <p14:creationId xmlns:p14="http://schemas.microsoft.com/office/powerpoint/2010/main" val="3735565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הפתרון</a:t>
            </a:r>
            <a:endParaRPr lang="he-IL" dirty="0"/>
          </a:p>
        </p:txBody>
      </p:sp>
      <p:sp>
        <p:nvSpPr>
          <p:cNvPr id="3" name="מציין מיקום תוכן 2"/>
          <p:cNvSpPr>
            <a:spLocks noGrp="1"/>
          </p:cNvSpPr>
          <p:nvPr>
            <p:ph idx="1"/>
          </p:nvPr>
        </p:nvSpPr>
        <p:spPr>
          <a:xfrm>
            <a:off x="1103312" y="2481943"/>
            <a:ext cx="8946541" cy="3766456"/>
          </a:xfrm>
        </p:spPr>
        <p:txBody>
          <a:bodyPr/>
          <a:lstStyle/>
          <a:p>
            <a:r>
              <a:rPr lang="he-IL" sz="2800" dirty="0" smtClean="0"/>
              <a:t>התשובה העקרונית באנגליה הייתה, שאין מניעה מלכתוב שיק על גזע עץ. </a:t>
            </a:r>
          </a:p>
          <a:p>
            <a:r>
              <a:rPr lang="he-IL" sz="2800" dirty="0" smtClean="0"/>
              <a:t>א ב ל </a:t>
            </a:r>
          </a:p>
          <a:p>
            <a:r>
              <a:rPr lang="he-IL" sz="2800" dirty="0" smtClean="0"/>
              <a:t>בזמנו היה מס בולים, באמצעות בול; והבול לא נדבק לעץ. לכן שיק צריך להיות בנייר</a:t>
            </a:r>
            <a:r>
              <a:rPr lang="he-IL" dirty="0" smtClean="0"/>
              <a:t>.</a:t>
            </a:r>
          </a:p>
          <a:p>
            <a:r>
              <a:rPr lang="he-IL" sz="2800" dirty="0" smtClean="0"/>
              <a:t>והאנלוגיה </a:t>
            </a:r>
            <a:r>
              <a:rPr lang="he-IL" sz="2800" dirty="0" err="1" smtClean="0"/>
              <a:t>לעניננו</a:t>
            </a:r>
            <a:r>
              <a:rPr lang="he-IL" sz="2800" dirty="0" smtClean="0"/>
              <a:t>:</a:t>
            </a:r>
            <a:endParaRPr lang="he-IL" sz="2800" dirty="0"/>
          </a:p>
        </p:txBody>
      </p:sp>
      <p:pic>
        <p:nvPicPr>
          <p:cNvPr id="5" name="תמונה 4"/>
          <p:cNvPicPr>
            <a:picLocks noChangeAspect="1"/>
          </p:cNvPicPr>
          <p:nvPr/>
        </p:nvPicPr>
        <p:blipFill>
          <a:blip r:embed="rId3"/>
          <a:stretch>
            <a:fillRect/>
          </a:stretch>
        </p:blipFill>
        <p:spPr>
          <a:xfrm>
            <a:off x="122155" y="0"/>
            <a:ext cx="2257425" cy="2019300"/>
          </a:xfrm>
          <a:prstGeom prst="rect">
            <a:avLst/>
          </a:prstGeom>
        </p:spPr>
      </p:pic>
      <p:sp>
        <p:nvSpPr>
          <p:cNvPr id="6" name="TextBox 5"/>
          <p:cNvSpPr txBox="1"/>
          <p:nvPr/>
        </p:nvSpPr>
        <p:spPr>
          <a:xfrm>
            <a:off x="10554346" y="5889356"/>
            <a:ext cx="945396" cy="369332"/>
          </a:xfrm>
          <a:prstGeom prst="rect">
            <a:avLst/>
          </a:prstGeom>
          <a:noFill/>
        </p:spPr>
        <p:txBody>
          <a:bodyPr wrap="square" rtlCol="1">
            <a:spAutoFit/>
          </a:bodyPr>
          <a:lstStyle/>
          <a:p>
            <a:r>
              <a:rPr lang="he-IL" dirty="0" smtClean="0"/>
              <a:t>22</a:t>
            </a:r>
            <a:endParaRPr lang="he-IL" dirty="0"/>
          </a:p>
        </p:txBody>
      </p:sp>
    </p:spTree>
    <p:extLst>
      <p:ext uri="{BB962C8B-B14F-4D97-AF65-F5344CB8AC3E}">
        <p14:creationId xmlns:p14="http://schemas.microsoft.com/office/powerpoint/2010/main" val="11370012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כתב חרטומים, מייל, </a:t>
            </a:r>
            <a:r>
              <a:rPr lang="he-IL" dirty="0" err="1" smtClean="0"/>
              <a:t>וואטסאפ</a:t>
            </a:r>
            <a:r>
              <a:rPr lang="he-IL" dirty="0" smtClean="0"/>
              <a:t> והודעות טקסט</a:t>
            </a:r>
            <a:endParaRPr lang="he-IL" dirty="0"/>
          </a:p>
        </p:txBody>
      </p:sp>
      <p:sp>
        <p:nvSpPr>
          <p:cNvPr id="3" name="מציין מיקום תוכן 2"/>
          <p:cNvSpPr>
            <a:spLocks noGrp="1"/>
          </p:cNvSpPr>
          <p:nvPr>
            <p:ph idx="1"/>
          </p:nvPr>
        </p:nvSpPr>
        <p:spPr>
          <a:xfrm>
            <a:off x="1103312" y="1710048"/>
            <a:ext cx="8946541" cy="5147952"/>
          </a:xfrm>
        </p:spPr>
        <p:txBody>
          <a:bodyPr>
            <a:normAutofit fontScale="92500" lnSpcReduction="10000"/>
          </a:bodyPr>
          <a:lstStyle/>
          <a:p>
            <a:endParaRPr lang="he-IL" dirty="0" smtClean="0"/>
          </a:p>
          <a:p>
            <a:r>
              <a:rPr lang="he-IL" sz="2800" dirty="0" smtClean="0"/>
              <a:t>האם כתב חרטומים, כפי שראיתם יכול לשמש כתב?</a:t>
            </a:r>
          </a:p>
          <a:p>
            <a:r>
              <a:rPr lang="he-IL" sz="2800" dirty="0" smtClean="0"/>
              <a:t>תשובה – כן. אם יש שניים שמתכתבים כך ומבינים את האמור.</a:t>
            </a:r>
          </a:p>
          <a:p>
            <a:r>
              <a:rPr lang="he-IL" sz="2800" dirty="0" smtClean="0"/>
              <a:t>כשהדבר יגיע לבורר מוסכם הוא בוודאי יקבל "תרגום" לשפה שהוא שולט</a:t>
            </a:r>
            <a:r>
              <a:rPr lang="he-IL" dirty="0" smtClean="0"/>
              <a:t>.</a:t>
            </a:r>
          </a:p>
          <a:p>
            <a:endParaRPr lang="he-IL" dirty="0" smtClean="0"/>
          </a:p>
          <a:p>
            <a:r>
              <a:rPr lang="he-IL" sz="3000" dirty="0" smtClean="0"/>
              <a:t>האם מייל – יכול לשמש כתב?</a:t>
            </a:r>
          </a:p>
          <a:p>
            <a:r>
              <a:rPr lang="he-IL" sz="3000" dirty="0" smtClean="0"/>
              <a:t>הדבר כבר  נדון בפסיקת ביהמ"ש העליון והוחלט שכן. על התקשרות מעין זו חלים דיני חוזים, וברגע שברור שיש צד מציע ויש צד מקבל, - יש ביניהם הסכם.</a:t>
            </a:r>
          </a:p>
          <a:p>
            <a:r>
              <a:rPr lang="he-IL" sz="3000" dirty="0" smtClean="0"/>
              <a:t>ההגדרה גם אינה דורשת חתימה משום צד. כך שהסכם בוררות לא חייב להיות חתום, אלא צריך להעיד על </a:t>
            </a:r>
            <a:r>
              <a:rPr lang="he-IL" sz="3000" dirty="0" err="1" smtClean="0"/>
              <a:t>גמירות</a:t>
            </a:r>
            <a:r>
              <a:rPr lang="he-IL" sz="3000" dirty="0" smtClean="0"/>
              <a:t> דעת הצדדים להתקשר.</a:t>
            </a:r>
          </a:p>
          <a:p>
            <a:endParaRPr lang="he-IL" dirty="0"/>
          </a:p>
        </p:txBody>
      </p:sp>
      <p:pic>
        <p:nvPicPr>
          <p:cNvPr id="4" name="תמונה 3"/>
          <p:cNvPicPr>
            <a:picLocks noChangeAspect="1"/>
          </p:cNvPicPr>
          <p:nvPr/>
        </p:nvPicPr>
        <p:blipFill>
          <a:blip r:embed="rId3"/>
          <a:stretch>
            <a:fillRect/>
          </a:stretch>
        </p:blipFill>
        <p:spPr>
          <a:xfrm>
            <a:off x="0" y="1075087"/>
            <a:ext cx="1306286" cy="2392507"/>
          </a:xfrm>
          <a:prstGeom prst="rect">
            <a:avLst/>
          </a:prstGeom>
        </p:spPr>
      </p:pic>
      <p:sp>
        <p:nvSpPr>
          <p:cNvPr id="5" name="TextBox 4"/>
          <p:cNvSpPr txBox="1"/>
          <p:nvPr/>
        </p:nvSpPr>
        <p:spPr>
          <a:xfrm>
            <a:off x="10647336" y="5780868"/>
            <a:ext cx="836908" cy="369332"/>
          </a:xfrm>
          <a:prstGeom prst="rect">
            <a:avLst/>
          </a:prstGeom>
          <a:noFill/>
        </p:spPr>
        <p:txBody>
          <a:bodyPr wrap="square" rtlCol="1">
            <a:spAutoFit/>
          </a:bodyPr>
          <a:lstStyle/>
          <a:p>
            <a:r>
              <a:rPr lang="he-IL" dirty="0" smtClean="0"/>
              <a:t>23</a:t>
            </a:r>
            <a:endParaRPr lang="he-IL" dirty="0"/>
          </a:p>
        </p:txBody>
      </p:sp>
    </p:spTree>
    <p:extLst>
      <p:ext uri="{BB962C8B-B14F-4D97-AF65-F5344CB8AC3E}">
        <p14:creationId xmlns:p14="http://schemas.microsoft.com/office/powerpoint/2010/main" val="11847969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הסכם בוררות בעידן הדיגיטלי</a:t>
            </a:r>
            <a:endParaRPr lang="he-IL" dirty="0"/>
          </a:p>
        </p:txBody>
      </p:sp>
      <p:sp>
        <p:nvSpPr>
          <p:cNvPr id="3" name="מציין מיקום תוכן 2"/>
          <p:cNvSpPr>
            <a:spLocks noGrp="1"/>
          </p:cNvSpPr>
          <p:nvPr>
            <p:ph idx="1"/>
          </p:nvPr>
        </p:nvSpPr>
        <p:spPr/>
        <p:txBody>
          <a:bodyPr>
            <a:normAutofit/>
          </a:bodyPr>
          <a:lstStyle/>
          <a:p>
            <a:r>
              <a:rPr lang="he-IL" sz="2800" dirty="0" smtClean="0"/>
              <a:t>נראה כי משהוחלט שמייל יכול להיות כתב,</a:t>
            </a:r>
          </a:p>
          <a:p>
            <a:r>
              <a:rPr lang="he-IL" sz="2800" dirty="0" smtClean="0"/>
              <a:t>אז אותו הגיון יחול גם לגבי </a:t>
            </a:r>
            <a:r>
              <a:rPr lang="he-IL" sz="2800" dirty="0" err="1" smtClean="0"/>
              <a:t>וואטסאפ</a:t>
            </a:r>
            <a:r>
              <a:rPr lang="he-IL" sz="2800" dirty="0" smtClean="0"/>
              <a:t> וגם לגבי הודעות טקסט.</a:t>
            </a:r>
          </a:p>
          <a:p>
            <a:endParaRPr lang="he-IL" sz="2800" dirty="0" smtClean="0"/>
          </a:p>
          <a:p>
            <a:r>
              <a:rPr lang="he-IL" sz="2800" dirty="0" smtClean="0"/>
              <a:t>מה קורה עם הקלטה?</a:t>
            </a:r>
          </a:p>
          <a:p>
            <a:r>
              <a:rPr lang="he-IL" sz="2800" dirty="0" smtClean="0"/>
              <a:t>לגבי </a:t>
            </a:r>
            <a:r>
              <a:rPr lang="he-IL" sz="2800" dirty="0" err="1" smtClean="0"/>
              <a:t>וואטסאפ</a:t>
            </a:r>
            <a:r>
              <a:rPr lang="he-IL" sz="2800" dirty="0" smtClean="0"/>
              <a:t> והודעות טקסט ניתן להוציאן</a:t>
            </a:r>
          </a:p>
          <a:p>
            <a:r>
              <a:rPr lang="he-IL" sz="2800" dirty="0" smtClean="0"/>
              <a:t>בכתב ע"ג נייר. הקלטה מודרנית ברובה הינה</a:t>
            </a:r>
          </a:p>
          <a:p>
            <a:r>
              <a:rPr lang="he-IL" sz="2800" dirty="0" smtClean="0"/>
              <a:t>דיגיטלית. </a:t>
            </a:r>
          </a:p>
          <a:p>
            <a:endParaRPr lang="he-IL" sz="2800" dirty="0"/>
          </a:p>
        </p:txBody>
      </p:sp>
      <p:sp>
        <p:nvSpPr>
          <p:cNvPr id="4" name="AutoShape 2" descr="תוצאת תמונה עבור מדיה חדשה"/>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6" name="תמונה 5"/>
          <p:cNvPicPr>
            <a:picLocks noChangeAspect="1"/>
          </p:cNvPicPr>
          <p:nvPr/>
        </p:nvPicPr>
        <p:blipFill>
          <a:blip r:embed="rId3"/>
          <a:stretch>
            <a:fillRect/>
          </a:stretch>
        </p:blipFill>
        <p:spPr>
          <a:xfrm>
            <a:off x="108052" y="0"/>
            <a:ext cx="2143125" cy="2143125"/>
          </a:xfrm>
          <a:prstGeom prst="rect">
            <a:avLst/>
          </a:prstGeom>
        </p:spPr>
      </p:pic>
      <p:sp>
        <p:nvSpPr>
          <p:cNvPr id="5" name="TextBox 4"/>
          <p:cNvSpPr txBox="1"/>
          <p:nvPr/>
        </p:nvSpPr>
        <p:spPr>
          <a:xfrm>
            <a:off x="10647336" y="5920353"/>
            <a:ext cx="1115878" cy="369332"/>
          </a:xfrm>
          <a:prstGeom prst="rect">
            <a:avLst/>
          </a:prstGeom>
          <a:noFill/>
        </p:spPr>
        <p:txBody>
          <a:bodyPr wrap="square" rtlCol="1">
            <a:spAutoFit/>
          </a:bodyPr>
          <a:lstStyle/>
          <a:p>
            <a:r>
              <a:rPr lang="he-IL" dirty="0" smtClean="0"/>
              <a:t>24</a:t>
            </a:r>
            <a:endParaRPr lang="he-IL" dirty="0"/>
          </a:p>
        </p:txBody>
      </p:sp>
    </p:spTree>
    <p:extLst>
      <p:ext uri="{BB962C8B-B14F-4D97-AF65-F5344CB8AC3E}">
        <p14:creationId xmlns:p14="http://schemas.microsoft.com/office/powerpoint/2010/main" val="19351060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תשובה אפשרית</a:t>
            </a:r>
            <a:endParaRPr lang="he-IL" dirty="0"/>
          </a:p>
        </p:txBody>
      </p:sp>
      <p:sp>
        <p:nvSpPr>
          <p:cNvPr id="3" name="מציין מיקום תוכן 2"/>
          <p:cNvSpPr>
            <a:spLocks noGrp="1"/>
          </p:cNvSpPr>
          <p:nvPr>
            <p:ph idx="1"/>
          </p:nvPr>
        </p:nvSpPr>
        <p:spPr>
          <a:xfrm>
            <a:off x="1103312" y="1448790"/>
            <a:ext cx="8946541" cy="5296394"/>
          </a:xfrm>
        </p:spPr>
        <p:txBody>
          <a:bodyPr>
            <a:normAutofit/>
          </a:bodyPr>
          <a:lstStyle/>
          <a:p>
            <a:r>
              <a:rPr lang="he-IL" sz="2800" dirty="0" smtClean="0"/>
              <a:t>הנושא לא נדון עדיין בבתי המשפט</a:t>
            </a:r>
            <a:r>
              <a:rPr lang="he-IL" dirty="0" smtClean="0"/>
              <a:t>. א ב ל - </a:t>
            </a:r>
          </a:p>
          <a:p>
            <a:r>
              <a:rPr lang="he-IL" sz="2400" dirty="0" smtClean="0"/>
              <a:t>יש כבר דעות במשפט כי הקלטה שווה לכתב</a:t>
            </a:r>
            <a:r>
              <a:rPr lang="he-IL" sz="2400" dirty="0" smtClean="0"/>
              <a:t>.</a:t>
            </a:r>
          </a:p>
          <a:p>
            <a:r>
              <a:rPr lang="he-IL" sz="2400" dirty="0" smtClean="0"/>
              <a:t>ייתכן שניתן לפרש כתב בהרחבה, ואז תמליל השיחה יהיה כתב.</a:t>
            </a:r>
            <a:endParaRPr lang="he-IL" sz="2400" dirty="0"/>
          </a:p>
          <a:p>
            <a:r>
              <a:rPr lang="he-IL" sz="2400" dirty="0" smtClean="0"/>
              <a:t>תשובה אפשרית יכולה להיות </a:t>
            </a:r>
            <a:r>
              <a:rPr lang="he-IL" sz="2400" dirty="0" err="1" smtClean="0"/>
              <a:t>מכח</a:t>
            </a:r>
            <a:r>
              <a:rPr lang="he-IL" sz="2400" dirty="0" smtClean="0"/>
              <a:t> דיני חוזים ותתחלק לשניים:</a:t>
            </a:r>
          </a:p>
          <a:p>
            <a:r>
              <a:rPr lang="he-IL" sz="2400" dirty="0" smtClean="0"/>
              <a:t>במידה וצד אחד אינו יודע שהוא מוקלט – קשה </a:t>
            </a:r>
            <a:r>
              <a:rPr lang="he-IL" sz="2400" dirty="0" err="1" smtClean="0"/>
              <a:t>לאמר</a:t>
            </a:r>
            <a:r>
              <a:rPr lang="he-IL" sz="2400" dirty="0" smtClean="0"/>
              <a:t> שיש לו </a:t>
            </a:r>
            <a:r>
              <a:rPr lang="he-IL" sz="2400" dirty="0" err="1" smtClean="0"/>
              <a:t>גמירות</a:t>
            </a:r>
            <a:r>
              <a:rPr lang="he-IL" sz="2400" dirty="0" smtClean="0"/>
              <a:t> דעת, במובן של רצינות  חוזית שהוא "מכניס"  עצמו להסכם בוררות. לכן במקרה כזה, לא ניתן יהיה </a:t>
            </a:r>
            <a:r>
              <a:rPr lang="he-IL" sz="2400" dirty="0" err="1" smtClean="0"/>
              <a:t>להתיחס</a:t>
            </a:r>
            <a:r>
              <a:rPr lang="he-IL" sz="2400" dirty="0" smtClean="0"/>
              <a:t> להקלטה </a:t>
            </a:r>
            <a:r>
              <a:rPr lang="he-IL" sz="2400" dirty="0" smtClean="0"/>
              <a:t>בכלל כאל </a:t>
            </a:r>
            <a:r>
              <a:rPr lang="he-IL" sz="2400" dirty="0" smtClean="0"/>
              <a:t>הסכם בוררות.</a:t>
            </a:r>
          </a:p>
          <a:p>
            <a:r>
              <a:rPr lang="he-IL" sz="2400" dirty="0" smtClean="0"/>
              <a:t>אם שני הצדדים מודעים להקלטה – בהחלט שהסכם יכול לעשות בצורה כזו, </a:t>
            </a:r>
            <a:r>
              <a:rPr lang="he-IL" sz="2400" dirty="0" smtClean="0"/>
              <a:t>ויענה על דרישת הכתב ביחד עם </a:t>
            </a:r>
            <a:r>
              <a:rPr lang="he-IL" sz="2400" dirty="0" smtClean="0"/>
              <a:t>האפשרויות החדשות שמדפיסות הקלטה קולית או שמאפשרות העברת ההקלטה ע"ג נייר בסופו של תהליך.</a:t>
            </a:r>
          </a:p>
          <a:p>
            <a:endParaRPr lang="he-IL" sz="2400" dirty="0"/>
          </a:p>
        </p:txBody>
      </p:sp>
      <p:pic>
        <p:nvPicPr>
          <p:cNvPr id="4" name="תמונה 3"/>
          <p:cNvPicPr>
            <a:picLocks noChangeAspect="1"/>
          </p:cNvPicPr>
          <p:nvPr/>
        </p:nvPicPr>
        <p:blipFill>
          <a:blip r:embed="rId3"/>
          <a:stretch>
            <a:fillRect/>
          </a:stretch>
        </p:blipFill>
        <p:spPr>
          <a:xfrm>
            <a:off x="0" y="1"/>
            <a:ext cx="1923803" cy="2826326"/>
          </a:xfrm>
          <a:prstGeom prst="rect">
            <a:avLst/>
          </a:prstGeom>
        </p:spPr>
      </p:pic>
      <p:sp>
        <p:nvSpPr>
          <p:cNvPr id="5" name="TextBox 4"/>
          <p:cNvSpPr txBox="1"/>
          <p:nvPr/>
        </p:nvSpPr>
        <p:spPr>
          <a:xfrm>
            <a:off x="10848814" y="6137329"/>
            <a:ext cx="914400" cy="369332"/>
          </a:xfrm>
          <a:prstGeom prst="rect">
            <a:avLst/>
          </a:prstGeom>
          <a:noFill/>
        </p:spPr>
        <p:txBody>
          <a:bodyPr wrap="square" rtlCol="1">
            <a:spAutoFit/>
          </a:bodyPr>
          <a:lstStyle/>
          <a:p>
            <a:r>
              <a:rPr lang="he-IL" dirty="0" smtClean="0"/>
              <a:t>25</a:t>
            </a:r>
            <a:endParaRPr lang="he-IL" dirty="0"/>
          </a:p>
        </p:txBody>
      </p:sp>
    </p:spTree>
    <p:extLst>
      <p:ext uri="{BB962C8B-B14F-4D97-AF65-F5344CB8AC3E}">
        <p14:creationId xmlns:p14="http://schemas.microsoft.com/office/powerpoint/2010/main" val="22437794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בוררות חובה</a:t>
            </a:r>
            <a:endParaRPr lang="he-IL" dirty="0"/>
          </a:p>
        </p:txBody>
      </p:sp>
      <p:sp>
        <p:nvSpPr>
          <p:cNvPr id="3" name="מציין מיקום תוכן 2"/>
          <p:cNvSpPr>
            <a:spLocks noGrp="1"/>
          </p:cNvSpPr>
          <p:nvPr>
            <p:ph idx="1"/>
          </p:nvPr>
        </p:nvSpPr>
        <p:spPr/>
        <p:txBody>
          <a:bodyPr>
            <a:normAutofit/>
          </a:bodyPr>
          <a:lstStyle/>
          <a:p>
            <a:r>
              <a:rPr lang="he-IL" sz="2800" dirty="0" smtClean="0"/>
              <a:t>חוק הספורט התשמ"ח-1968 קובע כי  מוסדות השיפוט הפנימיים של סוגי הספורט הם אלה שידונו </a:t>
            </a:r>
            <a:r>
              <a:rPr lang="he-IL" sz="2800" dirty="0" err="1" smtClean="0"/>
              <a:t>בענינים</a:t>
            </a:r>
            <a:r>
              <a:rPr lang="he-IL" sz="2800" dirty="0" smtClean="0"/>
              <a:t> אלה. הטעם לכך הוא שמדובר </a:t>
            </a:r>
            <a:r>
              <a:rPr lang="he-IL" sz="2800" dirty="0" err="1" smtClean="0"/>
              <a:t>בענינים</a:t>
            </a:r>
            <a:r>
              <a:rPr lang="he-IL" sz="2800" dirty="0" smtClean="0"/>
              <a:t> </a:t>
            </a:r>
            <a:r>
              <a:rPr lang="he-IL" sz="2800" dirty="0" err="1" smtClean="0"/>
              <a:t>יחודיים</a:t>
            </a:r>
            <a:r>
              <a:rPr lang="he-IL" sz="2800" dirty="0" smtClean="0"/>
              <a:t> לספורט הדורשים הבנה מקצועית בתחום.</a:t>
            </a:r>
          </a:p>
          <a:p>
            <a:r>
              <a:rPr lang="he-IL" sz="2800" dirty="0" smtClean="0"/>
              <a:t>מכאן – שלא ניתן לדון בסכסוכים אזרחיים בין חברים הכפופים לארגונים אלה, באמצעות ביהמ"ש או בורר חיצון.</a:t>
            </a:r>
          </a:p>
          <a:p>
            <a:r>
              <a:rPr lang="he-IL" sz="2800" dirty="0" smtClean="0"/>
              <a:t>קיים המוסד לבוררות של התאחדות הכדורגל.</a:t>
            </a:r>
          </a:p>
          <a:p>
            <a:r>
              <a:rPr lang="he-IL" sz="2800" dirty="0" smtClean="0"/>
              <a:t>קיים ביה"ד של איגוד הכדורסל.</a:t>
            </a:r>
          </a:p>
          <a:p>
            <a:r>
              <a:rPr lang="he-IL" sz="2800" dirty="0" smtClean="0"/>
              <a:t>לא ידונו בבתי המשפט הפנימיים המקצועיים </a:t>
            </a:r>
            <a:r>
              <a:rPr lang="he-IL" sz="2800" dirty="0" err="1" smtClean="0"/>
              <a:t>ענינים</a:t>
            </a:r>
            <a:r>
              <a:rPr lang="he-IL" sz="2800" dirty="0" smtClean="0"/>
              <a:t> בעלי אופי חוקתי</a:t>
            </a:r>
            <a:endParaRPr lang="he-IL" sz="2800" dirty="0"/>
          </a:p>
        </p:txBody>
      </p:sp>
      <p:pic>
        <p:nvPicPr>
          <p:cNvPr id="2050" name="Picture 2" descr="תוצאת תמונה עבור שחקן כדורג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7" y="4238625"/>
            <a:ext cx="1288473" cy="2619375"/>
          </a:xfrm>
          <a:prstGeom prst="rect">
            <a:avLst/>
          </a:prstGeom>
          <a:noFill/>
          <a:extLst>
            <a:ext uri="{909E8E84-426E-40DD-AFC4-6F175D3DCCD1}">
              <a14:hiddenFill xmlns:a14="http://schemas.microsoft.com/office/drawing/2010/main">
                <a:solidFill>
                  <a:srgbClr val="FFFFFF"/>
                </a:solidFill>
              </a14:hiddenFill>
            </a:ext>
          </a:extLst>
        </p:spPr>
      </p:pic>
      <p:pic>
        <p:nvPicPr>
          <p:cNvPr id="4" name="תמונה 3"/>
          <p:cNvPicPr>
            <a:picLocks noChangeAspect="1"/>
          </p:cNvPicPr>
          <p:nvPr/>
        </p:nvPicPr>
        <p:blipFill>
          <a:blip r:embed="rId4"/>
          <a:stretch>
            <a:fillRect/>
          </a:stretch>
        </p:blipFill>
        <p:spPr>
          <a:xfrm>
            <a:off x="0" y="0"/>
            <a:ext cx="1436914" cy="1876301"/>
          </a:xfrm>
          <a:prstGeom prst="rect">
            <a:avLst/>
          </a:prstGeom>
        </p:spPr>
      </p:pic>
      <p:sp>
        <p:nvSpPr>
          <p:cNvPr id="5" name="TextBox 4"/>
          <p:cNvSpPr txBox="1"/>
          <p:nvPr/>
        </p:nvSpPr>
        <p:spPr>
          <a:xfrm>
            <a:off x="10755824" y="5935851"/>
            <a:ext cx="836908" cy="369332"/>
          </a:xfrm>
          <a:prstGeom prst="rect">
            <a:avLst/>
          </a:prstGeom>
          <a:noFill/>
        </p:spPr>
        <p:txBody>
          <a:bodyPr wrap="square" rtlCol="1">
            <a:spAutoFit/>
          </a:bodyPr>
          <a:lstStyle/>
          <a:p>
            <a:r>
              <a:rPr lang="he-IL" dirty="0" smtClean="0"/>
              <a:t>26</a:t>
            </a:r>
            <a:endParaRPr lang="he-IL" dirty="0"/>
          </a:p>
        </p:txBody>
      </p:sp>
    </p:spTree>
    <p:extLst>
      <p:ext uri="{BB962C8B-B14F-4D97-AF65-F5344CB8AC3E}">
        <p14:creationId xmlns:p14="http://schemas.microsoft.com/office/powerpoint/2010/main" val="18684599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5" name="type.wav"/>
          </p:stSnd>
        </p:sndAc>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מינוי בורר ע"י הצדדים</a:t>
            </a:r>
            <a:endParaRPr lang="he-IL" dirty="0"/>
          </a:p>
        </p:txBody>
      </p:sp>
      <p:sp>
        <p:nvSpPr>
          <p:cNvPr id="3" name="מציין מיקום תוכן 2"/>
          <p:cNvSpPr>
            <a:spLocks noGrp="1"/>
          </p:cNvSpPr>
          <p:nvPr>
            <p:ph idx="1"/>
          </p:nvPr>
        </p:nvSpPr>
        <p:spPr/>
        <p:txBody>
          <a:bodyPr>
            <a:normAutofit/>
          </a:bodyPr>
          <a:lstStyle/>
          <a:p>
            <a:r>
              <a:rPr lang="he-IL" sz="2800" dirty="0" smtClean="0"/>
              <a:t>בכל </a:t>
            </a:r>
            <a:r>
              <a:rPr lang="he-IL" sz="3200" dirty="0" smtClean="0"/>
              <a:t>סכסוך רשאים צדדים לפנות, מחוץ </a:t>
            </a:r>
            <a:r>
              <a:rPr lang="he-IL" sz="3200" dirty="0" err="1" smtClean="0"/>
              <a:t>לכתלי</a:t>
            </a:r>
            <a:r>
              <a:rPr lang="he-IL" sz="3200" dirty="0" smtClean="0"/>
              <a:t> בית המשפט, לאדם שמקובל עליהם, כדי שיכריע ביניהם.</a:t>
            </a:r>
          </a:p>
          <a:p>
            <a:r>
              <a:rPr lang="he-IL" sz="3200" dirty="0" smtClean="0"/>
              <a:t>הפרוצדורה לבחירה גמישה:</a:t>
            </a:r>
          </a:p>
          <a:p>
            <a:r>
              <a:rPr lang="he-IL" sz="3200" dirty="0" smtClean="0"/>
              <a:t>-שניהם כאחד פונים לבורר שמוסכם עליהם.</a:t>
            </a:r>
          </a:p>
          <a:p>
            <a:r>
              <a:rPr lang="he-IL" sz="3200" dirty="0" smtClean="0"/>
              <a:t>-כל צד פונה לבורר. (סה"כ 2 בוררים)</a:t>
            </a:r>
          </a:p>
          <a:p>
            <a:r>
              <a:rPr lang="he-IL" sz="3200" dirty="0" smtClean="0"/>
              <a:t>-בוררי הצדדים – בוחרים בבורר נוסף. (זבל"א) סה"כ 3 בוררים.</a:t>
            </a:r>
          </a:p>
          <a:p>
            <a:endParaRPr lang="he-IL" sz="2800" dirty="0" smtClean="0"/>
          </a:p>
          <a:p>
            <a:endParaRPr lang="he-IL" sz="2800" dirty="0" smtClean="0"/>
          </a:p>
        </p:txBody>
      </p:sp>
      <p:pic>
        <p:nvPicPr>
          <p:cNvPr id="4" name="תמונה 3"/>
          <p:cNvPicPr>
            <a:picLocks noChangeAspect="1"/>
          </p:cNvPicPr>
          <p:nvPr/>
        </p:nvPicPr>
        <p:blipFill>
          <a:blip r:embed="rId3"/>
          <a:stretch>
            <a:fillRect/>
          </a:stretch>
        </p:blipFill>
        <p:spPr>
          <a:xfrm>
            <a:off x="117083" y="84921"/>
            <a:ext cx="1248579" cy="2777032"/>
          </a:xfrm>
          <a:prstGeom prst="rect">
            <a:avLst/>
          </a:prstGeom>
        </p:spPr>
      </p:pic>
      <p:sp>
        <p:nvSpPr>
          <p:cNvPr id="5" name="TextBox 4"/>
          <p:cNvSpPr txBox="1"/>
          <p:nvPr/>
        </p:nvSpPr>
        <p:spPr>
          <a:xfrm>
            <a:off x="10833315" y="5827363"/>
            <a:ext cx="867905" cy="369332"/>
          </a:xfrm>
          <a:prstGeom prst="rect">
            <a:avLst/>
          </a:prstGeom>
          <a:noFill/>
        </p:spPr>
        <p:txBody>
          <a:bodyPr wrap="square" rtlCol="1">
            <a:spAutoFit/>
          </a:bodyPr>
          <a:lstStyle/>
          <a:p>
            <a:r>
              <a:rPr lang="he-IL" dirty="0" smtClean="0"/>
              <a:t>27</a:t>
            </a:r>
            <a:endParaRPr lang="he-IL" dirty="0"/>
          </a:p>
        </p:txBody>
      </p:sp>
    </p:spTree>
    <p:extLst>
      <p:ext uri="{BB962C8B-B14F-4D97-AF65-F5344CB8AC3E}">
        <p14:creationId xmlns:p14="http://schemas.microsoft.com/office/powerpoint/2010/main" val="25481025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מינוי בורר ע"י בית המשפט</a:t>
            </a:r>
            <a:endParaRPr lang="he-IL" dirty="0"/>
          </a:p>
        </p:txBody>
      </p:sp>
      <p:sp>
        <p:nvSpPr>
          <p:cNvPr id="3" name="מציין מיקום תוכן 2"/>
          <p:cNvSpPr>
            <a:spLocks noGrp="1"/>
          </p:cNvSpPr>
          <p:nvPr>
            <p:ph idx="1"/>
          </p:nvPr>
        </p:nvSpPr>
        <p:spPr/>
        <p:txBody>
          <a:bodyPr>
            <a:normAutofit/>
          </a:bodyPr>
          <a:lstStyle/>
          <a:p>
            <a:r>
              <a:rPr lang="he-IL" sz="3600" dirty="0" smtClean="0"/>
              <a:t>סעיף 8 לחוק הבוררות קובע:</a:t>
            </a:r>
          </a:p>
          <a:p>
            <a:r>
              <a:rPr lang="he-IL" sz="3600" dirty="0" smtClean="0"/>
              <a:t>"נתגלע סכסוך </a:t>
            </a:r>
            <a:r>
              <a:rPr lang="he-IL" sz="3600" dirty="0" err="1" smtClean="0"/>
              <a:t>בענין</a:t>
            </a:r>
            <a:r>
              <a:rPr lang="he-IL" sz="3600" dirty="0" smtClean="0"/>
              <a:t> שהוסכם למסרו לבוררות ולא נתמנה בורר לפי ההסכם, רשאי בית המשפט, על פי בקשת בעל דין, למנות את הבורר; בית המשפט רשאי לעשות כן בין שהבורר צריך היה להתמנות על ידי בעלי הדין או אחד מהם, ובין שצריך היה להתמנות על ידי הבוררים שנתמנו או על ידי צד שלישי".</a:t>
            </a:r>
            <a:endParaRPr lang="he-IL" sz="3600" dirty="0"/>
          </a:p>
        </p:txBody>
      </p:sp>
      <p:pic>
        <p:nvPicPr>
          <p:cNvPr id="4" name="תמונה 3"/>
          <p:cNvPicPr>
            <a:picLocks noChangeAspect="1"/>
          </p:cNvPicPr>
          <p:nvPr/>
        </p:nvPicPr>
        <p:blipFill>
          <a:blip r:embed="rId3"/>
          <a:stretch>
            <a:fillRect/>
          </a:stretch>
        </p:blipFill>
        <p:spPr>
          <a:xfrm>
            <a:off x="280802" y="253649"/>
            <a:ext cx="2628900" cy="1743075"/>
          </a:xfrm>
          <a:prstGeom prst="rect">
            <a:avLst/>
          </a:prstGeom>
        </p:spPr>
      </p:pic>
      <p:sp>
        <p:nvSpPr>
          <p:cNvPr id="5" name="TextBox 4"/>
          <p:cNvSpPr txBox="1"/>
          <p:nvPr/>
        </p:nvSpPr>
        <p:spPr>
          <a:xfrm>
            <a:off x="10797988" y="5351929"/>
            <a:ext cx="847165" cy="369332"/>
          </a:xfrm>
          <a:prstGeom prst="rect">
            <a:avLst/>
          </a:prstGeom>
          <a:noFill/>
        </p:spPr>
        <p:txBody>
          <a:bodyPr wrap="square" rtlCol="1">
            <a:spAutoFit/>
          </a:bodyPr>
          <a:lstStyle/>
          <a:p>
            <a:r>
              <a:rPr lang="he-IL" dirty="0" smtClean="0"/>
              <a:t>28</a:t>
            </a:r>
            <a:endParaRPr lang="he-IL" dirty="0"/>
          </a:p>
        </p:txBody>
      </p:sp>
    </p:spTree>
    <p:extLst>
      <p:ext uri="{BB962C8B-B14F-4D97-AF65-F5344CB8AC3E}">
        <p14:creationId xmlns:p14="http://schemas.microsoft.com/office/powerpoint/2010/main" val="22450902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כיבוד רצון הצדדים</a:t>
            </a:r>
            <a:endParaRPr lang="he-IL" dirty="0"/>
          </a:p>
        </p:txBody>
      </p:sp>
      <p:sp>
        <p:nvSpPr>
          <p:cNvPr id="3" name="מציין מיקום תוכן 2"/>
          <p:cNvSpPr>
            <a:spLocks noGrp="1"/>
          </p:cNvSpPr>
          <p:nvPr>
            <p:ph idx="1"/>
          </p:nvPr>
        </p:nvSpPr>
        <p:spPr/>
        <p:txBody>
          <a:bodyPr>
            <a:normAutofit/>
          </a:bodyPr>
          <a:lstStyle/>
          <a:p>
            <a:r>
              <a:rPr lang="he-IL" sz="2800" dirty="0" smtClean="0"/>
              <a:t>הסכם הבוררות נשלט ע"י דיני החוזים.</a:t>
            </a:r>
          </a:p>
          <a:p>
            <a:r>
              <a:rPr lang="he-IL" sz="2800" dirty="0" smtClean="0"/>
              <a:t>בדיני החוזים מתקבע רצון הצדדים בעת שכלול המסמך .(בין אם הוא חתום ובין אם לאו).צדדים שבתחילת הדרך הסכימו למינוי בורר, לכשיזדקקו לכך, - בית המשפט מעמידם על </a:t>
            </a:r>
            <a:r>
              <a:rPr lang="he-IL" sz="2800" dirty="0" err="1" smtClean="0"/>
              <a:t>מילתם,בבוא</a:t>
            </a:r>
            <a:r>
              <a:rPr lang="he-IL" sz="2800" dirty="0" smtClean="0"/>
              <a:t> "יום הפקודה". </a:t>
            </a:r>
          </a:p>
          <a:p>
            <a:r>
              <a:rPr lang="he-IL" sz="2800" dirty="0" smtClean="0"/>
              <a:t>לפני הפניה לבימ"ש יש צורך למסור הודעה לצד שכנגד ולבקשו שיסכים למינוי בורר נתון.</a:t>
            </a:r>
          </a:p>
          <a:p>
            <a:r>
              <a:rPr lang="he-IL" sz="2800" dirty="0" smtClean="0"/>
              <a:t>לא תיתכן חזרה בשלב זה מהסכם הבוררות, ולכן ביהמ"ש ימנה.</a:t>
            </a:r>
            <a:endParaRPr lang="he-IL" sz="2800" dirty="0"/>
          </a:p>
        </p:txBody>
      </p:sp>
      <p:pic>
        <p:nvPicPr>
          <p:cNvPr id="4" name="תמונה 3"/>
          <p:cNvPicPr>
            <a:picLocks noChangeAspect="1"/>
          </p:cNvPicPr>
          <p:nvPr/>
        </p:nvPicPr>
        <p:blipFill>
          <a:blip r:embed="rId3"/>
          <a:stretch>
            <a:fillRect/>
          </a:stretch>
        </p:blipFill>
        <p:spPr>
          <a:xfrm>
            <a:off x="91105" y="84797"/>
            <a:ext cx="1417061" cy="2515899"/>
          </a:xfrm>
          <a:prstGeom prst="rect">
            <a:avLst/>
          </a:prstGeom>
        </p:spPr>
      </p:pic>
      <p:sp>
        <p:nvSpPr>
          <p:cNvPr id="5" name="TextBox 4"/>
          <p:cNvSpPr txBox="1"/>
          <p:nvPr/>
        </p:nvSpPr>
        <p:spPr>
          <a:xfrm>
            <a:off x="10905565" y="5768788"/>
            <a:ext cx="699247" cy="369332"/>
          </a:xfrm>
          <a:prstGeom prst="rect">
            <a:avLst/>
          </a:prstGeom>
          <a:noFill/>
        </p:spPr>
        <p:txBody>
          <a:bodyPr wrap="square" rtlCol="1">
            <a:spAutoFit/>
          </a:bodyPr>
          <a:lstStyle/>
          <a:p>
            <a:r>
              <a:rPr lang="he-IL" dirty="0" smtClean="0"/>
              <a:t>29</a:t>
            </a:r>
            <a:endParaRPr lang="he-IL" dirty="0"/>
          </a:p>
        </p:txBody>
      </p:sp>
    </p:spTree>
    <p:extLst>
      <p:ext uri="{BB962C8B-B14F-4D97-AF65-F5344CB8AC3E}">
        <p14:creationId xmlns:p14="http://schemas.microsoft.com/office/powerpoint/2010/main" val="29489347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מינוי בורר ע"י צד ג</a:t>
            </a:r>
            <a:endParaRPr lang="he-IL" dirty="0"/>
          </a:p>
        </p:txBody>
      </p:sp>
      <p:sp>
        <p:nvSpPr>
          <p:cNvPr id="3" name="מציין מיקום תוכן 2"/>
          <p:cNvSpPr>
            <a:spLocks noGrp="1"/>
          </p:cNvSpPr>
          <p:nvPr>
            <p:ph idx="1"/>
          </p:nvPr>
        </p:nvSpPr>
        <p:spPr/>
        <p:txBody>
          <a:bodyPr>
            <a:normAutofit/>
          </a:bodyPr>
          <a:lstStyle/>
          <a:p>
            <a:r>
              <a:rPr lang="he-IL" sz="2800" dirty="0" smtClean="0"/>
              <a:t>יש אפשרות שבורר ימונה ע"י צד ג', שהצדדים נקבו בשמו או בתפקידו</a:t>
            </a:r>
          </a:p>
          <a:p>
            <a:r>
              <a:rPr lang="he-IL" sz="2800" dirty="0" smtClean="0"/>
              <a:t>כמו:</a:t>
            </a:r>
          </a:p>
          <a:p>
            <a:r>
              <a:rPr lang="he-IL" sz="2800" dirty="0" smtClean="0"/>
              <a:t>נשיא התאחדות בעלי </a:t>
            </a:r>
            <a:r>
              <a:rPr lang="he-IL" sz="2800" dirty="0" err="1" smtClean="0"/>
              <a:t>התעשיה</a:t>
            </a:r>
            <a:r>
              <a:rPr lang="he-IL" sz="2800" dirty="0" smtClean="0"/>
              <a:t>.</a:t>
            </a:r>
          </a:p>
          <a:p>
            <a:r>
              <a:rPr lang="he-IL" sz="2800" dirty="0" smtClean="0"/>
              <a:t>יו"ר אגודת המהנדסים.</a:t>
            </a:r>
          </a:p>
          <a:p>
            <a:r>
              <a:rPr lang="he-IL" sz="2800" dirty="0" smtClean="0"/>
              <a:t>ראש לשכת עורכי הדין.</a:t>
            </a:r>
          </a:p>
          <a:p>
            <a:r>
              <a:rPr lang="he-IL" sz="2800" dirty="0" smtClean="0"/>
              <a:t>הדבר מעיד על חוסר הידברות מלכתחילה של הצדדים.</a:t>
            </a:r>
          </a:p>
          <a:p>
            <a:r>
              <a:rPr lang="he-IL" sz="2800" dirty="0" smtClean="0"/>
              <a:t>יש בו גם אלמנט של סכנה, שהצד הממנה לא ינהג לפי חוק הבוררות.</a:t>
            </a:r>
            <a:endParaRPr lang="he-IL" sz="2800" dirty="0"/>
          </a:p>
        </p:txBody>
      </p:sp>
      <p:pic>
        <p:nvPicPr>
          <p:cNvPr id="1026" name="Picture 2" descr="תוצאת תמונה עבור צד ג"/>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567543" cy="17907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972800" y="5930153"/>
            <a:ext cx="1075765" cy="369332"/>
          </a:xfrm>
          <a:prstGeom prst="rect">
            <a:avLst/>
          </a:prstGeom>
          <a:noFill/>
        </p:spPr>
        <p:txBody>
          <a:bodyPr wrap="square" rtlCol="1">
            <a:spAutoFit/>
          </a:bodyPr>
          <a:lstStyle/>
          <a:p>
            <a:r>
              <a:rPr lang="he-IL" dirty="0" smtClean="0"/>
              <a:t>30</a:t>
            </a:r>
            <a:endParaRPr lang="he-IL" dirty="0"/>
          </a:p>
        </p:txBody>
      </p:sp>
    </p:spTree>
    <p:extLst>
      <p:ext uri="{BB962C8B-B14F-4D97-AF65-F5344CB8AC3E}">
        <p14:creationId xmlns:p14="http://schemas.microsoft.com/office/powerpoint/2010/main" val="24609976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פעילות במסגרת מוסד לבוררות</a:t>
            </a:r>
            <a:endParaRPr lang="he-IL" dirty="0"/>
          </a:p>
        </p:txBody>
      </p:sp>
      <p:sp>
        <p:nvSpPr>
          <p:cNvPr id="3" name="מציין מיקום תוכן 2"/>
          <p:cNvSpPr>
            <a:spLocks noGrp="1"/>
          </p:cNvSpPr>
          <p:nvPr>
            <p:ph idx="1"/>
          </p:nvPr>
        </p:nvSpPr>
        <p:spPr>
          <a:xfrm>
            <a:off x="1103312" y="1761565"/>
            <a:ext cx="8946541" cy="4921623"/>
          </a:xfrm>
        </p:spPr>
        <p:txBody>
          <a:bodyPr>
            <a:normAutofit/>
          </a:bodyPr>
          <a:lstStyle/>
          <a:p>
            <a:r>
              <a:rPr lang="he-IL" sz="2800" dirty="0" smtClean="0"/>
              <a:t>כיום קיימים מספר מוסדות לבוררות, ביניהם:</a:t>
            </a:r>
          </a:p>
          <a:p>
            <a:r>
              <a:rPr lang="he-IL" sz="2800" dirty="0" smtClean="0"/>
              <a:t>המוסד לבוררות של לשכת עוה"ד.</a:t>
            </a:r>
          </a:p>
          <a:p>
            <a:r>
              <a:rPr lang="he-IL" sz="2800" dirty="0" smtClean="0"/>
              <a:t>המוסד לבוררות עסקית.</a:t>
            </a:r>
          </a:p>
          <a:p>
            <a:r>
              <a:rPr lang="he-IL" sz="2800" dirty="0" smtClean="0"/>
              <a:t>הפדרציה לבוררות.</a:t>
            </a:r>
          </a:p>
          <a:p>
            <a:r>
              <a:rPr lang="he-IL" sz="2800" dirty="0" smtClean="0"/>
              <a:t>המשכן לבוררות ופתרון סכסוכים בע"מ.</a:t>
            </a:r>
            <a:endParaRPr lang="he-IL" sz="2800" dirty="0"/>
          </a:p>
          <a:p>
            <a:r>
              <a:rPr lang="he-IL" sz="2800" dirty="0" smtClean="0"/>
              <a:t>לחלק ממוסדות אלה קשר עם בוררים שונים, ברובם </a:t>
            </a:r>
            <a:r>
              <a:rPr lang="he-IL" sz="2800" dirty="0" err="1" smtClean="0"/>
              <a:t>עו"ד.פעילות</a:t>
            </a:r>
            <a:r>
              <a:rPr lang="he-IL" sz="2800" dirty="0" smtClean="0"/>
              <a:t> במשרדי המוסדות, משמעה, אצל חלק מהם, גם ניהול בוררות לפי תקנון בוררות ספציפי – ברוח חוק הבוררות- עם </a:t>
            </a:r>
            <a:r>
              <a:rPr lang="he-IL" sz="2800" dirty="0" err="1" smtClean="0"/>
              <a:t>טוויסטים</a:t>
            </a:r>
            <a:r>
              <a:rPr lang="he-IL" sz="2800" dirty="0" smtClean="0"/>
              <a:t> אפשריים – לרבות גם גביית שכר ברוח פעילות המוסד. </a:t>
            </a:r>
          </a:p>
          <a:p>
            <a:endParaRPr lang="he-IL" sz="2800" dirty="0"/>
          </a:p>
        </p:txBody>
      </p:sp>
      <p:pic>
        <p:nvPicPr>
          <p:cNvPr id="4" name="תמונה 3"/>
          <p:cNvPicPr>
            <a:picLocks noChangeAspect="1"/>
          </p:cNvPicPr>
          <p:nvPr/>
        </p:nvPicPr>
        <p:blipFill>
          <a:blip r:embed="rId3"/>
          <a:stretch>
            <a:fillRect/>
          </a:stretch>
        </p:blipFill>
        <p:spPr>
          <a:xfrm>
            <a:off x="678626" y="920709"/>
            <a:ext cx="1714500" cy="2000250"/>
          </a:xfrm>
          <a:prstGeom prst="rect">
            <a:avLst/>
          </a:prstGeom>
        </p:spPr>
      </p:pic>
      <p:sp>
        <p:nvSpPr>
          <p:cNvPr id="6" name="TextBox 5"/>
          <p:cNvSpPr txBox="1"/>
          <p:nvPr/>
        </p:nvSpPr>
        <p:spPr>
          <a:xfrm>
            <a:off x="10811435" y="5647765"/>
            <a:ext cx="887506" cy="369332"/>
          </a:xfrm>
          <a:prstGeom prst="rect">
            <a:avLst/>
          </a:prstGeom>
          <a:noFill/>
        </p:spPr>
        <p:txBody>
          <a:bodyPr wrap="square" rtlCol="1">
            <a:spAutoFit/>
          </a:bodyPr>
          <a:lstStyle/>
          <a:p>
            <a:r>
              <a:rPr lang="he-IL" dirty="0" smtClean="0"/>
              <a:t>31</a:t>
            </a:r>
            <a:endParaRPr lang="he-IL" dirty="0"/>
          </a:p>
        </p:txBody>
      </p:sp>
    </p:spTree>
    <p:extLst>
      <p:ext uri="{BB962C8B-B14F-4D97-AF65-F5344CB8AC3E}">
        <p14:creationId xmlns:p14="http://schemas.microsoft.com/office/powerpoint/2010/main" val="20858078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מי יכול להיות מעין בורר</a:t>
            </a:r>
            <a:endParaRPr lang="he-IL" dirty="0"/>
          </a:p>
        </p:txBody>
      </p:sp>
      <p:sp>
        <p:nvSpPr>
          <p:cNvPr id="3" name="מציין מיקום תוכן 2"/>
          <p:cNvSpPr>
            <a:spLocks noGrp="1"/>
          </p:cNvSpPr>
          <p:nvPr>
            <p:ph idx="1"/>
          </p:nvPr>
        </p:nvSpPr>
        <p:spPr>
          <a:xfrm>
            <a:off x="1363373" y="1701544"/>
            <a:ext cx="8946541" cy="4195481"/>
          </a:xfrm>
        </p:spPr>
        <p:txBody>
          <a:bodyPr>
            <a:normAutofit/>
          </a:bodyPr>
          <a:lstStyle/>
          <a:p>
            <a:endParaRPr lang="he-IL" sz="2800" dirty="0" smtClean="0"/>
          </a:p>
          <a:p>
            <a:r>
              <a:rPr lang="he-IL" sz="3600" dirty="0" smtClean="0"/>
              <a:t>מעין בורר הוא מומחה לתחום </a:t>
            </a:r>
            <a:r>
              <a:rPr lang="he-IL" sz="3600" dirty="0" err="1" smtClean="0"/>
              <a:t>מסויים</a:t>
            </a:r>
            <a:r>
              <a:rPr lang="he-IL" sz="3600" dirty="0" smtClean="0"/>
              <a:t>, שצדדים ביקשו ממנו לבדוק נתונים ועובדות שבתחום מומחיותו.</a:t>
            </a:r>
          </a:p>
          <a:p>
            <a:r>
              <a:rPr lang="he-IL" sz="3600" dirty="0" smtClean="0"/>
              <a:t>אלה יכולים להיות: שמאים, מעריכים, כלכלנים ועוד.</a:t>
            </a:r>
          </a:p>
          <a:p>
            <a:r>
              <a:rPr lang="he-IL" sz="3600" dirty="0" smtClean="0"/>
              <a:t>במסגרת בדיקת העובדות, אין הם נצרכים לעמדות הצדדים או לשמיעת עדים, באשר תפקידם אינו שיפוטי.</a:t>
            </a:r>
            <a:endParaRPr lang="he-IL" sz="3600" dirty="0"/>
          </a:p>
        </p:txBody>
      </p:sp>
      <p:pic>
        <p:nvPicPr>
          <p:cNvPr id="2050" name="Picture 2" descr="תוצאת תמונה עבור כאילו"/>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247900" cy="202882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824882" y="5862918"/>
            <a:ext cx="1169894" cy="369332"/>
          </a:xfrm>
          <a:prstGeom prst="rect">
            <a:avLst/>
          </a:prstGeom>
          <a:noFill/>
        </p:spPr>
        <p:txBody>
          <a:bodyPr wrap="square" rtlCol="1">
            <a:spAutoFit/>
          </a:bodyPr>
          <a:lstStyle/>
          <a:p>
            <a:r>
              <a:rPr lang="he-IL" dirty="0" smtClean="0"/>
              <a:t>32</a:t>
            </a:r>
            <a:endParaRPr lang="he-IL" dirty="0"/>
          </a:p>
        </p:txBody>
      </p:sp>
    </p:spTree>
    <p:extLst>
      <p:ext uri="{BB962C8B-B14F-4D97-AF65-F5344CB8AC3E}">
        <p14:creationId xmlns:p14="http://schemas.microsoft.com/office/powerpoint/2010/main" val="39213155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מעין בורר </a:t>
            </a:r>
            <a:endParaRPr lang="he-IL" dirty="0"/>
          </a:p>
        </p:txBody>
      </p:sp>
      <p:sp>
        <p:nvSpPr>
          <p:cNvPr id="3" name="מציין מיקום תוכן 2"/>
          <p:cNvSpPr>
            <a:spLocks noGrp="1"/>
          </p:cNvSpPr>
          <p:nvPr>
            <p:ph idx="1"/>
          </p:nvPr>
        </p:nvSpPr>
        <p:spPr>
          <a:xfrm>
            <a:off x="1224335" y="1264024"/>
            <a:ext cx="8946541" cy="5419165"/>
          </a:xfrm>
        </p:spPr>
        <p:txBody>
          <a:bodyPr>
            <a:noAutofit/>
          </a:bodyPr>
          <a:lstStyle/>
          <a:p>
            <a:r>
              <a:rPr lang="he-IL" sz="3200" dirty="0" smtClean="0"/>
              <a:t>הפסיקה הניחה ארבעה יסודות להבחנה בין בורר לבין מעין בורר:</a:t>
            </a:r>
          </a:p>
          <a:p>
            <a:r>
              <a:rPr lang="he-IL" sz="3200" dirty="0" smtClean="0"/>
              <a:t>1- לבורר סמכות להטיל חיוב כספי; למעין בורר – אין סמכות.</a:t>
            </a:r>
          </a:p>
          <a:p>
            <a:r>
              <a:rPr lang="he-IL" sz="3200" dirty="0" smtClean="0"/>
              <a:t>2-לבורר סמכות לגבות ראיות ולנהל הליך בעל אופי משפטי, בעוד שמעין בורר עורך בדיקות לפי שיקולו המקצועי.</a:t>
            </a:r>
          </a:p>
          <a:p>
            <a:r>
              <a:rPr lang="he-IL" sz="3200" dirty="0" smtClean="0"/>
              <a:t>3-בבוררות </a:t>
            </a:r>
            <a:r>
              <a:rPr lang="he-IL" sz="3200" dirty="0" err="1" smtClean="0"/>
              <a:t>בדר"כ</a:t>
            </a:r>
            <a:r>
              <a:rPr lang="he-IL" sz="3200" dirty="0" smtClean="0"/>
              <a:t> צדדים מיוצגים ע"י עו"ד, בפני מעין בורר הצדדים מייצגים את עצמם.</a:t>
            </a:r>
          </a:p>
          <a:p>
            <a:r>
              <a:rPr lang="he-IL" sz="3200" dirty="0" smtClean="0"/>
              <a:t>4-בורר עוסק בסכסוך קיים, ואילו מעין בורר נבחר כדי לבצע בדיקה ולקבוע בדיקה, שבעקבותיה יכול להיות סכסוך בין הצדדים.</a:t>
            </a:r>
            <a:endParaRPr lang="he-IL" sz="3200" dirty="0"/>
          </a:p>
        </p:txBody>
      </p:sp>
      <p:pic>
        <p:nvPicPr>
          <p:cNvPr id="3074" name="Picture 2" descr="תוצאת תמונה עבור יסודות הטבע"/>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98" y="-1"/>
            <a:ext cx="1114037" cy="258882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838330" y="5836024"/>
            <a:ext cx="685800" cy="369332"/>
          </a:xfrm>
          <a:prstGeom prst="rect">
            <a:avLst/>
          </a:prstGeom>
          <a:noFill/>
        </p:spPr>
        <p:txBody>
          <a:bodyPr wrap="square" rtlCol="1">
            <a:spAutoFit/>
          </a:bodyPr>
          <a:lstStyle/>
          <a:p>
            <a:r>
              <a:rPr lang="he-IL" dirty="0" smtClean="0"/>
              <a:t>33</a:t>
            </a:r>
            <a:endParaRPr lang="he-IL" dirty="0"/>
          </a:p>
        </p:txBody>
      </p:sp>
    </p:spTree>
    <p:extLst>
      <p:ext uri="{BB962C8B-B14F-4D97-AF65-F5344CB8AC3E}">
        <p14:creationId xmlns:p14="http://schemas.microsoft.com/office/powerpoint/2010/main" val="37428452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תחילת הבוררות</a:t>
            </a:r>
            <a:endParaRPr lang="he-IL" dirty="0"/>
          </a:p>
        </p:txBody>
      </p:sp>
      <p:sp>
        <p:nvSpPr>
          <p:cNvPr id="3" name="מציין מיקום תוכן 2"/>
          <p:cNvSpPr>
            <a:spLocks noGrp="1"/>
          </p:cNvSpPr>
          <p:nvPr>
            <p:ph idx="1"/>
          </p:nvPr>
        </p:nvSpPr>
        <p:spPr/>
        <p:txBody>
          <a:bodyPr>
            <a:normAutofit/>
          </a:bodyPr>
          <a:lstStyle/>
          <a:p>
            <a:r>
              <a:rPr lang="he-IL" sz="2800" dirty="0" smtClean="0"/>
              <a:t>הבורר קובע את סדר היום מבחינת הגשת כתבי תביעה והגנה.</a:t>
            </a:r>
          </a:p>
          <a:p>
            <a:r>
              <a:rPr lang="he-IL" sz="2800" dirty="0" smtClean="0"/>
              <a:t>הוא ינסה גם לצמצם את השאלות שבמחלוקת, ועליו גם לבדוק אם אין חריגה ממסגרת סמכותו לפי כתב הבוררות. חריגה מכתב  הבוררות, - עלולה לפסול את חוות דעתו חלקה או כולה.</a:t>
            </a:r>
          </a:p>
          <a:p>
            <a:r>
              <a:rPr lang="he-IL" sz="2800" dirty="0" smtClean="0"/>
              <a:t>הבורר קובע את נושאי הדיון, סדר העדים.</a:t>
            </a:r>
          </a:p>
          <a:p>
            <a:r>
              <a:rPr lang="he-IL" sz="2800" dirty="0" smtClean="0"/>
              <a:t>עליו לקיים גם הליכים מקדמיים שהחשוב בהם הוא גילוי מסמכים, כלומר לבקשת צד יגלה הצד שכנגד את מסמכיו. </a:t>
            </a:r>
            <a:r>
              <a:rPr lang="he-IL" sz="2800" dirty="0" err="1" smtClean="0"/>
              <a:t>בדר"כ</a:t>
            </a:r>
            <a:r>
              <a:rPr lang="he-IL" sz="2800" dirty="0" smtClean="0"/>
              <a:t> נעשה גילוי הדדי.</a:t>
            </a:r>
          </a:p>
          <a:p>
            <a:endParaRPr lang="he-IL" sz="2800" dirty="0"/>
          </a:p>
        </p:txBody>
      </p:sp>
      <p:pic>
        <p:nvPicPr>
          <p:cNvPr id="4" name="תמונה 3"/>
          <p:cNvPicPr>
            <a:picLocks noChangeAspect="1"/>
          </p:cNvPicPr>
          <p:nvPr/>
        </p:nvPicPr>
        <p:blipFill>
          <a:blip r:embed="rId3"/>
          <a:stretch>
            <a:fillRect/>
          </a:stretch>
        </p:blipFill>
        <p:spPr>
          <a:xfrm>
            <a:off x="1" y="0"/>
            <a:ext cx="2514600" cy="1466850"/>
          </a:xfrm>
          <a:prstGeom prst="rect">
            <a:avLst/>
          </a:prstGeom>
        </p:spPr>
      </p:pic>
      <p:sp>
        <p:nvSpPr>
          <p:cNvPr id="5" name="TextBox 4"/>
          <p:cNvSpPr txBox="1"/>
          <p:nvPr/>
        </p:nvSpPr>
        <p:spPr>
          <a:xfrm>
            <a:off x="10488706" y="5903259"/>
            <a:ext cx="1116106" cy="369332"/>
          </a:xfrm>
          <a:prstGeom prst="rect">
            <a:avLst/>
          </a:prstGeom>
          <a:noFill/>
        </p:spPr>
        <p:txBody>
          <a:bodyPr wrap="square" rtlCol="1">
            <a:spAutoFit/>
          </a:bodyPr>
          <a:lstStyle/>
          <a:p>
            <a:r>
              <a:rPr lang="he-IL" dirty="0" smtClean="0"/>
              <a:t>35</a:t>
            </a:r>
            <a:endParaRPr lang="he-IL" dirty="0"/>
          </a:p>
        </p:txBody>
      </p:sp>
    </p:spTree>
    <p:extLst>
      <p:ext uri="{BB962C8B-B14F-4D97-AF65-F5344CB8AC3E}">
        <p14:creationId xmlns:p14="http://schemas.microsoft.com/office/powerpoint/2010/main" val="18736461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סמכות הבורר</a:t>
            </a:r>
            <a:endParaRPr lang="he-IL" dirty="0"/>
          </a:p>
        </p:txBody>
      </p:sp>
      <p:sp>
        <p:nvSpPr>
          <p:cNvPr id="3" name="מציין מיקום תוכן 2"/>
          <p:cNvSpPr>
            <a:spLocks noGrp="1"/>
          </p:cNvSpPr>
          <p:nvPr>
            <p:ph idx="1"/>
          </p:nvPr>
        </p:nvSpPr>
        <p:spPr/>
        <p:txBody>
          <a:bodyPr>
            <a:normAutofit/>
          </a:bodyPr>
          <a:lstStyle/>
          <a:p>
            <a:r>
              <a:rPr lang="he-IL" sz="2800" dirty="0" smtClean="0"/>
              <a:t>כשמתעוררת שאלה האם הבורר מוסמך לדון בסוגיה מסוימת, והאם היא במסגרת כתב הבוררות, - הבורר הוא זה שיחליט בנושא.</a:t>
            </a:r>
          </a:p>
          <a:p>
            <a:r>
              <a:rPr lang="he-IL" sz="2800" dirty="0" smtClean="0"/>
              <a:t>יש להעלות הטענה באופן </a:t>
            </a:r>
            <a:r>
              <a:rPr lang="he-IL" sz="2800" dirty="0" err="1" smtClean="0"/>
              <a:t>מיידי</a:t>
            </a:r>
            <a:r>
              <a:rPr lang="he-IL" sz="2800" dirty="0" smtClean="0"/>
              <a:t>, ולא להמתין עד לסיום הבוררות.</a:t>
            </a:r>
          </a:p>
          <a:p>
            <a:r>
              <a:rPr lang="he-IL" sz="2800" dirty="0" smtClean="0"/>
              <a:t>על החלטת הבורר- קיימת אפשרות ערעור. למטרה זו יש לקבל החלטה על עיכוב המשך הבוררות.</a:t>
            </a:r>
          </a:p>
          <a:p>
            <a:r>
              <a:rPr lang="he-IL" sz="2800" dirty="0" smtClean="0"/>
              <a:t>במידה ובורר הכריע בשאלה שצד בר שאינו מוסמך לדון בה, אזי משלא העלה טענה כנגד, נראה בזאת הרחבת סמכות של הבורר.</a:t>
            </a:r>
            <a:endParaRPr lang="he-IL" sz="2800" dirty="0"/>
          </a:p>
        </p:txBody>
      </p:sp>
      <p:pic>
        <p:nvPicPr>
          <p:cNvPr id="1026" name="Picture 2" descr="תוצאת תמונה עבור סמכות"/>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43125" cy="18422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730752" y="5499847"/>
            <a:ext cx="968189" cy="369332"/>
          </a:xfrm>
          <a:prstGeom prst="rect">
            <a:avLst/>
          </a:prstGeom>
          <a:noFill/>
        </p:spPr>
        <p:txBody>
          <a:bodyPr wrap="square" rtlCol="1">
            <a:spAutoFit/>
          </a:bodyPr>
          <a:lstStyle/>
          <a:p>
            <a:r>
              <a:rPr lang="he-IL" dirty="0" smtClean="0"/>
              <a:t>36</a:t>
            </a:r>
            <a:endParaRPr lang="he-IL" dirty="0"/>
          </a:p>
        </p:txBody>
      </p:sp>
    </p:spTree>
    <p:extLst>
      <p:ext uri="{BB962C8B-B14F-4D97-AF65-F5344CB8AC3E}">
        <p14:creationId xmlns:p14="http://schemas.microsoft.com/office/powerpoint/2010/main" val="5042416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מתן פסק דין במועד שנקבע</a:t>
            </a:r>
            <a:endParaRPr lang="he-IL" dirty="0"/>
          </a:p>
        </p:txBody>
      </p:sp>
      <p:sp>
        <p:nvSpPr>
          <p:cNvPr id="3" name="מציין מיקום תוכן 2"/>
          <p:cNvSpPr>
            <a:spLocks noGrp="1"/>
          </p:cNvSpPr>
          <p:nvPr>
            <p:ph idx="1"/>
          </p:nvPr>
        </p:nvSpPr>
        <p:spPr/>
        <p:txBody>
          <a:bodyPr/>
          <a:lstStyle/>
          <a:p>
            <a:r>
              <a:rPr lang="he-IL" sz="2800" dirty="0" smtClean="0"/>
              <a:t>הבוררות מתנהלת לפי כתב הבוררות</a:t>
            </a:r>
            <a:r>
              <a:rPr lang="he-IL" dirty="0" smtClean="0"/>
              <a:t>.</a:t>
            </a:r>
          </a:p>
          <a:p>
            <a:r>
              <a:rPr lang="he-IL" dirty="0" smtClean="0"/>
              <a:t>א ב ל – </a:t>
            </a:r>
          </a:p>
          <a:p>
            <a:r>
              <a:rPr lang="he-IL" sz="2800" dirty="0" smtClean="0"/>
              <a:t>במידה והסכם הבוררות שותק בנושא מועד מתן פסק </a:t>
            </a:r>
            <a:r>
              <a:rPr lang="he-IL" sz="2800" dirty="0" err="1" smtClean="0"/>
              <a:t>הבורר,תחול</a:t>
            </a:r>
            <a:r>
              <a:rPr lang="he-IL" sz="2800" dirty="0" smtClean="0"/>
              <a:t> התוספת לחוק הבוררות, שבסעיף טו לה קובעת  כי פסק הבוררות יינתן תוך 3 חודשים מהיום שהתחיל הדיון בסכסוך; לבורר זכות להאריך את התקופה ב-3 חודשים נוספים.</a:t>
            </a:r>
          </a:p>
          <a:p>
            <a:r>
              <a:rPr lang="he-IL" sz="2800" dirty="0" smtClean="0"/>
              <a:t>יש לשים לב למועד זה, </a:t>
            </a:r>
            <a:r>
              <a:rPr lang="he-IL" sz="2800" dirty="0" err="1" smtClean="0"/>
              <a:t>מכיון</a:t>
            </a:r>
            <a:r>
              <a:rPr lang="he-IL" sz="2800" dirty="0" smtClean="0"/>
              <a:t> שאי עמידה בו יכול להיות עילה לביטול פסק הבורר. כל פעילות שלאחר מכן, יכולה להעלות את הטענה של חוסר סמכות.</a:t>
            </a:r>
            <a:endParaRPr lang="he-IL" sz="2800" dirty="0"/>
          </a:p>
        </p:txBody>
      </p:sp>
      <p:pic>
        <p:nvPicPr>
          <p:cNvPr id="4" name="תמונה 3"/>
          <p:cNvPicPr>
            <a:picLocks noChangeAspect="1"/>
          </p:cNvPicPr>
          <p:nvPr/>
        </p:nvPicPr>
        <p:blipFill>
          <a:blip r:embed="rId3"/>
          <a:stretch>
            <a:fillRect/>
          </a:stretch>
        </p:blipFill>
        <p:spPr>
          <a:xfrm>
            <a:off x="106734" y="123545"/>
            <a:ext cx="2619375" cy="1743075"/>
          </a:xfrm>
          <a:prstGeom prst="rect">
            <a:avLst/>
          </a:prstGeom>
        </p:spPr>
      </p:pic>
      <p:sp>
        <p:nvSpPr>
          <p:cNvPr id="5" name="TextBox 4"/>
          <p:cNvSpPr txBox="1"/>
          <p:nvPr/>
        </p:nvSpPr>
        <p:spPr>
          <a:xfrm>
            <a:off x="10771095" y="5930153"/>
            <a:ext cx="860612" cy="369332"/>
          </a:xfrm>
          <a:prstGeom prst="rect">
            <a:avLst/>
          </a:prstGeom>
          <a:noFill/>
        </p:spPr>
        <p:txBody>
          <a:bodyPr wrap="square" rtlCol="1">
            <a:spAutoFit/>
          </a:bodyPr>
          <a:lstStyle/>
          <a:p>
            <a:r>
              <a:rPr lang="he-IL" dirty="0" smtClean="0"/>
              <a:t>37</a:t>
            </a:r>
            <a:endParaRPr lang="he-IL" dirty="0"/>
          </a:p>
        </p:txBody>
      </p:sp>
    </p:spTree>
    <p:extLst>
      <p:ext uri="{BB962C8B-B14F-4D97-AF65-F5344CB8AC3E}">
        <p14:creationId xmlns:p14="http://schemas.microsoft.com/office/powerpoint/2010/main" val="3510584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46111" y="452718"/>
            <a:ext cx="9404723" cy="1335741"/>
          </a:xfrm>
        </p:spPr>
        <p:txBody>
          <a:bodyPr/>
          <a:lstStyle/>
          <a:p>
            <a:pPr algn="r"/>
            <a:r>
              <a:rPr lang="he-IL" dirty="0" smtClean="0"/>
              <a:t>מעמד הבורר</a:t>
            </a:r>
            <a:endParaRPr lang="he-IL" dirty="0"/>
          </a:p>
        </p:txBody>
      </p:sp>
      <p:sp>
        <p:nvSpPr>
          <p:cNvPr id="3" name="מציין מיקום תוכן 2"/>
          <p:cNvSpPr>
            <a:spLocks noGrp="1"/>
          </p:cNvSpPr>
          <p:nvPr>
            <p:ph idx="1"/>
          </p:nvPr>
        </p:nvSpPr>
        <p:spPr>
          <a:xfrm>
            <a:off x="1103312" y="2433918"/>
            <a:ext cx="8946541" cy="3814481"/>
          </a:xfrm>
        </p:spPr>
        <p:txBody>
          <a:bodyPr>
            <a:normAutofit/>
          </a:bodyPr>
          <a:lstStyle/>
          <a:p>
            <a:r>
              <a:rPr lang="he-IL" sz="2800" dirty="0" smtClean="0"/>
              <a:t>צדדים שבחרו בבורר, בין במסגרת תביעה בבית המשפט, ובין ללא תביעה, - נתנו לאותו בורר/ים </a:t>
            </a:r>
            <a:r>
              <a:rPr lang="he-IL" sz="2800" dirty="0" err="1" smtClean="0"/>
              <a:t>כח</a:t>
            </a:r>
            <a:r>
              <a:rPr lang="he-IL" sz="2800" dirty="0" smtClean="0"/>
              <a:t> לשנות זכויות משפטיות שלהם.</a:t>
            </a:r>
          </a:p>
          <a:p>
            <a:r>
              <a:rPr lang="he-IL" sz="2800" dirty="0" smtClean="0"/>
              <a:t>הוא יכול לקבוע שצד א' ישלם לצד ב' כספים, או יעשה פעולה </a:t>
            </a:r>
            <a:r>
              <a:rPr lang="he-IL" sz="2800" dirty="0" err="1" smtClean="0"/>
              <a:t>מסויימת</a:t>
            </a:r>
            <a:r>
              <a:rPr lang="he-IL" sz="2800" dirty="0" smtClean="0"/>
              <a:t>.</a:t>
            </a:r>
          </a:p>
          <a:p>
            <a:r>
              <a:rPr lang="he-IL" sz="2800" dirty="0" smtClean="0"/>
              <a:t>הם חייבים לקבל זאת, לאחר שפסק הדין שלו אושר בבית המשפט , ולכן ניתן לאוכפו באמצעות ההוצאה לפועל.</a:t>
            </a:r>
          </a:p>
          <a:p>
            <a:r>
              <a:rPr lang="he-IL" sz="2800" dirty="0" smtClean="0"/>
              <a:t>הבורר על כל סוגיו מושווה בכך לשופט.</a:t>
            </a:r>
          </a:p>
        </p:txBody>
      </p:sp>
      <p:pic>
        <p:nvPicPr>
          <p:cNvPr id="4" name="תמונה 3"/>
          <p:cNvPicPr>
            <a:picLocks noChangeAspect="1"/>
          </p:cNvPicPr>
          <p:nvPr/>
        </p:nvPicPr>
        <p:blipFill>
          <a:blip r:embed="rId3"/>
          <a:stretch>
            <a:fillRect/>
          </a:stretch>
        </p:blipFill>
        <p:spPr>
          <a:xfrm>
            <a:off x="0" y="98331"/>
            <a:ext cx="2133600" cy="2143125"/>
          </a:xfrm>
          <a:prstGeom prst="rect">
            <a:avLst/>
          </a:prstGeom>
        </p:spPr>
      </p:pic>
      <p:sp>
        <p:nvSpPr>
          <p:cNvPr id="5" name="TextBox 4"/>
          <p:cNvSpPr txBox="1"/>
          <p:nvPr/>
        </p:nvSpPr>
        <p:spPr>
          <a:xfrm>
            <a:off x="10502153" y="5082988"/>
            <a:ext cx="672353" cy="369332"/>
          </a:xfrm>
          <a:prstGeom prst="rect">
            <a:avLst/>
          </a:prstGeom>
          <a:noFill/>
        </p:spPr>
        <p:txBody>
          <a:bodyPr wrap="square" rtlCol="1">
            <a:spAutoFit/>
          </a:bodyPr>
          <a:lstStyle/>
          <a:p>
            <a:r>
              <a:rPr lang="he-IL" dirty="0" smtClean="0"/>
              <a:t>38</a:t>
            </a:r>
            <a:endParaRPr lang="he-IL" dirty="0"/>
          </a:p>
        </p:txBody>
      </p:sp>
    </p:spTree>
    <p:extLst>
      <p:ext uri="{BB962C8B-B14F-4D97-AF65-F5344CB8AC3E}">
        <p14:creationId xmlns:p14="http://schemas.microsoft.com/office/powerpoint/2010/main" val="25730599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חיובי הבורר</a:t>
            </a:r>
            <a:endParaRPr lang="he-IL" dirty="0"/>
          </a:p>
        </p:txBody>
      </p:sp>
      <p:sp>
        <p:nvSpPr>
          <p:cNvPr id="3" name="מציין מיקום תוכן 2"/>
          <p:cNvSpPr>
            <a:spLocks noGrp="1"/>
          </p:cNvSpPr>
          <p:nvPr>
            <p:ph idx="1"/>
          </p:nvPr>
        </p:nvSpPr>
        <p:spPr/>
        <p:txBody>
          <a:bodyPr>
            <a:normAutofit/>
          </a:bodyPr>
          <a:lstStyle/>
          <a:p>
            <a:r>
              <a:rPr lang="he-IL" sz="3200" dirty="0" smtClean="0"/>
              <a:t>התוספת לחוק הבוררות מחייבת כל בורר והיא קובעת בסעיף י"ד שעליו לפעול בדרך שנראית לו מועילה בותר להכרעה צודקת ומהירה של הסכסוך, לפי מיטב שפיטתו ולפי החומר שבפניו.</a:t>
            </a:r>
          </a:p>
          <a:p>
            <a:r>
              <a:rPr lang="he-IL" sz="3200" dirty="0" smtClean="0"/>
              <a:t>במידה ולא נקבע אחרת, הבורר לא קשור לדין המהותי, לדיני הראיות או לסדרי הדין שנהוגים בבית משפט.</a:t>
            </a:r>
          </a:p>
          <a:p>
            <a:r>
              <a:rPr lang="he-IL" sz="3200" dirty="0" smtClean="0"/>
              <a:t>בסוף הדיון יינתן פסק דין מנומק.</a:t>
            </a:r>
            <a:endParaRPr lang="he-IL" sz="3200" dirty="0"/>
          </a:p>
          <a:p>
            <a:endParaRPr lang="he-IL" sz="2800" dirty="0" smtClean="0"/>
          </a:p>
          <a:p>
            <a:endParaRPr lang="he-IL" sz="2800" dirty="0"/>
          </a:p>
          <a:p>
            <a:endParaRPr lang="he-IL" sz="2800" dirty="0" smtClean="0"/>
          </a:p>
          <a:p>
            <a:endParaRPr lang="he-IL" sz="2800" dirty="0"/>
          </a:p>
          <a:p>
            <a:endParaRPr lang="he-IL" sz="2800" dirty="0" smtClean="0"/>
          </a:p>
          <a:p>
            <a:endParaRPr lang="he-IL" sz="2800" dirty="0"/>
          </a:p>
          <a:p>
            <a:endParaRPr lang="he-IL" sz="2800" dirty="0" smtClean="0"/>
          </a:p>
          <a:p>
            <a:endParaRPr lang="he-IL" sz="2800" dirty="0"/>
          </a:p>
          <a:p>
            <a:endParaRPr lang="he-IL" sz="2800" dirty="0" smtClean="0"/>
          </a:p>
          <a:p>
            <a:endParaRPr lang="he-IL" sz="2800" dirty="0"/>
          </a:p>
          <a:p>
            <a:endParaRPr lang="he-IL" sz="2800" dirty="0" smtClean="0"/>
          </a:p>
          <a:p>
            <a:endParaRPr lang="he-IL" sz="2800" dirty="0"/>
          </a:p>
          <a:p>
            <a:endParaRPr lang="he-IL" sz="2800" dirty="0" smtClean="0"/>
          </a:p>
          <a:p>
            <a:endParaRPr lang="he-IL" sz="2800" dirty="0"/>
          </a:p>
          <a:p>
            <a:endParaRPr lang="he-IL" sz="2800" dirty="0" smtClean="0"/>
          </a:p>
          <a:p>
            <a:endParaRPr lang="he-IL" sz="2800" dirty="0"/>
          </a:p>
          <a:p>
            <a:endParaRPr lang="he-IL" sz="2800" dirty="0" smtClean="0"/>
          </a:p>
          <a:p>
            <a:endParaRPr lang="he-IL" sz="2800" dirty="0"/>
          </a:p>
          <a:p>
            <a:endParaRPr lang="he-IL" sz="2800" dirty="0" smtClean="0"/>
          </a:p>
          <a:p>
            <a:endParaRPr lang="he-IL" sz="2800" dirty="0"/>
          </a:p>
          <a:p>
            <a:endParaRPr lang="he-IL" sz="2800" dirty="0" smtClean="0"/>
          </a:p>
          <a:p>
            <a:endParaRPr lang="he-IL" sz="2800" dirty="0"/>
          </a:p>
          <a:p>
            <a:endParaRPr lang="he-IL" sz="2800" dirty="0" smtClean="0"/>
          </a:p>
          <a:p>
            <a:endParaRPr lang="he-IL" sz="2800" dirty="0"/>
          </a:p>
          <a:p>
            <a:endParaRPr lang="he-IL" sz="2800" dirty="0" smtClean="0"/>
          </a:p>
          <a:p>
            <a:endParaRPr lang="he-IL" sz="2800" dirty="0"/>
          </a:p>
          <a:p>
            <a:endParaRPr lang="he-IL" sz="2800" dirty="0" smtClean="0"/>
          </a:p>
          <a:p>
            <a:endParaRPr lang="he-IL" sz="2800" dirty="0"/>
          </a:p>
          <a:p>
            <a:endParaRPr lang="he-IL" sz="2800" dirty="0" smtClean="0"/>
          </a:p>
        </p:txBody>
      </p:sp>
      <p:pic>
        <p:nvPicPr>
          <p:cNvPr id="4" name="תמונה 3"/>
          <p:cNvPicPr>
            <a:picLocks noChangeAspect="1"/>
          </p:cNvPicPr>
          <p:nvPr/>
        </p:nvPicPr>
        <p:blipFill>
          <a:blip r:embed="rId3"/>
          <a:stretch>
            <a:fillRect/>
          </a:stretch>
        </p:blipFill>
        <p:spPr>
          <a:xfrm>
            <a:off x="156602" y="0"/>
            <a:ext cx="2143125" cy="2043953"/>
          </a:xfrm>
          <a:prstGeom prst="rect">
            <a:avLst/>
          </a:prstGeom>
        </p:spPr>
      </p:pic>
      <p:sp>
        <p:nvSpPr>
          <p:cNvPr id="5" name="TextBox 4"/>
          <p:cNvSpPr txBox="1"/>
          <p:nvPr/>
        </p:nvSpPr>
        <p:spPr>
          <a:xfrm>
            <a:off x="10717306" y="6172200"/>
            <a:ext cx="1264023" cy="376518"/>
          </a:xfrm>
          <a:prstGeom prst="rect">
            <a:avLst/>
          </a:prstGeom>
          <a:noFill/>
        </p:spPr>
        <p:txBody>
          <a:bodyPr wrap="square" rtlCol="1">
            <a:spAutoFit/>
          </a:bodyPr>
          <a:lstStyle/>
          <a:p>
            <a:r>
              <a:rPr lang="he-IL" dirty="0" smtClean="0"/>
              <a:t>39</a:t>
            </a:r>
            <a:endParaRPr lang="he-IL" dirty="0"/>
          </a:p>
        </p:txBody>
      </p:sp>
    </p:spTree>
    <p:extLst>
      <p:ext uri="{BB962C8B-B14F-4D97-AF65-F5344CB8AC3E}">
        <p14:creationId xmlns:p14="http://schemas.microsoft.com/office/powerpoint/2010/main" val="22823558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61264" y="654423"/>
            <a:ext cx="9404723" cy="1400530"/>
          </a:xfrm>
        </p:spPr>
        <p:txBody>
          <a:bodyPr/>
          <a:lstStyle/>
          <a:p>
            <a:pPr algn="r"/>
            <a:r>
              <a:rPr lang="he-IL" dirty="0" smtClean="0"/>
              <a:t>והפסיקה קובעת</a:t>
            </a:r>
            <a:endParaRPr lang="he-IL" dirty="0"/>
          </a:p>
        </p:txBody>
      </p:sp>
      <p:sp>
        <p:nvSpPr>
          <p:cNvPr id="3" name="מציין מיקום תוכן 2"/>
          <p:cNvSpPr>
            <a:spLocks noGrp="1"/>
          </p:cNvSpPr>
          <p:nvPr>
            <p:ph idx="1"/>
          </p:nvPr>
        </p:nvSpPr>
        <p:spPr>
          <a:xfrm>
            <a:off x="1103312" y="2052918"/>
            <a:ext cx="8946541" cy="4455458"/>
          </a:xfrm>
        </p:spPr>
        <p:txBody>
          <a:bodyPr>
            <a:normAutofit lnSpcReduction="10000"/>
          </a:bodyPr>
          <a:lstStyle/>
          <a:p>
            <a:r>
              <a:rPr lang="he-IL" sz="2800" dirty="0" smtClean="0"/>
              <a:t>-</a:t>
            </a:r>
            <a:r>
              <a:rPr lang="he-IL" sz="3200" dirty="0" smtClean="0"/>
              <a:t>שלא יהיה ניגוד </a:t>
            </a:r>
            <a:r>
              <a:rPr lang="he-IL" sz="3200" dirty="0" err="1" smtClean="0"/>
              <a:t>ענינים</a:t>
            </a:r>
            <a:r>
              <a:rPr lang="he-IL" sz="3200" dirty="0" smtClean="0"/>
              <a:t> בינו לבין מי מבעלי הדין.</a:t>
            </a:r>
          </a:p>
          <a:p>
            <a:r>
              <a:rPr lang="he-IL" sz="3200" dirty="0" smtClean="0"/>
              <a:t>-שינהל את הבוררות בתום לב ותוך שמירה על כללי צדק טבעי</a:t>
            </a:r>
            <a:r>
              <a:rPr lang="he-IL" sz="3200" dirty="0" smtClean="0"/>
              <a:t>, זכויות </a:t>
            </a:r>
            <a:r>
              <a:rPr lang="he-IL" sz="3200" dirty="0" smtClean="0"/>
              <a:t>דיוניות בסיסיות של הצדדים, זכויות יסוד וכבוד האדם.</a:t>
            </a:r>
          </a:p>
          <a:p>
            <a:r>
              <a:rPr lang="he-IL" sz="3200" dirty="0" smtClean="0"/>
              <a:t>-מוטלת עליו חובת גילוי במידה ונעזרו בו בעבר.</a:t>
            </a:r>
          </a:p>
          <a:p>
            <a:r>
              <a:rPr lang="he-IL" sz="3200" dirty="0" smtClean="0"/>
              <a:t>-מוטלת עליו חובת גילוי באם יש קשרי משפחה/ידידות בינו לבין אחד הצדדים.</a:t>
            </a:r>
          </a:p>
          <a:p>
            <a:r>
              <a:rPr lang="he-IL" sz="3200" dirty="0" smtClean="0"/>
              <a:t>בקיצור שיהיה גם ידען וגם מנטש.</a:t>
            </a:r>
            <a:endParaRPr lang="he-IL" sz="3200" dirty="0"/>
          </a:p>
        </p:txBody>
      </p:sp>
      <p:pic>
        <p:nvPicPr>
          <p:cNvPr id="2050" name="Picture 2" descr="תוצאת תמונה עבור מלאך"/>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343150" cy="19526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730753" y="6131859"/>
            <a:ext cx="1264023" cy="369332"/>
          </a:xfrm>
          <a:prstGeom prst="rect">
            <a:avLst/>
          </a:prstGeom>
          <a:noFill/>
        </p:spPr>
        <p:txBody>
          <a:bodyPr wrap="square" rtlCol="1">
            <a:spAutoFit/>
          </a:bodyPr>
          <a:lstStyle/>
          <a:p>
            <a:r>
              <a:rPr lang="he-IL" dirty="0" smtClean="0"/>
              <a:t>40</a:t>
            </a:r>
            <a:endParaRPr lang="he-IL" dirty="0"/>
          </a:p>
        </p:txBody>
      </p:sp>
    </p:spTree>
    <p:extLst>
      <p:ext uri="{BB962C8B-B14F-4D97-AF65-F5344CB8AC3E}">
        <p14:creationId xmlns:p14="http://schemas.microsoft.com/office/powerpoint/2010/main" val="11522710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רשלנות בתפקיד הבורר</a:t>
            </a:r>
            <a:endParaRPr lang="he-IL" dirty="0"/>
          </a:p>
        </p:txBody>
      </p:sp>
      <p:sp>
        <p:nvSpPr>
          <p:cNvPr id="3" name="מציין מיקום תוכן 2"/>
          <p:cNvSpPr>
            <a:spLocks noGrp="1"/>
          </p:cNvSpPr>
          <p:nvPr>
            <p:ph idx="1"/>
          </p:nvPr>
        </p:nvSpPr>
        <p:spPr>
          <a:xfrm>
            <a:off x="1103312" y="1452282"/>
            <a:ext cx="8946541" cy="5405718"/>
          </a:xfrm>
        </p:spPr>
        <p:txBody>
          <a:bodyPr>
            <a:normAutofit/>
          </a:bodyPr>
          <a:lstStyle/>
          <a:p>
            <a:r>
              <a:rPr lang="he-IL" sz="2800" dirty="0" smtClean="0"/>
              <a:t>בורר יכול </a:t>
            </a:r>
            <a:r>
              <a:rPr lang="he-IL" sz="2800" dirty="0" err="1" smtClean="0"/>
              <a:t>ליתן</a:t>
            </a:r>
            <a:r>
              <a:rPr lang="he-IL" sz="2800" dirty="0" smtClean="0"/>
              <a:t> פס"ד רשלן.</a:t>
            </a:r>
          </a:p>
          <a:p>
            <a:r>
              <a:rPr lang="he-IL" sz="2800" dirty="0" smtClean="0"/>
              <a:t>מה דינו?</a:t>
            </a:r>
          </a:p>
          <a:p>
            <a:r>
              <a:rPr lang="he-IL" sz="2800" dirty="0"/>
              <a:t>סעיף 8 לפקודת </a:t>
            </a:r>
            <a:r>
              <a:rPr lang="he-IL" sz="2800" dirty="0" err="1"/>
              <a:t>הנזיקין</a:t>
            </a:r>
            <a:r>
              <a:rPr lang="he-IL" sz="2800" dirty="0"/>
              <a:t> מורה </a:t>
            </a:r>
            <a:r>
              <a:rPr lang="he-IL" sz="2800" dirty="0" smtClean="0"/>
              <a:t>כדלקמן:</a:t>
            </a:r>
            <a:r>
              <a:rPr lang="he-IL" sz="2800" dirty="0"/>
              <a:t/>
            </a:r>
            <a:br>
              <a:rPr lang="he-IL" sz="2800" dirty="0"/>
            </a:br>
            <a:r>
              <a:rPr lang="he-IL" sz="2800" dirty="0"/>
              <a:t>"אדם הוא גופו </a:t>
            </a:r>
            <a:r>
              <a:rPr lang="he-IL" sz="3200" dirty="0"/>
              <a:t>בית</a:t>
            </a:r>
            <a:r>
              <a:rPr lang="he-IL" sz="2800" dirty="0"/>
              <a:t> משפט או בית דין או אחד מחבריהם, או שהוא ממלא כדין חובותיו של אדם כאמור, וכל אדם אחר המבצע פעולות שיפוט, לרבות בורר – לא תוגש נגדו תובענה על עוולה שעשה במילוי תפקידו </a:t>
            </a:r>
            <a:r>
              <a:rPr lang="he-IL" sz="2800" dirty="0" smtClean="0"/>
              <a:t>השיפוטי".</a:t>
            </a:r>
          </a:p>
          <a:p>
            <a:r>
              <a:rPr lang="he-IL" sz="2800" dirty="0" smtClean="0"/>
              <a:t>מסקנה – בורר רשלן לא יכול להיתבע ע"י מתדיין בפניו.</a:t>
            </a:r>
          </a:p>
          <a:p>
            <a:r>
              <a:rPr lang="he-IL" sz="2800" dirty="0" smtClean="0"/>
              <a:t>לאור הנוסח הרחב – גם סוגי בוררים, מומחים ומגשרים לא ייתבעו.</a:t>
            </a:r>
            <a:endParaRPr lang="he-IL" sz="2800" dirty="0"/>
          </a:p>
        </p:txBody>
      </p:sp>
      <p:pic>
        <p:nvPicPr>
          <p:cNvPr id="4" name="תמונה 3"/>
          <p:cNvPicPr>
            <a:picLocks noChangeAspect="1"/>
          </p:cNvPicPr>
          <p:nvPr/>
        </p:nvPicPr>
        <p:blipFill>
          <a:blip r:embed="rId3"/>
          <a:stretch>
            <a:fillRect/>
          </a:stretch>
        </p:blipFill>
        <p:spPr>
          <a:xfrm>
            <a:off x="189099" y="229161"/>
            <a:ext cx="1868302" cy="1209674"/>
          </a:xfrm>
          <a:prstGeom prst="rect">
            <a:avLst/>
          </a:prstGeom>
        </p:spPr>
      </p:pic>
      <p:sp>
        <p:nvSpPr>
          <p:cNvPr id="5" name="TextBox 4"/>
          <p:cNvSpPr txBox="1"/>
          <p:nvPr/>
        </p:nvSpPr>
        <p:spPr>
          <a:xfrm>
            <a:off x="10394576" y="6239435"/>
            <a:ext cx="1640542" cy="369332"/>
          </a:xfrm>
          <a:prstGeom prst="rect">
            <a:avLst/>
          </a:prstGeom>
          <a:noFill/>
        </p:spPr>
        <p:txBody>
          <a:bodyPr wrap="square" rtlCol="1">
            <a:spAutoFit/>
          </a:bodyPr>
          <a:lstStyle/>
          <a:p>
            <a:r>
              <a:rPr lang="he-IL" dirty="0" smtClean="0"/>
              <a:t>41</a:t>
            </a:r>
            <a:endParaRPr lang="he-IL" dirty="0"/>
          </a:p>
        </p:txBody>
      </p:sp>
    </p:spTree>
    <p:extLst>
      <p:ext uri="{BB962C8B-B14F-4D97-AF65-F5344CB8AC3E}">
        <p14:creationId xmlns:p14="http://schemas.microsoft.com/office/powerpoint/2010/main" val="2651763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תביעה כנגד שופט ברשלנות?</a:t>
            </a:r>
            <a:endParaRPr lang="he-IL" dirty="0"/>
          </a:p>
        </p:txBody>
      </p:sp>
      <p:sp>
        <p:nvSpPr>
          <p:cNvPr id="3" name="מציין מיקום תוכן 2"/>
          <p:cNvSpPr>
            <a:spLocks noGrp="1"/>
          </p:cNvSpPr>
          <p:nvPr>
            <p:ph idx="1"/>
          </p:nvPr>
        </p:nvSpPr>
        <p:spPr/>
        <p:txBody>
          <a:bodyPr>
            <a:normAutofit/>
          </a:bodyPr>
          <a:lstStyle/>
          <a:p>
            <a:r>
              <a:rPr lang="he-IL" sz="2800" dirty="0" smtClean="0"/>
              <a:t>השופט חסין מתביעה, אבל אין זה אומר שהמעשה כדין.</a:t>
            </a:r>
          </a:p>
          <a:p>
            <a:r>
              <a:rPr lang="he-IL" sz="2800" dirty="0" smtClean="0"/>
              <a:t>יש מספר </a:t>
            </a:r>
            <a:r>
              <a:rPr lang="he-IL" sz="2800" dirty="0" err="1" smtClean="0"/>
              <a:t>נסיונות</a:t>
            </a:r>
            <a:r>
              <a:rPr lang="he-IL" sz="2800" dirty="0" smtClean="0"/>
              <a:t> לתבוע את המדינה באחריות </a:t>
            </a:r>
            <a:r>
              <a:rPr lang="he-IL" sz="2800" dirty="0" err="1" smtClean="0"/>
              <a:t>שילוחית</a:t>
            </a:r>
            <a:r>
              <a:rPr lang="he-IL" sz="2800" dirty="0" smtClean="0"/>
              <a:t>, ותוך כדי דיון כמובן צריכים לדון במעשיו של השופט.</a:t>
            </a:r>
          </a:p>
          <a:p>
            <a:r>
              <a:rPr lang="he-IL" sz="2800" dirty="0" err="1" smtClean="0"/>
              <a:t>בדר"כ</a:t>
            </a:r>
            <a:r>
              <a:rPr lang="he-IL" sz="2800" dirty="0" smtClean="0"/>
              <a:t> האפשרות קמה במקרים יותר </a:t>
            </a:r>
            <a:r>
              <a:rPr lang="he-IL" sz="2800" dirty="0" err="1" smtClean="0"/>
              <a:t>מינהליים</a:t>
            </a:r>
            <a:r>
              <a:rPr lang="he-IL" sz="2800" dirty="0" smtClean="0"/>
              <a:t>, כמו:</a:t>
            </a:r>
          </a:p>
          <a:p>
            <a:r>
              <a:rPr lang="he-IL" sz="2800" dirty="0" smtClean="0"/>
              <a:t>אי מתן פסק דין במשך שנים רבות;</a:t>
            </a:r>
          </a:p>
          <a:p>
            <a:r>
              <a:rPr lang="he-IL" sz="2800" dirty="0" smtClean="0"/>
              <a:t>ליקויים ברישום הדיון, שיכולים להשפיע על זכותו של בעל דין.</a:t>
            </a:r>
          </a:p>
          <a:p>
            <a:r>
              <a:rPr lang="he-IL" sz="2800" dirty="0" smtClean="0"/>
              <a:t>וההשלכה האפשרית </a:t>
            </a:r>
            <a:r>
              <a:rPr lang="he-IL" sz="2800" dirty="0" err="1" smtClean="0"/>
              <a:t>לעניננו</a:t>
            </a:r>
            <a:r>
              <a:rPr lang="he-IL" sz="2800" dirty="0" smtClean="0"/>
              <a:t>:</a:t>
            </a:r>
            <a:endParaRPr lang="he-IL" sz="2800" dirty="0"/>
          </a:p>
        </p:txBody>
      </p:sp>
      <p:pic>
        <p:nvPicPr>
          <p:cNvPr id="2050" name="Picture 2" descr="תוצאת תמונה עבור תובענה"/>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886075" cy="15811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609729" y="6320118"/>
            <a:ext cx="1582271" cy="369332"/>
          </a:xfrm>
          <a:prstGeom prst="rect">
            <a:avLst/>
          </a:prstGeom>
          <a:noFill/>
        </p:spPr>
        <p:txBody>
          <a:bodyPr wrap="square" rtlCol="1">
            <a:spAutoFit/>
          </a:bodyPr>
          <a:lstStyle/>
          <a:p>
            <a:r>
              <a:rPr lang="he-IL" dirty="0" smtClean="0"/>
              <a:t>42</a:t>
            </a:r>
            <a:endParaRPr lang="he-IL" dirty="0"/>
          </a:p>
        </p:txBody>
      </p:sp>
    </p:spTree>
    <p:extLst>
      <p:ext uri="{BB962C8B-B14F-4D97-AF65-F5344CB8AC3E}">
        <p14:creationId xmlns:p14="http://schemas.microsoft.com/office/powerpoint/2010/main" val="12304604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סיווג היחסים בין צדדים לבוררים/מגשרים.</a:t>
            </a:r>
            <a:endParaRPr lang="he-IL" dirty="0"/>
          </a:p>
        </p:txBody>
      </p:sp>
      <p:sp>
        <p:nvSpPr>
          <p:cNvPr id="3" name="מציין מיקום תוכן 2"/>
          <p:cNvSpPr>
            <a:spLocks noGrp="1"/>
          </p:cNvSpPr>
          <p:nvPr>
            <p:ph idx="1"/>
          </p:nvPr>
        </p:nvSpPr>
        <p:spPr>
          <a:xfrm>
            <a:off x="974631" y="1331259"/>
            <a:ext cx="8946541" cy="5526741"/>
          </a:xfrm>
        </p:spPr>
        <p:txBody>
          <a:bodyPr>
            <a:normAutofit/>
          </a:bodyPr>
          <a:lstStyle/>
          <a:p>
            <a:endParaRPr lang="he-IL" sz="3500" dirty="0" smtClean="0"/>
          </a:p>
          <a:p>
            <a:r>
              <a:rPr lang="he-IL" sz="3500" dirty="0" smtClean="0"/>
              <a:t>בין מתדיינים לבין שופט אין כל יחסים חוזיים. או משפטיים. המדובר ברשות שפועלת עפ"י דין.</a:t>
            </a:r>
          </a:p>
          <a:p>
            <a:r>
              <a:rPr lang="he-IL" sz="3500" dirty="0" smtClean="0"/>
              <a:t>לעומת זאת -</a:t>
            </a:r>
            <a:endParaRPr lang="he-IL" sz="3500" dirty="0"/>
          </a:p>
          <a:p>
            <a:r>
              <a:rPr lang="he-IL" sz="3500" dirty="0" smtClean="0"/>
              <a:t>בוררות וגישור הינם חוזה מיוחד שנכרת בין כל הצדדים.</a:t>
            </a:r>
          </a:p>
          <a:p>
            <a:r>
              <a:rPr lang="he-IL" sz="3500" dirty="0" smtClean="0"/>
              <a:t>האם ניתן יהיה לתובעם בגין עילות חוזיות כמו : </a:t>
            </a:r>
            <a:r>
              <a:rPr lang="he-IL" sz="3500" dirty="0" err="1" smtClean="0"/>
              <a:t>סטיה</a:t>
            </a:r>
            <a:r>
              <a:rPr lang="he-IL" sz="3500" dirty="0" smtClean="0"/>
              <a:t> מדרישות שקידה, מיומנות, מקצועיות, היעדר תום לב ועוד עילות חוזיות, בהבדל מנזיקיות?</a:t>
            </a:r>
          </a:p>
          <a:p>
            <a:endParaRPr lang="he-IL" sz="4400" dirty="0" smtClean="0"/>
          </a:p>
          <a:p>
            <a:endParaRPr lang="he-IL" sz="4400" dirty="0"/>
          </a:p>
        </p:txBody>
      </p:sp>
      <p:pic>
        <p:nvPicPr>
          <p:cNvPr id="1028" name="Picture 4" descr="תוצאת תמונה עבור כתב תביעה"/>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546412" cy="118334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744200" y="6481482"/>
            <a:ext cx="1304365" cy="369332"/>
          </a:xfrm>
          <a:prstGeom prst="rect">
            <a:avLst/>
          </a:prstGeom>
          <a:noFill/>
        </p:spPr>
        <p:txBody>
          <a:bodyPr wrap="square" rtlCol="1">
            <a:spAutoFit/>
          </a:bodyPr>
          <a:lstStyle/>
          <a:p>
            <a:r>
              <a:rPr lang="he-IL" dirty="0" smtClean="0"/>
              <a:t>43</a:t>
            </a:r>
            <a:endParaRPr lang="he-IL" dirty="0"/>
          </a:p>
        </p:txBody>
      </p:sp>
    </p:spTree>
    <p:extLst>
      <p:ext uri="{BB962C8B-B14F-4D97-AF65-F5344CB8AC3E}">
        <p14:creationId xmlns:p14="http://schemas.microsoft.com/office/powerpoint/2010/main" val="37825038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תביעת פיצויים חוזית, כנגד בורר או מגשר</a:t>
            </a:r>
            <a:endParaRPr lang="he-IL" dirty="0"/>
          </a:p>
        </p:txBody>
      </p:sp>
      <p:sp>
        <p:nvSpPr>
          <p:cNvPr id="3" name="מציין מיקום תוכן 2"/>
          <p:cNvSpPr>
            <a:spLocks noGrp="1"/>
          </p:cNvSpPr>
          <p:nvPr>
            <p:ph idx="1"/>
          </p:nvPr>
        </p:nvSpPr>
        <p:spPr>
          <a:xfrm>
            <a:off x="1103312" y="1304365"/>
            <a:ext cx="8946541" cy="5432611"/>
          </a:xfrm>
        </p:spPr>
        <p:txBody>
          <a:bodyPr>
            <a:normAutofit/>
          </a:bodyPr>
          <a:lstStyle/>
          <a:p>
            <a:r>
              <a:rPr lang="he-IL" sz="2800" dirty="0" smtClean="0"/>
              <a:t>הבסיס המשפטי לתביעה נגד בורר-</a:t>
            </a:r>
          </a:p>
          <a:p>
            <a:r>
              <a:rPr lang="he-IL" sz="2800" dirty="0" smtClean="0"/>
              <a:t>סעיף 30 לחוק הבוררות קובע כי משהסכים בורר למינוי, הוא חייב בנאמנות כלפי בעלי הדין.</a:t>
            </a:r>
          </a:p>
          <a:p>
            <a:r>
              <a:rPr lang="he-IL" sz="2800" dirty="0" smtClean="0"/>
              <a:t>משהפר חובה זו, זכאי הנפגע בנוסף לכל תרופה לפי חוק הבוררות, גם לפיצויים הניתנים בגין הפרת חוזה.</a:t>
            </a:r>
          </a:p>
          <a:p>
            <a:r>
              <a:rPr lang="he-IL" sz="2800" dirty="0" smtClean="0"/>
              <a:t>הבסיס המשפטי כנגד מגשר –</a:t>
            </a:r>
          </a:p>
          <a:p>
            <a:r>
              <a:rPr lang="he-IL" sz="2800" dirty="0" smtClean="0"/>
              <a:t>סעיף כזה לא מופיע בתקנות הגישור.</a:t>
            </a:r>
          </a:p>
          <a:p>
            <a:r>
              <a:rPr lang="he-IL" sz="2800" dirty="0" smtClean="0"/>
              <a:t>בכל זאת נראה כי התוצאה תהיה דומה, </a:t>
            </a:r>
            <a:r>
              <a:rPr lang="he-IL" sz="2800" dirty="0" err="1" smtClean="0"/>
              <a:t>מכיון</a:t>
            </a:r>
            <a:r>
              <a:rPr lang="he-IL" sz="2800" dirty="0" smtClean="0"/>
              <a:t> שגם בין המגשר לבין הצדדים נקשר חוזה, שהפרתו מזכה בפיצויים בגין נזק שנגרם.</a:t>
            </a:r>
            <a:endParaRPr lang="he-IL" sz="2800" dirty="0"/>
          </a:p>
        </p:txBody>
      </p:sp>
      <p:pic>
        <p:nvPicPr>
          <p:cNvPr id="4" name="תמונה 3"/>
          <p:cNvPicPr>
            <a:picLocks noChangeAspect="1"/>
          </p:cNvPicPr>
          <p:nvPr/>
        </p:nvPicPr>
        <p:blipFill>
          <a:blip r:embed="rId3"/>
          <a:stretch>
            <a:fillRect/>
          </a:stretch>
        </p:blipFill>
        <p:spPr>
          <a:xfrm>
            <a:off x="9963150" y="5381625"/>
            <a:ext cx="2228850" cy="1476375"/>
          </a:xfrm>
          <a:prstGeom prst="rect">
            <a:avLst/>
          </a:prstGeom>
        </p:spPr>
      </p:pic>
      <p:sp>
        <p:nvSpPr>
          <p:cNvPr id="5" name="TextBox 4"/>
          <p:cNvSpPr txBox="1"/>
          <p:nvPr/>
        </p:nvSpPr>
        <p:spPr>
          <a:xfrm>
            <a:off x="8552329" y="6239435"/>
            <a:ext cx="1062318" cy="369332"/>
          </a:xfrm>
          <a:prstGeom prst="rect">
            <a:avLst/>
          </a:prstGeom>
          <a:noFill/>
        </p:spPr>
        <p:txBody>
          <a:bodyPr wrap="square" rtlCol="1">
            <a:spAutoFit/>
          </a:bodyPr>
          <a:lstStyle/>
          <a:p>
            <a:r>
              <a:rPr lang="he-IL" dirty="0" smtClean="0"/>
              <a:t>44</a:t>
            </a:r>
            <a:endParaRPr lang="he-IL" dirty="0"/>
          </a:p>
        </p:txBody>
      </p:sp>
    </p:spTree>
    <p:extLst>
      <p:ext uri="{BB962C8B-B14F-4D97-AF65-F5344CB8AC3E}">
        <p14:creationId xmlns:p14="http://schemas.microsoft.com/office/powerpoint/2010/main" val="3968252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רע"א 3680/00 אהרון </a:t>
            </a:r>
            <a:r>
              <a:rPr lang="he-IL" dirty="0" err="1" smtClean="0"/>
              <a:t>גמליאלי</a:t>
            </a:r>
            <a:r>
              <a:rPr lang="he-IL" dirty="0" smtClean="0"/>
              <a:t> נ' מגשימים</a:t>
            </a:r>
            <a:endParaRPr lang="he-IL" dirty="0"/>
          </a:p>
        </p:txBody>
      </p:sp>
      <p:sp>
        <p:nvSpPr>
          <p:cNvPr id="3" name="מציין מיקום תוכן 2"/>
          <p:cNvSpPr>
            <a:spLocks noGrp="1"/>
          </p:cNvSpPr>
          <p:nvPr>
            <p:ph idx="1"/>
          </p:nvPr>
        </p:nvSpPr>
        <p:spPr>
          <a:xfrm>
            <a:off x="1103312" y="1385048"/>
            <a:ext cx="8946541" cy="5351928"/>
          </a:xfrm>
        </p:spPr>
        <p:txBody>
          <a:bodyPr>
            <a:noAutofit/>
          </a:bodyPr>
          <a:lstStyle/>
          <a:p>
            <a:r>
              <a:rPr lang="he-IL" sz="2400" dirty="0" smtClean="0"/>
              <a:t>עקרונות:</a:t>
            </a:r>
          </a:p>
          <a:p>
            <a:r>
              <a:rPr lang="he-IL" sz="2400" dirty="0" smtClean="0"/>
              <a:t>1. הכרעה בלא כבילות לדין המהותי, סדרי הדין והראיות.</a:t>
            </a:r>
          </a:p>
          <a:p>
            <a:r>
              <a:rPr lang="he-IL" sz="2400" dirty="0" smtClean="0"/>
              <a:t>2. פיקוח שיפוטי על תקינות וטוהר הליכי הבוררות.</a:t>
            </a:r>
          </a:p>
          <a:p>
            <a:r>
              <a:rPr lang="he-IL" sz="2400" dirty="0" smtClean="0"/>
              <a:t>3.הנטיה </a:t>
            </a:r>
            <a:r>
              <a:rPr lang="he-IL" sz="2400" dirty="0" err="1" smtClean="0"/>
              <a:t>ליתן</a:t>
            </a:r>
            <a:r>
              <a:rPr lang="he-IL" sz="2400" dirty="0" smtClean="0"/>
              <a:t> תוקף לכל פסק ולא לבטלו. במידת הצורך להחזירו להשלמה, או לבטלו חלקית.</a:t>
            </a:r>
          </a:p>
          <a:p>
            <a:r>
              <a:rPr lang="he-IL" sz="2400" dirty="0" smtClean="0"/>
              <a:t>4.יש צורך בהסכם בוררות בר תוקף, ומינוי בורר כדין, כדי להתחיל בהליך בוררות. הבדיקה ע"י הבורר.</a:t>
            </a:r>
          </a:p>
          <a:p>
            <a:r>
              <a:rPr lang="he-IL" sz="2400" dirty="0" smtClean="0"/>
              <a:t>5.ניתן לבטל פס"ד בורר לפי עילות הביטול בלבד</a:t>
            </a:r>
            <a:r>
              <a:rPr lang="he-IL" sz="2400" dirty="0" smtClean="0"/>
              <a:t>. ערעור הוא חריג.</a:t>
            </a:r>
            <a:endParaRPr lang="he-IL" sz="2400" dirty="0" smtClean="0"/>
          </a:p>
          <a:p>
            <a:r>
              <a:rPr lang="he-IL" sz="2400" dirty="0" smtClean="0"/>
              <a:t>6. הבורר כמומחה יכול היה להפעיל את עקרונות הקואופרציה שנובעים מתקנון האגודה, ולא ניתן לראות בכך שימוש בידיעה אישית.</a:t>
            </a:r>
          </a:p>
          <a:p>
            <a:r>
              <a:rPr lang="he-IL" sz="2400" dirty="0" smtClean="0"/>
              <a:t>7.מיעוט-הש' מצא- הייתי פוסק אחרת כשופט, אבל </a:t>
            </a:r>
            <a:r>
              <a:rPr lang="he-IL" sz="2400" dirty="0" err="1" smtClean="0"/>
              <a:t>מכיון</a:t>
            </a:r>
            <a:r>
              <a:rPr lang="he-IL" sz="2400" dirty="0" smtClean="0"/>
              <a:t> שהמדובר בבורר ולא קיימת עילת ביטול, אין להתערב בפסה"ד שלו.</a:t>
            </a:r>
            <a:endParaRPr lang="he-IL" sz="2400" dirty="0"/>
          </a:p>
        </p:txBody>
      </p:sp>
      <p:pic>
        <p:nvPicPr>
          <p:cNvPr id="4" name="תמונה 3"/>
          <p:cNvPicPr>
            <a:picLocks noChangeAspect="1"/>
          </p:cNvPicPr>
          <p:nvPr/>
        </p:nvPicPr>
        <p:blipFill>
          <a:blip r:embed="rId3"/>
          <a:stretch>
            <a:fillRect/>
          </a:stretch>
        </p:blipFill>
        <p:spPr>
          <a:xfrm>
            <a:off x="0" y="1257860"/>
            <a:ext cx="1761565" cy="2198034"/>
          </a:xfrm>
          <a:prstGeom prst="rect">
            <a:avLst/>
          </a:prstGeom>
        </p:spPr>
      </p:pic>
    </p:spTree>
    <p:extLst>
      <p:ext uri="{BB962C8B-B14F-4D97-AF65-F5344CB8AC3E}">
        <p14:creationId xmlns:p14="http://schemas.microsoft.com/office/powerpoint/2010/main" val="927303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4" name="type.wav"/>
          </p:stSnd>
        </p:sndAc>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                          תודה   רבה</a:t>
            </a:r>
            <a:endParaRPr lang="he-IL" dirty="0"/>
          </a:p>
        </p:txBody>
      </p:sp>
      <p:pic>
        <p:nvPicPr>
          <p:cNvPr id="4" name="מציין מיקום תוכן 3"/>
          <p:cNvPicPr>
            <a:picLocks noGrp="1" noChangeAspect="1"/>
          </p:cNvPicPr>
          <p:nvPr>
            <p:ph idx="1"/>
          </p:nvPr>
        </p:nvPicPr>
        <p:blipFill>
          <a:blip r:embed="rId3"/>
          <a:stretch>
            <a:fillRect/>
          </a:stretch>
        </p:blipFill>
        <p:spPr>
          <a:xfrm>
            <a:off x="754997" y="4531660"/>
            <a:ext cx="2247900" cy="1937636"/>
          </a:xfrm>
          <a:prstGeom prst="rect">
            <a:avLst/>
          </a:prstGeom>
        </p:spPr>
      </p:pic>
      <p:pic>
        <p:nvPicPr>
          <p:cNvPr id="5" name="תמונה 4"/>
          <p:cNvPicPr>
            <a:picLocks noChangeAspect="1"/>
          </p:cNvPicPr>
          <p:nvPr/>
        </p:nvPicPr>
        <p:blipFill>
          <a:blip r:embed="rId4"/>
          <a:stretch>
            <a:fillRect/>
          </a:stretch>
        </p:blipFill>
        <p:spPr>
          <a:xfrm>
            <a:off x="7745506" y="4507006"/>
            <a:ext cx="2568388" cy="2014818"/>
          </a:xfrm>
          <a:prstGeom prst="rect">
            <a:avLst/>
          </a:prstGeom>
        </p:spPr>
      </p:pic>
      <p:pic>
        <p:nvPicPr>
          <p:cNvPr id="1026" name="Picture 2" descr="תוצאת תמונה עבור ‫מחיאות כפיים 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9647" y="1452280"/>
            <a:ext cx="3092824" cy="3375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62294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origami" invX="1"/>
        <p:sndAc>
          <p:stSnd>
            <p:snd r:embed="rId2" name="type.wav"/>
          </p:stSnd>
        </p:sndAc>
      </p:transition>
    </mc:Choice>
    <mc:Fallback xmlns="">
      <p:transition spd="slow">
        <p:fade/>
        <p:sndAc>
          <p:stSnd>
            <p:snd r:embed="rId6" name="type.wav"/>
          </p:stSnd>
        </p:sndAc>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יונים">
  <a:themeElements>
    <a:clrScheme name="יונים">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יונים">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יונים">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3983</TotalTime>
  <Words>3165</Words>
  <Application>Microsoft Office PowerPoint</Application>
  <PresentationFormat>מסך רחב</PresentationFormat>
  <Paragraphs>334</Paragraphs>
  <Slides>46</Slides>
  <Notes>1</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46</vt:i4>
      </vt:variant>
    </vt:vector>
  </HeadingPairs>
  <TitlesOfParts>
    <vt:vector size="52" baseType="lpstr">
      <vt:lpstr>Arial</vt:lpstr>
      <vt:lpstr>Calibri</vt:lpstr>
      <vt:lpstr>Century Gothic</vt:lpstr>
      <vt:lpstr>Times New Roman</vt:lpstr>
      <vt:lpstr>Wingdings 3</vt:lpstr>
      <vt:lpstr>יונים</vt:lpstr>
      <vt:lpstr>מבוא לבוררות</vt:lpstr>
      <vt:lpstr>מה היא בוררות – סקירה הסטורית</vt:lpstr>
      <vt:lpstr>והדין העברי</vt:lpstr>
      <vt:lpstr>מעלות הבוררות</vt:lpstr>
      <vt:lpstr>חסרונות הבוררות</vt:lpstr>
      <vt:lpstr>הסכם הבוררות או תניית בוררות</vt:lpstr>
      <vt:lpstr>בוררות כמעכבת הליכים</vt:lpstr>
      <vt:lpstr>המדינה כצד להליך בוררות</vt:lpstr>
      <vt:lpstr>מתי ההליכים לא יעוכבו למרות סעיף בוררות?</vt:lpstr>
      <vt:lpstr>אמנה בין-לאומית</vt:lpstr>
      <vt:lpstr>גישור - הגדרה</vt:lpstr>
      <vt:lpstr>נושאי הגישור</vt:lpstr>
      <vt:lpstr>על קצה המזלג</vt:lpstr>
      <vt:lpstr>גישור - הדרך</vt:lpstr>
      <vt:lpstr>כשלון בגישור</vt:lpstr>
      <vt:lpstr> הבדלים בין גישור לבוררות</vt:lpstr>
      <vt:lpstr>פתרון מורכב - גישבור</vt:lpstr>
      <vt:lpstr>הגדרת הבורר בחוק הבוררות התשכ"ח-1968</vt:lpstr>
      <vt:lpstr>סוג אחר של בוררות</vt:lpstr>
      <vt:lpstr> מ ס ק נ ה</vt:lpstr>
      <vt:lpstr>מהו הסכם בכתב?</vt:lpstr>
      <vt:lpstr>סיפור שבעבר</vt:lpstr>
      <vt:lpstr>הפתרון</vt:lpstr>
      <vt:lpstr>כתב חרטומים, מייל, וואטסאפ והודעות טקסט</vt:lpstr>
      <vt:lpstr>הסכם בוררות בעידן הדיגיטלי</vt:lpstr>
      <vt:lpstr>תשובה אפשרית</vt:lpstr>
      <vt:lpstr>בוררות חובה</vt:lpstr>
      <vt:lpstr>מינוי בורר ע"י הצדדים</vt:lpstr>
      <vt:lpstr>מינוי בורר ע"י בית המשפט</vt:lpstr>
      <vt:lpstr>כיבוד רצון הצדדים</vt:lpstr>
      <vt:lpstr>מינוי בורר ע"י צד ג</vt:lpstr>
      <vt:lpstr>פעילות במסגרת מוסד לבוררות</vt:lpstr>
      <vt:lpstr>מי יכול להיות מעין בורר</vt:lpstr>
      <vt:lpstr>מעין בורר </vt:lpstr>
      <vt:lpstr>תחילת הבוררות</vt:lpstr>
      <vt:lpstr>סמכות הבורר</vt:lpstr>
      <vt:lpstr>מתן פסק דין במועד שנקבע</vt:lpstr>
      <vt:lpstr>מעמד הבורר</vt:lpstr>
      <vt:lpstr>חיובי הבורר</vt:lpstr>
      <vt:lpstr>והפסיקה קובעת</vt:lpstr>
      <vt:lpstr>רשלנות בתפקיד הבורר</vt:lpstr>
      <vt:lpstr>תביעה כנגד שופט ברשלנות?</vt:lpstr>
      <vt:lpstr>סיווג היחסים בין צדדים לבוררים/מגשרים.</vt:lpstr>
      <vt:lpstr>תביעת פיצויים חוזית, כנגד בורר או מגשר</vt:lpstr>
      <vt:lpstr>רע"א 3680/00 אהרון גמליאלי נ' מגשימים</vt:lpstr>
      <vt:lpstr>                          תודה   רבה</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דרורה פלפל</dc:creator>
  <cp:lastModifiedBy>דרורה פלפל</cp:lastModifiedBy>
  <cp:revision>111</cp:revision>
  <dcterms:created xsi:type="dcterms:W3CDTF">2017-10-10T18:27:20Z</dcterms:created>
  <dcterms:modified xsi:type="dcterms:W3CDTF">2018-01-05T07:54:16Z</dcterms:modified>
</cp:coreProperties>
</file>